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85248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77856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70464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63072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85248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77856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70464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63072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85248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77856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70464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63072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568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9264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85248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77856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70464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63072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568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85248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77856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70464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63072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5568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2148840"/>
            <a:ext cx="82296" cy="173736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1783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CONFÉRENCE TECHNIQUE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2194560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La couverture de code,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sans blabla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3794760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79A52"/>
                </a:solidFill>
                <a:latin typeface="Calibri"/>
              </a:rPr>
              <a:t>Quarkus  ·  JUnit  ·  Cucumber  ·  Jacoco  ·  (un peu de Sonar en bonus)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3434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8CFDA"/>
                </a:solidFill>
                <a:latin typeface="Calibri"/>
              </a:rPr>
              <a:t>Où l'on découvre que « 100 % de couverture » ne veut pas dire « 0 bug ».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Ton nom — Date de la conférence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Qui suis-je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310128" cy="310896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10128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651760"/>
            <a:ext cx="27614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Développeur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429000"/>
            <a:ext cx="276148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Suffisamment d'années pour avoir déjà tout cassé au moins une fois.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331720"/>
            <a:ext cx="3310128" cy="310896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331720"/>
            <a:ext cx="3310128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651760"/>
            <a:ext cx="27614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Écrit des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76148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Un ratio tests / code que je ne montrerai à personne aujourd'hui.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2331720"/>
            <a:ext cx="3310128" cy="310896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2331720"/>
            <a:ext cx="3310128" cy="822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651760"/>
            <a:ext cx="27614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Ici pour une raison précise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3429000"/>
            <a:ext cx="276148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Vous convaincre de regarder VOTRE rapport de couverture. Le vrai. Pas celui que vous imaginez.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15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8B93A1"/>
                </a:solidFill>
                <a:latin typeface="Calibri"/>
              </a:rPr>
              <a:t>(personnalisez cette slide avec votre vraie bio avant le jour J)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02 / 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POUR COMMENCER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Levez la main si...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157984"/>
            <a:ext cx="292608" cy="292608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103120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EFECE3"/>
                </a:solidFill>
                <a:latin typeface="Calibri"/>
              </a:rPr>
              <a:t>...vous avez déjà écrit un test juste pour faire plaisir à la CI.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3118104"/>
            <a:ext cx="292608" cy="292608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63240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EFECE3"/>
                </a:solidFill>
                <a:latin typeface="Calibri"/>
              </a:rPr>
              <a:t>...vous avez déjà vu 100 % de couverture sur un fichier plein de bugs.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4078224"/>
            <a:ext cx="292608" cy="292608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4023360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EFECE3"/>
                </a:solidFill>
                <a:latin typeface="Calibri"/>
              </a:rPr>
              <a:t>...vous ne savez pas, là, maintenant, ce que couvrent VOS tests.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C79A52"/>
                </a:solidFill>
                <a:latin typeface="Calibri"/>
              </a:rPr>
              <a:t>Pas de jugement. Enfin... un peu.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03 /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62844"/>
                </a:solidFill>
                <a:latin typeface="Calibri"/>
              </a:rPr>
              <a:t>Une heure, quatre outils, zéro slide inutile (promis)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4414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Pourquoi une suite de tests verte ne suffit 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220370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07208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La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99816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JUnit, Cucumber, Quarkus, Jacoco — qui fait quoi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86207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65576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44728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Démo : le projet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58184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Un agenda malin, ses tests, ses angles morts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5204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10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23944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10565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Le rapport qui ne ment pas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416552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Jacoco en direct, JUnit contre Cucumber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417880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15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82312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76402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Bonus : SonarQube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0749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Le même rapport, dans un vrai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83717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10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068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2239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Ce qu'on retient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573328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Et deux ou trois pièges qu'on a vraiment eus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54955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04 / 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On a des tests. On n'a pas de visibilité.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10128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C8C86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écrit des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JUnit, Cucumber : les suites tournent au vert à chaque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331720"/>
            <a:ext cx="3310128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ne sait pas ce qu'ils couvrent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Quelles classes ? Quelles branches ? Personne ne regarde vraiment.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80" y="2331720"/>
            <a:ext cx="3310128" cy="822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BF6F5D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Les angles morts restent invisibles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Jusqu'au bug en prod, dans le code qu'aucun test n'a jamais exécuté.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05 / 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Quatre outils, quatre questions différentes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" cy="214884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7568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JUnit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5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Tests unitaires ciblés, rapides, isolés.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874519"/>
            <a:ext cx="82296" cy="214884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7568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Cucumber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5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Scénarios Gherkin lisibles, exécutés via l'API REST.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251959"/>
            <a:ext cx="82296" cy="2148840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45312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Quarkus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02919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Le framework qui démarre l'appli et pilote les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4251959"/>
            <a:ext cx="82296" cy="214884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45312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Jacoco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02919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L'instrument de mesure de la couverture, à chaque build.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06 /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génère des récurrences, et glisse une citation du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840480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840480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CalendarResource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346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Couche REST — JSON in/out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324612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611880"/>
            <a:ext cx="2395728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EventService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création + recherche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6704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6704" y="3611880"/>
            <a:ext cx="2395728" cy="64008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RecurrenceService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quotidien / hebdo / mensuel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70448" y="3611880"/>
            <a:ext cx="2395728" cy="64008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1616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HolidayService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1616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jours fériés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3611880"/>
            <a:ext cx="23957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QuoteOfTheDayService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citation du jour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457200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892040"/>
            <a:ext cx="3840480" cy="82296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892040"/>
            <a:ext cx="3840480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505663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ConflictDetector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4068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logique pure — aucune dépendance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937760"/>
            <a:ext cx="5577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Aucune base de données : le sujet du jour, c'est la couverture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de tests — pas la persistance.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07 / 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Le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toute l'application. C'est rapide, précis, et ça ne pardonne rien.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971800"/>
            <a:ext cx="73152" cy="13716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Rapide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Des milliers de tests en quelques secondes.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971800"/>
            <a:ext cx="73152" cy="13716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200400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Isolé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5661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Pas de serveur, pas de réseau, pas de surprise.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2971800"/>
            <a:ext cx="73152" cy="13716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200400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Technique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5661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Pensé par et pour les développeurs.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333A47"/>
                </a:solidFill>
                <a:latin typeface="Calibri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333A47"/>
                </a:solidFill>
                <a:latin typeface="Calibri"/>
              </a:rPr>
              <a:t>pure, testée sans jamais démarrer Quarkus.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08 /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Viser juste, vite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2880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séparation nette, réflexivité. Une classe pure, sans Quarkus, testée en quelques 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C8C86"/>
                </a:solidFill>
                <a:latin typeface="Calibri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lisible. Le même texte sert de spec fonctionnelle ET de test automatisé.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971800"/>
            <a:ext cx="73152" cy="13716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Même un product owner peut le relire (et le corriger).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971800"/>
            <a:ext cx="73152" cy="13716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200400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Bout en bout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5661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Passe par la vraie API REST, pas un mock.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2971800"/>
            <a:ext cx="73152" cy="13716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200400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Fonctionnel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5661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Décrit ce que fait le produit, pas comment.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333A47"/>
                </a:solidFill>
                <a:latin typeface="Calibri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333A47"/>
                </a:solidFill>
                <a:latin typeface="Calibri"/>
              </a:rPr>
              <a:t>le signalement d'un jour férié — trois scénarios, en français.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10 /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C8C86"/>
                </a:solidFill>
                <a:latin typeface="Calibri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Le scénario que tout le monde comprend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324612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9966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Scénario: Refus d'un événement qui chevauche un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        événement existant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Étant donné que j'ai déjà l'événement "Comité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pilotage" de "14:00" à "15:00"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Quand je crée l'événement "Revue de code"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"14:30" à "15:30"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Alors la création est refusée pour cause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conflit d'horaire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Ce même texte sert de spécification fonctionnelle et de test d'intégration,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exécuté en vrai contre l'API REST via RestAssured.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JUnit vs Cucumber : qui gagne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4937760" cy="3291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4937760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175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Rapide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Isolé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02336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5262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Pour les devs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103120"/>
            <a:ext cx="4937760" cy="3291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2103120"/>
            <a:ext cx="4937760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37744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Cucumber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0175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Lisible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52044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Bout en 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2336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Fonctionnel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5262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Pour tout le monde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23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C79A52"/>
                </a:solidFill>
                <a:latin typeface="Calibri"/>
              </a:rPr>
              <a:t>Spoiler : il n'y a pas de gagnant. Le seul qui gagne, c'est le code — testé sous deux angles.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12 / 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EFECE3"/>
                </a:solidFill>
                <a:latin typeface="Calibri"/>
              </a:rPr>
              <a:t>🎬  EN DIRECT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3840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C79A52"/>
                </a:solidFill>
                <a:latin typeface="Calibri"/>
              </a:rPr>
              <a:t>(fermez Slack. ça va aller vite, mais pas invisible)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13 / 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62844"/>
                </a:solidFill>
                <a:latin typeface="Calibri"/>
              </a:rPr>
              <a:t>Un agent qui espionne le bytecode (légalement)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594360" cy="594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305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78024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Un agent Java (-javaagent) s'attache et instrumente chaque classe chargée.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594360" cy="594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182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29584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Chaque ligne, chaque branche exécutée est comptée — en silence, sans ralentir grand-chose.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51960"/>
            <a:ext cx="594360" cy="594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5196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3367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581144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8640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BF6F5D"/>
                </a:solidFill>
                <a:latin typeface="Calibri"/>
              </a:rPr>
              <a:t>Non, ce n'est pas de l'espionnage industriel. C'est juste un agent très curieux.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14 / 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Pas une maquette. Le vrai rapport.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37360"/>
            <a:ext cx="10607040" cy="1793652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1702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B93A1"/>
                </a:solidFill>
                <a:latin typeface="Calibri"/>
              </a:rPr>
              <a:t>Capture d'écran réelle de target/jacoco-report/index.html sur ce projet, à l'instant 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62844"/>
                </a:solidFill>
                <a:latin typeface="Calibri"/>
              </a:rPr>
              <a:t>La branche MENSUELLE, prise en flagrant délit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755648" y="1188720"/>
            <a:ext cx="8686800" cy="5135841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1234440"/>
            <a:ext cx="8595360" cy="50444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447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B93A1"/>
                </a:solidFill>
                <a:latin typeface="Calibri"/>
              </a:rPr>
              <a:t>Mesure réelle, extraite du build — couverture de lignes, JUnit contre Cucumber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292608" cy="164592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847087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2844"/>
                </a:solidFill>
                <a:latin typeface="Calibri"/>
              </a:rPr>
              <a:t>JUnit (unitaire)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74519"/>
            <a:ext cx="292608" cy="164592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47087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2844"/>
                </a:solidFill>
                <a:latin typeface="Calibri"/>
              </a:rPr>
              <a:t>Cucumber (intégration)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4144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CalendarResource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33172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0" y="23134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258775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587752"/>
            <a:ext cx="424281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0" y="25694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HolidayService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95351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2953512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0" y="293522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09544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209544"/>
            <a:ext cx="680313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0" y="319125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93%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8503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575304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3280" y="3575304"/>
            <a:ext cx="5705856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0" y="35570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78%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3831336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83280" y="3831336"/>
            <a:ext cx="292608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0" y="38130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306824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ConflictDetector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4197096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83280" y="4197096"/>
            <a:ext cx="7315200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0" y="417880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0" y="4453128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83280" y="4453128"/>
            <a:ext cx="5486400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0" y="4434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75%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928616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EventService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4818888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4818888"/>
            <a:ext cx="6437376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0" y="48006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507492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83280" y="5074920"/>
            <a:ext cx="643737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89920" y="5056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55040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RecurrenceRequest (DTO)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544068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5440680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0" y="5422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69671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696712"/>
            <a:ext cx="73152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0" y="567842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60533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B93A1"/>
                </a:solidFill>
                <a:latin typeface="Calibri"/>
              </a:rPr>
              <a:t>JUnit couvre la logique métier ; Cucumber couvre la couche REST — presque aucun recouvrement.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17 / 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FECE3"/>
                </a:solidFill>
                <a:latin typeface="Calibri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7128" y="1645920"/>
            <a:ext cx="7863840" cy="467843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691640"/>
            <a:ext cx="7772400" cy="4586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18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Trois commandes, un radar complet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848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5420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Build + JUnit + Cucumber + 3 rapports Jacoco générés automatiquement.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4564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récap coloré JUnit / Cucumber / global, côte à côte, dans le terminal.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8280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2852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19 /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FECE3"/>
                </a:solidFill>
                <a:latin typeface="Calibri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Les deux mêmes rapports Jacoco XML, importés tels quels dans SonarQube.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77,7 %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3310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couverture globale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542032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82 %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246120"/>
            <a:ext cx="3310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2542032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65 %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3246120"/>
            <a:ext cx="3310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branches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B93A1"/>
                </a:solidFill>
                <a:latin typeface="Calibri"/>
              </a:rPr>
              <a:t>Mesure réelle, obtenue en lançant l'analyse sur ce projet — pas une maquette.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10515600" cy="105156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docker compose -f sonarqube/docker-compose.yml up -d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./mvnw test sonar:sonar -Dsonar.token=&lt;ton_token&gt;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8B93A1"/>
                </a:solidFill>
                <a:latin typeface="Calibri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20 /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62844"/>
                </a:solidFill>
                <a:latin typeface="Calibri"/>
              </a:rPr>
              <a:t>Coverage 77,7 %, en vrai, dans l'interface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395728" y="1645920"/>
            <a:ext cx="7406640" cy="46634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21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62844"/>
                </a:solidFill>
                <a:latin typeface="Calibri"/>
              </a:rPr>
              <a:t>Le détail, fichier par fichier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395728" y="1645920"/>
            <a:ext cx="7406640" cy="46634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62844"/>
                </a:solidFill>
                <a:latin typeface="Calibri"/>
              </a:rPr>
              <a:t>Même branche rouge, autre outil</a:t>
            </a:r>
          </a:p>
        </p:txBody>
      </p:sp>
      <p:sp>
        <p:nvSpPr>
          <p:cNvPr id="5" name="Rectangle 4"/>
          <p:cNvSpPr/>
          <p:nvPr/>
        </p:nvSpPr>
        <p:spPr>
          <a:xfrm>
            <a:off x="2121408" y="1188720"/>
            <a:ext cx="7955280" cy="50063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128" y="1234440"/>
            <a:ext cx="7863840" cy="4914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PETIT INTERLUDE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Le best-of des excuses pour ne pas tester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1488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7432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On testera après le sprint. » (le sprint suivant aussi)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33756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C'est trop simple pour bugger.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3192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319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Le stagiaire a dit que ça passait.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52628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100 % de couverture, on n'a plus besoin de relire.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23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1">
                <a:solidFill>
                  <a:srgbClr val="BF6F5D"/>
                </a:solidFill>
                <a:latin typeface="Calibri"/>
              </a:rPr>
              <a:t>Spoiler : aucune de ces phrases n'a jamais empêché un incendie en prod.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24 / 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EFECE3"/>
                </a:solidFill>
                <a:latin typeface="Calibri"/>
              </a:rPr>
              <a:t>Deux pièges qu'on a vraiment eus en préparant cette conf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10515600" cy="17830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82296" cy="178308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9966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Le QuarkusClassLoader fantôme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24328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Deux exécutions Surefire, deux agents Jacoco... et pourtant tout à 0 %. Coupable : l'extension quarkus-jacoco mesure le code CDI toute seule, dans son coin, sans prévenir personne.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23360"/>
            <a:ext cx="10515600" cy="17830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023360"/>
            <a:ext cx="82296" cy="178308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224528"/>
            <a:ext cx="9966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L'accent qui a cassé Gherkin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681728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« Fonctionnalite » sans accent ne veut RIEN dire pour un parseur Gherkin en français. Une lettre manquante, un stacktrace de 100 lignes.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C79A52"/>
                </a:solidFill>
                <a:latin typeface="Calibri"/>
              </a:rPr>
              <a:t>Bref : même en préparant une conf sur les tests, on s'est fait avoir. C'est le principe.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25 / 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Ce qu'il faut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97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8424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FECE3"/>
                </a:solidFill>
                <a:latin typeface="Calibri"/>
              </a:rPr>
              <a:t>Un test vert ne dit pas ce qu'il a vérifié.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B93A1"/>
                </a:solidFill>
                <a:latin typeface="Calibri"/>
              </a:rPr>
              <a:t>La couverture, 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97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12724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FECE3"/>
                </a:solidFill>
                <a:latin typeface="Calibri"/>
              </a:rPr>
              <a:t>JUnit et Cucumber répondent à deux questions différentes.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61188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B93A1"/>
                </a:solidFill>
                <a:latin typeface="Calibri"/>
              </a:rPr>
              <a:t>« Ça marche ? » contre « c'est le bon comportement ?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27024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FECE3"/>
                </a:solidFill>
                <a:latin typeface="Calibri"/>
              </a:rPr>
              <a:t>Le rapport de couverture n'est pas un objectif.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75488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B93A1"/>
                </a:solidFill>
                <a:latin typeface="Calibri"/>
              </a:rPr>
              <a:t>C'est un radar : il montre où regarder en premier.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1097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41324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FECE3"/>
                </a:solidFill>
                <a:latin typeface="Calibri"/>
              </a:rPr>
              <a:t>Un outil ne remplace pas la question qu'on ne s'est pas posée.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89788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B93A1"/>
                </a:solidFill>
                <a:latin typeface="Calibri"/>
              </a:rPr>
              <a:t>Ni Jacoco, ni Sonar, ni celui d'après.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26 / 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Si vous voulez creuser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267712"/>
            <a:ext cx="128016" cy="12801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19456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Le dépôt de ce projet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4203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onsolas"/>
              </a:rPr>
              <a:t>github.com/&lt;ton-repo&gt; — code, scripts, CLAUDE.md, PROMPT.md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227832"/>
            <a:ext cx="128016" cy="128016"/>
          </a:xfrm>
          <a:prstGeom prst="ellipse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15468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Guide Quarkus + Jacoco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0215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onsolas"/>
              </a:rPr>
              <a:t>quarkus.io/guides/tests-with-coverage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187952"/>
            <a:ext cx="128016" cy="128016"/>
          </a:xfrm>
          <a:prstGeom prst="ellipse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Extension Cucumber pour Quarkus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6227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onsolas"/>
              </a:rPr>
              <a:t>docs.quarkiverse.io/quarkus-cucumber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148072"/>
            <a:ext cx="128016" cy="128016"/>
          </a:xfrm>
          <a:prstGeom prst="ellipse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SonarQube 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42239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onsolas"/>
              </a:rPr>
              <a:t>docs.sonarsource.com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27 /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2688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25296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17904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10512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0312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25296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17904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0312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237744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EFECE3"/>
                </a:solidFill>
                <a:latin typeface="Calibri"/>
              </a:rPr>
              <a:t>Merci.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42900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C79A52"/>
                </a:solidFill>
                <a:latin typeface="Calibri"/>
              </a:rPr>
              <a:t>Questions 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9893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github.com/&lt;ton-repo&gt;  —  &lt;ton-email&gt;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