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2"/>
  </p:normalViewPr>
  <p:slideViewPr>
    <p:cSldViewPr snapToGrid="0" snapToObjects="1">
      <p:cViewPr varScale="1">
        <p:scale>
          <a:sx n="114" d="100"/>
          <a:sy n="114" d="100"/>
        </p:scale>
        <p:origin x="66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692640" y="54864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985248" y="54864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277856" y="54864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570464" y="54864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863072" y="54864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155680" y="54864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692640" y="84124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985248" y="84124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277856" y="84124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570464" y="84124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0863072" y="84124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1155680" y="84124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692640" y="113385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985248" y="113385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277856" y="113385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0570464" y="113385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863072" y="113385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1155680" y="113385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9692640" y="142646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985248" y="142646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0277856" y="142646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10570464" y="142646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0863072" y="142646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1155680" y="142646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9692640" y="171907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9985248" y="171907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10277856" y="171907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10570464" y="171907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10863072" y="171907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11155680" y="171907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22960" y="2148840"/>
            <a:ext cx="82296" cy="1737360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51560" y="17830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CONFÉRENCE TECHNIQUE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2194560"/>
            <a:ext cx="96012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600" b="1" i="0">
                <a:solidFill>
                  <a:srgbClr val="EFECE3"/>
                </a:solidFill>
                <a:latin typeface="Calibri"/>
              </a:rPr>
              <a:t>La couverture de code,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600" b="1" i="0">
                <a:solidFill>
                  <a:srgbClr val="EFECE3"/>
                </a:solidFill>
                <a:latin typeface="Calibri"/>
              </a:rPr>
              <a:t>sans blabla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3794760"/>
            <a:ext cx="9784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C79A52"/>
                </a:solidFill>
                <a:latin typeface="Calibri"/>
              </a:rPr>
              <a:t>Quarkus  ·  JUnit  ·  Cucumber  ·  Jacoco  ·  (un peu de Sonar en bonus)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4343400"/>
            <a:ext cx="9601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1">
                <a:solidFill>
                  <a:srgbClr val="C8CFDA"/>
                </a:solidFill>
                <a:latin typeface="Calibri"/>
              </a:rPr>
              <a:t>Où l'on découvre que « 100 % de couverture » ne veut pas dire « 0 bug ».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98932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B93A1"/>
                </a:solidFill>
                <a:latin typeface="Calibri"/>
              </a:rPr>
              <a:t>Ton nom — Date de la conférence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AVANT DE COMMENCER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62844"/>
                </a:solidFill>
                <a:latin typeface="Calibri"/>
              </a:rPr>
              <a:t>Qui suis-je ?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331720"/>
            <a:ext cx="3310128" cy="310896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10128" cy="82296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15568" y="2651760"/>
            <a:ext cx="276148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162844"/>
                </a:solidFill>
                <a:latin typeface="Calibri"/>
              </a:rPr>
              <a:t>Développeur Java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3429000"/>
            <a:ext cx="2761488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alibri"/>
              </a:rPr>
              <a:t>Suffisamment d'années pour avoir déjà tout cassé au moins une fois.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331720"/>
            <a:ext cx="3310128" cy="310896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120" y="2331720"/>
            <a:ext cx="3310128" cy="82296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81728" y="2651760"/>
            <a:ext cx="276148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162844"/>
                </a:solidFill>
                <a:latin typeface="Calibri"/>
              </a:rPr>
              <a:t>Écrit des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3429000"/>
            <a:ext cx="2761488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alibri"/>
              </a:rPr>
              <a:t>Un ratio tests / code que je ne montrerai à personne aujourd'hui.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0" y="2331720"/>
            <a:ext cx="3310128" cy="310896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955280" y="2331720"/>
            <a:ext cx="3310128" cy="82296"/>
          </a:xfrm>
          <a:prstGeom prst="rect">
            <a:avLst/>
          </a:prstGeom>
          <a:solidFill>
            <a:srgbClr val="BF6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47888" y="2651760"/>
            <a:ext cx="276148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162844"/>
                </a:solidFill>
                <a:latin typeface="Calibri"/>
              </a:rPr>
              <a:t>Ici pour une raison précise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3429000"/>
            <a:ext cx="2761488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alibri"/>
              </a:rPr>
              <a:t>Vous convaincre de regarder VOTRE rapport de couverture. Le vrai. Pas celui que vous imaginez.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7150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8B93A1"/>
                </a:solidFill>
                <a:latin typeface="Calibri"/>
              </a:rPr>
              <a:t>(personnalisez cette slide avec votre vraie bio avant le jour J)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02 / 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POUR COMMENCER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EFECE3"/>
                </a:solidFill>
                <a:latin typeface="Calibri"/>
              </a:rPr>
              <a:t>Levez la main si...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2157984"/>
            <a:ext cx="292608" cy="292608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417320" y="2103120"/>
            <a:ext cx="96926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 i="0">
                <a:solidFill>
                  <a:srgbClr val="EFECE3"/>
                </a:solidFill>
                <a:latin typeface="Calibri"/>
              </a:rPr>
              <a:t>...vous avez déjà écrit un test juste pour faire plaisir à la CI.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3118104"/>
            <a:ext cx="292608" cy="292608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17320" y="3063240"/>
            <a:ext cx="96926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 i="0">
                <a:solidFill>
                  <a:srgbClr val="EFECE3"/>
                </a:solidFill>
                <a:latin typeface="Calibri"/>
              </a:rPr>
              <a:t>...vous avez déjà vu 100 % de couverture sur un fichier plein de bugs.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4078224"/>
            <a:ext cx="292608" cy="292608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417320" y="4023360"/>
            <a:ext cx="96926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 i="0">
                <a:solidFill>
                  <a:srgbClr val="EFECE3"/>
                </a:solidFill>
                <a:latin typeface="Calibri"/>
              </a:rPr>
              <a:t>...vous ne savez pas, là, maintenant, ce que couvrent VOS tests.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394960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1">
                <a:solidFill>
                  <a:srgbClr val="C79A52"/>
                </a:solidFill>
                <a:latin typeface="Calibri"/>
              </a:rPr>
              <a:t>Pas de jugement. Enfin... un peu.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E7A8E"/>
                </a:solidFill>
                <a:latin typeface="Calibri"/>
              </a:rPr>
              <a:t>03 / 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6E7A8E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AU PROGRAMME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162844"/>
                </a:solidFill>
                <a:latin typeface="Calibri"/>
              </a:rPr>
              <a:t>Une heure, quatre outils, zéro slide inutile (promis)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C79A52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30552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62844"/>
                </a:solidFill>
                <a:latin typeface="Calibri"/>
              </a:rPr>
              <a:t>Le problème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2441448"/>
            <a:ext cx="6949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333A47"/>
                </a:solidFill>
                <a:latin typeface="Calibri"/>
              </a:rPr>
              <a:t>Pourquoi une suite de tests verte ne suffit pas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2203704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B93A1"/>
                </a:solidFill>
                <a:latin typeface="Calibri"/>
              </a:rPr>
              <a:t>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07208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C79A5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788920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62844"/>
                </a:solidFill>
                <a:latin typeface="Calibri"/>
              </a:rPr>
              <a:t>La stack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099816"/>
            <a:ext cx="6949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333A47"/>
                </a:solidFill>
                <a:latin typeface="Calibri"/>
              </a:rPr>
              <a:t>JUnit, Cucumber, Quarkus, Jacoco — qui fait quoi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2862072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B93A1"/>
                </a:solidFill>
                <a:latin typeface="Calibri"/>
              </a:rPr>
              <a:t>10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65576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C79A52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447288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62844"/>
                </a:solidFill>
                <a:latin typeface="Calibri"/>
              </a:rPr>
              <a:t>Démo : le projet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758184"/>
            <a:ext cx="6949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333A47"/>
                </a:solidFill>
                <a:latin typeface="Calibri"/>
              </a:rPr>
              <a:t>Un agenda malin, ses tests, ses angles morts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352044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B93A1"/>
                </a:solidFill>
                <a:latin typeface="Calibri"/>
              </a:rPr>
              <a:t>10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23944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C79A52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105656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62844"/>
                </a:solidFill>
                <a:latin typeface="Calibri"/>
              </a:rPr>
              <a:t>Le rapport qui ne ment pas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416552"/>
            <a:ext cx="6949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333A47"/>
                </a:solidFill>
                <a:latin typeface="Calibri"/>
              </a:rPr>
              <a:t>Jacoco en direct, JUnit contre Cucumber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4178808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B93A1"/>
                </a:solidFill>
                <a:latin typeface="Calibri"/>
              </a:rPr>
              <a:t>15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782312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C79A52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4764024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62844"/>
                </a:solidFill>
                <a:latin typeface="Calibri"/>
              </a:rPr>
              <a:t>Bonus : SonarQube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5074920"/>
            <a:ext cx="6949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333A47"/>
                </a:solidFill>
                <a:latin typeface="Calibri"/>
              </a:rPr>
              <a:t>Le même rapport, dans un vrai dashboard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4837176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B93A1"/>
                </a:solidFill>
                <a:latin typeface="Calibri"/>
              </a:rPr>
              <a:t>10 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440680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C79A52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5422392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62844"/>
                </a:solidFill>
                <a:latin typeface="Calibri"/>
              </a:rPr>
              <a:t>Ce qu'on retient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5733288"/>
            <a:ext cx="6949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333A47"/>
                </a:solidFill>
                <a:latin typeface="Calibri"/>
              </a:rPr>
              <a:t>Et deux ou trois pièges qu'on a vraiment eus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5495544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B93A1"/>
                </a:solidFill>
                <a:latin typeface="Calibri"/>
              </a:rPr>
              <a:t>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04 / 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LE CONSTAT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62844"/>
                </a:solidFill>
                <a:latin typeface="Calibri"/>
              </a:rPr>
              <a:t>On a des tests. On n'a pas de visibilité.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331720"/>
            <a:ext cx="3310128" cy="324612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10128" cy="82296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15568" y="2651760"/>
            <a:ext cx="276148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5C8C86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3337560"/>
            <a:ext cx="276148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 i="0">
                <a:solidFill>
                  <a:srgbClr val="162844"/>
                </a:solidFill>
                <a:latin typeface="Calibri"/>
              </a:rPr>
              <a:t>On écrit des tests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4160520"/>
            <a:ext cx="2761488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alibri"/>
              </a:rPr>
              <a:t>JUnit, Cucumber : les suites tournent au vert à chaque build.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2331720"/>
            <a:ext cx="3310128" cy="324612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120" y="2331720"/>
            <a:ext cx="3310128" cy="82296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81728" y="2651760"/>
            <a:ext cx="276148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C79A52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3337560"/>
            <a:ext cx="276148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 i="0">
                <a:solidFill>
                  <a:srgbClr val="162844"/>
                </a:solidFill>
                <a:latin typeface="Calibri"/>
              </a:rPr>
              <a:t>On ne sait pas ce qu'ils couvrent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4160520"/>
            <a:ext cx="2761488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alibri"/>
              </a:rPr>
              <a:t>Quelles classes ? Quelles branches ? Personne ne regarde vraiment.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0" y="2331720"/>
            <a:ext cx="3310128" cy="324612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955280" y="2331720"/>
            <a:ext cx="3310128" cy="82296"/>
          </a:xfrm>
          <a:prstGeom prst="rect">
            <a:avLst/>
          </a:prstGeom>
          <a:solidFill>
            <a:srgbClr val="BF6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47888" y="2651760"/>
            <a:ext cx="276148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BF6F5D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3337560"/>
            <a:ext cx="276148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 i="0">
                <a:solidFill>
                  <a:srgbClr val="162844"/>
                </a:solidFill>
                <a:latin typeface="Calibri"/>
              </a:rPr>
              <a:t>Les angles morts restent invisibles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4160520"/>
            <a:ext cx="2761488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alibri"/>
              </a:rPr>
              <a:t>Jusqu'au bug en prod, dans le code qu'aucun test n'a jamais exécuté.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05 / 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LA STACK TECHNIQUE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62844"/>
                </a:solidFill>
                <a:latin typeface="Calibri"/>
              </a:rPr>
              <a:t>Quatre outils, quatre questions différentes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5138928" cy="214884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1874519"/>
            <a:ext cx="82296" cy="2148840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2075687"/>
            <a:ext cx="4590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62844"/>
                </a:solidFill>
                <a:latin typeface="Calibri"/>
              </a:rPr>
              <a:t>JUnit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651759"/>
            <a:ext cx="4590288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« La logique métier fait-elle ce qu'elle doit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Tests unitaires ciblés, rapides, isolés.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874519"/>
            <a:ext cx="5138928" cy="214884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7920" y="1874519"/>
            <a:ext cx="82296" cy="2148840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2075687"/>
            <a:ext cx="4590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62844"/>
                </a:solidFill>
                <a:latin typeface="Calibri"/>
              </a:rPr>
              <a:t>Cucumber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651759"/>
            <a:ext cx="4590288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« Le comportement attendu est-il respecté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Scénarios Gherkin lisibles, exécutés via l'API REST.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251959"/>
            <a:ext cx="5138928" cy="214884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22960" y="4251959"/>
            <a:ext cx="82296" cy="2148840"/>
          </a:xfrm>
          <a:prstGeom prst="rect">
            <a:avLst/>
          </a:prstGeom>
          <a:solidFill>
            <a:srgbClr val="839B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4453127"/>
            <a:ext cx="4590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62844"/>
                </a:solidFill>
                <a:latin typeface="Calibri"/>
              </a:rPr>
              <a:t>Quarkus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029199"/>
            <a:ext cx="4590288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« Comment tout ça tourne ensemble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Le framework qui démarre l'appli et pilote les tests.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4251959"/>
            <a:ext cx="5138928" cy="214884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17920" y="4251959"/>
            <a:ext cx="82296" cy="2148840"/>
          </a:xfrm>
          <a:prstGeom prst="rect">
            <a:avLst/>
          </a:prstGeom>
          <a:solidFill>
            <a:srgbClr val="BF6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37960" y="4453127"/>
            <a:ext cx="4590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62844"/>
                </a:solidFill>
                <a:latin typeface="Calibri"/>
              </a:rPr>
              <a:t>Jacoco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5029199"/>
            <a:ext cx="4590288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« Qu'est-ce qui a vraiment été exécuté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L'instrument de mesure de la couverture, à chaque build.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06 / 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LE TERRAIN DE JEU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EFECE3"/>
                </a:solidFill>
                <a:latin typeface="Calibri"/>
              </a:rPr>
              <a:t>Un agenda malin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36192"/>
            <a:ext cx="9875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C8CFDA"/>
                </a:solidFill>
                <a:latin typeface="Calibri"/>
              </a:rPr>
              <a:t>Une API Quarkus qui planifie des événements, détecte les conflits d'horaire,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C8CFDA"/>
                </a:solidFill>
                <a:latin typeface="Calibri"/>
              </a:rPr>
              <a:t>génère des récurrences, et glisse une citation du jour.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86000"/>
            <a:ext cx="3840480" cy="96012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2286000"/>
            <a:ext cx="3840480" cy="6400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24128" y="2450592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FECE3"/>
                </a:solidFill>
                <a:latin typeface="Calibri"/>
              </a:rPr>
              <a:t>CalendarResource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834640"/>
            <a:ext cx="3474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Calibri"/>
              </a:rPr>
              <a:t>Couche REST — JSON in/out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3246120"/>
            <a:ext cx="36576" cy="320040"/>
          </a:xfrm>
          <a:prstGeom prst="rect">
            <a:avLst/>
          </a:prstGeom>
          <a:solidFill>
            <a:srgbClr val="8B9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22960" y="3611880"/>
            <a:ext cx="2395728" cy="96012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3611880"/>
            <a:ext cx="2395728" cy="64008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24128" y="3776472"/>
            <a:ext cx="202996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FECE3"/>
                </a:solidFill>
                <a:latin typeface="Calibri"/>
              </a:rPr>
              <a:t>EventService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4160520"/>
            <a:ext cx="202996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Calibri"/>
              </a:rPr>
              <a:t>création + recherche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46704" y="3611880"/>
            <a:ext cx="2395728" cy="96012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346704" y="3611880"/>
            <a:ext cx="2395728" cy="64008"/>
          </a:xfrm>
          <a:prstGeom prst="rect">
            <a:avLst/>
          </a:prstGeom>
          <a:solidFill>
            <a:srgbClr val="839B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47872" y="3776472"/>
            <a:ext cx="202996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FECE3"/>
                </a:solidFill>
                <a:latin typeface="Calibri"/>
              </a:rPr>
              <a:t>RecurrenceService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2" y="4160520"/>
            <a:ext cx="202996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Calibri"/>
              </a:rPr>
              <a:t>quotidien / hebdo / mensuel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70448" y="3611880"/>
            <a:ext cx="2395728" cy="96012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870448" y="3611880"/>
            <a:ext cx="2395728" cy="64008"/>
          </a:xfrm>
          <a:prstGeom prst="rect">
            <a:avLst/>
          </a:prstGeom>
          <a:solidFill>
            <a:srgbClr val="BF6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071616" y="3776472"/>
            <a:ext cx="202996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FECE3"/>
                </a:solidFill>
                <a:latin typeface="Calibri"/>
              </a:rPr>
              <a:t>HolidayService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71616" y="4160520"/>
            <a:ext cx="202996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Calibri"/>
              </a:rPr>
              <a:t>jours fériés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94192" y="3611880"/>
            <a:ext cx="2395728" cy="96012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394192" y="3611880"/>
            <a:ext cx="2395728" cy="6400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595360" y="3776472"/>
            <a:ext cx="202996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FECE3"/>
                </a:solidFill>
                <a:latin typeface="Calibri"/>
              </a:rPr>
              <a:t>QuoteOfTheDayService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4160520"/>
            <a:ext cx="202996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Calibri"/>
              </a:rPr>
              <a:t>citation du jour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65960" y="4572000"/>
            <a:ext cx="36576" cy="320040"/>
          </a:xfrm>
          <a:prstGeom prst="rect">
            <a:avLst/>
          </a:prstGeom>
          <a:solidFill>
            <a:srgbClr val="8B9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22960" y="4892040"/>
            <a:ext cx="3840480" cy="82296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22960" y="4892040"/>
            <a:ext cx="3840480" cy="64008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24128" y="5056632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FECE3"/>
                </a:solidFill>
                <a:latin typeface="Calibri"/>
              </a:rPr>
              <a:t>ConflictDetector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" y="5440680"/>
            <a:ext cx="3474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Calibri"/>
              </a:rPr>
              <a:t>logique pure — aucune dépendance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0720" y="4937760"/>
            <a:ext cx="5577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1">
                <a:solidFill>
                  <a:srgbClr val="8B93A1"/>
                </a:solidFill>
                <a:latin typeface="Calibri"/>
              </a:rPr>
              <a:t>Aucune base de données : le sujet du jour, c'est la couverture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1">
                <a:solidFill>
                  <a:srgbClr val="8B93A1"/>
                </a:solidFill>
                <a:latin typeface="Calibri"/>
              </a:rPr>
              <a:t>de tests — pas la persistance.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E7A8E"/>
                </a:solidFill>
                <a:latin typeface="Calibri"/>
              </a:rPr>
              <a:t>07 / 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6E7A8E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ZOOM — JUNIT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62844"/>
                </a:solidFill>
                <a:latin typeface="Calibri"/>
              </a:rPr>
              <a:t>Le microscope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333A47"/>
                </a:solidFill>
                <a:latin typeface="Calibri"/>
              </a:rPr>
              <a:t>JUnit teste une unité de code isolée — une méthode, une classe — sans lancer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333A47"/>
                </a:solidFill>
                <a:latin typeface="Calibri"/>
              </a:rPr>
              <a:t>toute l'application. C'est rapide, précis, et ça ne pardonne rien.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971800"/>
            <a:ext cx="3310128" cy="137160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971800"/>
            <a:ext cx="73152" cy="1371600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3200400"/>
            <a:ext cx="28529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62844"/>
                </a:solidFill>
                <a:latin typeface="Calibri"/>
              </a:rPr>
              <a:t>Rapide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285292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333A47"/>
                </a:solidFill>
                <a:latin typeface="Calibri"/>
              </a:rPr>
              <a:t>Des milliers de tests en quelques secondes.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2971800"/>
            <a:ext cx="3310128" cy="137160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120" y="2971800"/>
            <a:ext cx="73152" cy="1371600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63440" y="3200400"/>
            <a:ext cx="28529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62844"/>
                </a:solidFill>
                <a:latin typeface="Calibri"/>
              </a:rPr>
              <a:t>Isolé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566160"/>
            <a:ext cx="285292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333A47"/>
                </a:solidFill>
                <a:latin typeface="Calibri"/>
              </a:rPr>
              <a:t>Pas de serveur, pas de réseau, pas de surprise.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0" y="2971800"/>
            <a:ext cx="3310128" cy="137160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955280" y="2971800"/>
            <a:ext cx="73152" cy="1371600"/>
          </a:xfrm>
          <a:prstGeom prst="rect">
            <a:avLst/>
          </a:prstGeom>
          <a:solidFill>
            <a:srgbClr val="BF6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0" y="3200400"/>
            <a:ext cx="28529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62844"/>
                </a:solidFill>
                <a:latin typeface="Calibri"/>
              </a:rPr>
              <a:t>Technique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566160"/>
            <a:ext cx="285292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333A47"/>
                </a:solidFill>
                <a:latin typeface="Calibri"/>
              </a:rPr>
              <a:t>Pensé par et pour les développeurs.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937760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333A47"/>
                </a:solidFill>
                <a:latin typeface="Calibri"/>
              </a:rPr>
              <a:t>Dans notre agenda malin : ConflictDetector, RecurrenceService — de la logique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333A47"/>
                </a:solidFill>
                <a:latin typeface="Calibri"/>
              </a:rPr>
              <a:t>pure, testée sans jamais démarrer Quarkus.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08 / 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JUNIT — EN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62844"/>
                </a:solidFill>
                <a:latin typeface="Calibri"/>
              </a:rPr>
              <a:t>Viser juste, vite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10515600" cy="288036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3000" y="2148840"/>
            <a:ext cx="996696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0" i="0">
                <a:solidFill>
                  <a:srgbClr val="E3E8F0"/>
                </a:solidFill>
                <a:latin typeface="Consolas"/>
              </a:rPr>
              <a:t>@Test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0" i="0">
                <a:solidFill>
                  <a:srgbClr val="E3E8F0"/>
                </a:solidFill>
                <a:latin typeface="Consolas"/>
              </a:rPr>
              <a:t>void deuxEvenementsQuiSeTouchentNeSontPasEnConflit() {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0" i="0">
                <a:solidFill>
                  <a:srgbClr val="E3E8F0"/>
                </a:solidFill>
                <a:latin typeface="Consolas"/>
              </a:rPr>
              <a:t>    Event a = eventAt("a", 9, 10);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0" i="0">
                <a:solidFill>
                  <a:srgbClr val="E3E8F0"/>
                </a:solidFill>
                <a:latin typeface="Consolas"/>
              </a:rPr>
              <a:t>    Event b = eventAt("b", 10, 11);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endParaRPr sz="1550" b="0" i="0">
              <a:solidFill>
                <a:srgbClr val="E3E8F0"/>
              </a:solidFill>
              <a:latin typeface="Consolas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0" i="0">
                <a:solidFill>
                  <a:srgbClr val="E3E8F0"/>
                </a:solidFill>
                <a:latin typeface="Consolas"/>
              </a:rPr>
              <a:t>    assertFalse(detector.isConflicting(a, b));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0" i="0">
                <a:solidFill>
                  <a:srgbClr val="E3E8F0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74920"/>
            <a:ext cx="9875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333A47"/>
                </a:solidFill>
                <a:latin typeface="Calibri"/>
              </a:rPr>
              <a:t>ConflictDetectorTest : 4 tests, 4 cas limites — chevauchement, contact exact,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333A47"/>
                </a:solidFill>
                <a:latin typeface="Calibri"/>
              </a:rPr>
              <a:t>séparation nette, réflexivité. Une classe pure, sans Quarkus, testée en quelques 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09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5C8C86"/>
                </a:solidFill>
                <a:latin typeface="Calibri"/>
              </a:rPr>
              <a:t>ZOOM — CUCUMBER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62844"/>
                </a:solidFill>
                <a:latin typeface="Calibri"/>
              </a:rPr>
              <a:t>Le grand angle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333A47"/>
                </a:solidFill>
                <a:latin typeface="Calibri"/>
              </a:rPr>
              <a:t>Cucumber teste le comportement observable, de bout en bout, en français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333A47"/>
                </a:solidFill>
                <a:latin typeface="Calibri"/>
              </a:rPr>
              <a:t>lisible. Le même texte sert de spec fonctionnelle ET de test automatisé.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971800"/>
            <a:ext cx="3310128" cy="137160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971800"/>
            <a:ext cx="73152" cy="1371600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3200400"/>
            <a:ext cx="28529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62844"/>
                </a:solidFill>
                <a:latin typeface="Calibri"/>
              </a:rPr>
              <a:t>Lisible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285292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333A47"/>
                </a:solidFill>
                <a:latin typeface="Calibri"/>
              </a:rPr>
              <a:t>Même un product owner peut le relire (et le corriger).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2971800"/>
            <a:ext cx="3310128" cy="137160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120" y="2971800"/>
            <a:ext cx="73152" cy="1371600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63440" y="3200400"/>
            <a:ext cx="28529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62844"/>
                </a:solidFill>
                <a:latin typeface="Calibri"/>
              </a:rPr>
              <a:t>Bout en bout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566160"/>
            <a:ext cx="285292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333A47"/>
                </a:solidFill>
                <a:latin typeface="Calibri"/>
              </a:rPr>
              <a:t>Passe par la vraie API REST, pas un mock.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0" y="2971800"/>
            <a:ext cx="3310128" cy="137160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955280" y="2971800"/>
            <a:ext cx="73152" cy="1371600"/>
          </a:xfrm>
          <a:prstGeom prst="rect">
            <a:avLst/>
          </a:prstGeom>
          <a:solidFill>
            <a:srgbClr val="BF6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0" y="3200400"/>
            <a:ext cx="28529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62844"/>
                </a:solidFill>
                <a:latin typeface="Calibri"/>
              </a:rPr>
              <a:t>Fonctionnel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566160"/>
            <a:ext cx="285292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333A47"/>
                </a:solidFill>
                <a:latin typeface="Calibri"/>
              </a:rPr>
              <a:t>Décrit ce que fait le produit, pas comment.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937760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333A47"/>
                </a:solidFill>
                <a:latin typeface="Calibri"/>
              </a:rPr>
              <a:t>Dans notre agenda malin : la création d'événement, la détection de conflit,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333A47"/>
                </a:solidFill>
                <a:latin typeface="Calibri"/>
              </a:rPr>
              <a:t>le signalement d'un jour férié — trois scénarios, en français.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10 / 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5C8C86"/>
                </a:solidFill>
                <a:latin typeface="Calibri"/>
              </a:rPr>
              <a:t>CUCUMBER — EN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62844"/>
                </a:solidFill>
                <a:latin typeface="Calibri"/>
              </a:rPr>
              <a:t>Le scénario que tout le monde comprend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10515600" cy="324612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3000" y="2103120"/>
            <a:ext cx="996696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Scénario: Refus d'un événement qui chevauche un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          événement existant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endParaRPr sz="1450" b="0" i="0">
              <a:solidFill>
                <a:srgbClr val="E3E8F0"/>
              </a:solidFill>
              <a:latin typeface="Consolas"/>
            </a:endParaRP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  Étant donné que j'ai déjà l'événement "Comité de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  pilotage" de "14:00" à "15:00" le "2026-09-15"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  Quand je crée l'événement "Revue de code" de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  "14:30" à "15:30" le "2026-09-15"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  Alors la création est refusée pour cause de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  conflit d'horaire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49240"/>
            <a:ext cx="9875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333A47"/>
                </a:solidFill>
                <a:latin typeface="Calibri"/>
              </a:rPr>
              <a:t>Ce même texte sert de spécification fonctionnelle et de test d'intégration,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333A47"/>
                </a:solidFill>
                <a:latin typeface="Calibri"/>
              </a:rPr>
              <a:t>exécuté en vrai contre l'API REST via RestAssured.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11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LE MATCH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62844"/>
                </a:solidFill>
                <a:latin typeface="Calibri"/>
              </a:rPr>
              <a:t>JUnit vs Cucumber : qui gagne ?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03120"/>
            <a:ext cx="4937760" cy="329184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4937760" cy="82296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2377440"/>
            <a:ext cx="4389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62844"/>
                </a:solidFill>
                <a:latin typeface="Calibri"/>
              </a:rPr>
              <a:t>JUnit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017520"/>
            <a:ext cx="4389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333A47"/>
                </a:solidFill>
                <a:latin typeface="Calibri"/>
              </a:rPr>
              <a:t>— Rapide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520440"/>
            <a:ext cx="4389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333A47"/>
                </a:solidFill>
                <a:latin typeface="Calibri"/>
              </a:rPr>
              <a:t>— Isolé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023360"/>
            <a:ext cx="4389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333A47"/>
                </a:solidFill>
                <a:latin typeface="Calibri"/>
              </a:rPr>
              <a:t>— Technique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526280"/>
            <a:ext cx="4389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333A47"/>
                </a:solidFill>
                <a:latin typeface="Calibri"/>
              </a:rPr>
              <a:t>— Pour les devs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2103120"/>
            <a:ext cx="4937760" cy="329184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035040" y="2103120"/>
            <a:ext cx="4937760" cy="82296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55080" y="2377440"/>
            <a:ext cx="4389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62844"/>
                </a:solidFill>
                <a:latin typeface="Calibri"/>
              </a:rPr>
              <a:t>Cucumber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017520"/>
            <a:ext cx="4389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333A47"/>
                </a:solidFill>
                <a:latin typeface="Calibri"/>
              </a:rPr>
              <a:t>— Lisible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520440"/>
            <a:ext cx="4389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333A47"/>
                </a:solidFill>
                <a:latin typeface="Calibri"/>
              </a:rPr>
              <a:t>— Bout en bout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023360"/>
            <a:ext cx="4389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333A47"/>
                </a:solidFill>
                <a:latin typeface="Calibri"/>
              </a:rPr>
              <a:t>— Fonctionnel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4526280"/>
            <a:ext cx="4389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333A47"/>
                </a:solidFill>
                <a:latin typeface="Calibri"/>
              </a:rPr>
              <a:t>— Pour tout le monde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62356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1">
                <a:solidFill>
                  <a:srgbClr val="C79A52"/>
                </a:solidFill>
                <a:latin typeface="Calibri"/>
              </a:rPr>
              <a:t>Spoiler : il n'y a pas de gagnant. Le seul qui gagne, c'est le code — testé sous deux angles.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12 / 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640080" y="91440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32688" y="91440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225296" y="91440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517904" y="91440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810512" y="91440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2103120" y="91440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395728" y="91440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688336" y="91440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2980944" y="91440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273552" y="91440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40080" y="120700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32688" y="120700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225296" y="120700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517904" y="120700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810512" y="120700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2103120" y="120700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2395728" y="120700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688336" y="120700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2980944" y="120700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3273552" y="120700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40080" y="149961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32688" y="149961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225296" y="149961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517904" y="149961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810512" y="149961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2103120" y="149961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2395728" y="149961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2688336" y="149961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2980944" y="149961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3273552" y="149961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2960" y="274320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0" b="1" i="0">
                <a:solidFill>
                  <a:srgbClr val="EFECE3"/>
                </a:solidFill>
                <a:latin typeface="Calibri"/>
              </a:rPr>
              <a:t>🎬  EN DIRECT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38404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1">
                <a:solidFill>
                  <a:srgbClr val="C79A52"/>
                </a:solidFill>
                <a:latin typeface="Calibri"/>
              </a:rPr>
              <a:t>(fermez Slack. ça va aller vite, mais pas invisible)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E7A8E"/>
                </a:solidFill>
                <a:latin typeface="Calibri"/>
              </a:rPr>
              <a:t>13 / 28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6E7A8E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F6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BF6F5D"/>
                </a:solidFill>
                <a:latin typeface="Calibri"/>
              </a:rPr>
              <a:t>ZOOM — JACOCO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162844"/>
                </a:solidFill>
                <a:latin typeface="Calibri"/>
              </a:rPr>
              <a:t>Un agent qui espionne le bytecode (légalement)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48840"/>
            <a:ext cx="594360" cy="59436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C79A5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13055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62844"/>
                </a:solidFill>
                <a:latin typeface="Calibri"/>
              </a:rPr>
              <a:t>Au démarrage de la JVM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478024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333A47"/>
                </a:solidFill>
                <a:latin typeface="Calibri"/>
              </a:rPr>
              <a:t>Un agent Java (-javaagent) s'attache et instrumente chaque classe chargée.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200400"/>
            <a:ext cx="594360" cy="59436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320040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C79A52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18211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62844"/>
                </a:solidFill>
                <a:latin typeface="Calibri"/>
              </a:rPr>
              <a:t>Pendant les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529584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333A47"/>
                </a:solidFill>
                <a:latin typeface="Calibri"/>
              </a:rPr>
              <a:t>Chaque ligne, chaque branche exécutée est comptée — en silence, sans ralentir grand-chose.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251960"/>
            <a:ext cx="594360" cy="59436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425196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C79A52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23367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62844"/>
                </a:solidFill>
                <a:latin typeface="Calibri"/>
              </a:rPr>
              <a:t>À l'arrêt de la JVM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581144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333A47"/>
                </a:solidFill>
                <a:latin typeface="Calibri"/>
              </a:rPr>
              <a:t>Tout est vidé dans un fichier .exec. Puis jacoco-maven-plugin le transforme en rapport HTML/XML/CSV.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486400"/>
            <a:ext cx="9966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1">
                <a:solidFill>
                  <a:srgbClr val="BF6F5D"/>
                </a:solidFill>
                <a:latin typeface="Calibri"/>
              </a:rPr>
              <a:t>Non, ce n'est pas de l'espionnage industriel. C'est juste un agent très curieux.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14 / 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F6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BF6F5D"/>
                </a:solidFill>
                <a:latin typeface="Calibri"/>
              </a:rPr>
              <a:t>JACOCO — LE RAPPORT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62844"/>
                </a:solidFill>
                <a:latin typeface="Calibri"/>
              </a:rPr>
              <a:t>Pas une maquette. Le vrai rapport.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37360"/>
            <a:ext cx="10607040" cy="1793652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jacoco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83080"/>
            <a:ext cx="10515600" cy="17022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02336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8B93A1"/>
                </a:solidFill>
                <a:latin typeface="Calibri"/>
              </a:rPr>
              <a:t>Capture d'écran réelle de target/jacoco-report/index.html sur ce projet, à l'instant 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15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F6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BF6F5D"/>
                </a:solidFill>
                <a:latin typeface="Calibri"/>
              </a:rPr>
              <a:t>JACOCO — LA PREUVE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0789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162844"/>
                </a:solidFill>
                <a:latin typeface="Calibri"/>
              </a:rPr>
              <a:t>La branche MENSUELLE, prise en flagrant délit</a:t>
            </a:r>
          </a:p>
        </p:txBody>
      </p:sp>
      <p:sp>
        <p:nvSpPr>
          <p:cNvPr id="5" name="Rectangle 4"/>
          <p:cNvSpPr/>
          <p:nvPr/>
        </p:nvSpPr>
        <p:spPr>
          <a:xfrm>
            <a:off x="1755648" y="1188720"/>
            <a:ext cx="8686800" cy="5135841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jacoco-recurrence-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1368" y="1234440"/>
            <a:ext cx="8595360" cy="50444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16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BF6F5D"/>
                </a:solidFill>
                <a:latin typeface="Calibri"/>
              </a:rPr>
              <a:t>JACOCO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62844"/>
                </a:solidFill>
                <a:latin typeface="Calibri"/>
              </a:rPr>
              <a:t>Ce que les tests ont vraiment touché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44752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8B93A1"/>
                </a:solidFill>
                <a:latin typeface="Calibri"/>
              </a:rPr>
              <a:t>Mesure réelle, extraite du build — couverture de lignes, JUnit contre Cucumber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874519"/>
            <a:ext cx="292608" cy="164592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1847087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62844"/>
                </a:solidFill>
                <a:latin typeface="Calibri"/>
              </a:rPr>
              <a:t>JUnit (unitaire)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874519"/>
            <a:ext cx="292608" cy="164592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83280" y="1847087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62844"/>
                </a:solidFill>
                <a:latin typeface="Calibri"/>
              </a:rPr>
              <a:t>Cucumber (intégration)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41448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62844"/>
                </a:solidFill>
                <a:latin typeface="Calibri"/>
              </a:rPr>
              <a:t>CalendarResource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2331720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83280" y="2331720"/>
            <a:ext cx="73152" cy="20116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89920" y="231343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2587752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383280" y="2587752"/>
            <a:ext cx="4242816" cy="201168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789920" y="256946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58%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063240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62844"/>
                </a:solidFill>
                <a:latin typeface="Calibri"/>
              </a:rPr>
              <a:t>HolidayService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83280" y="2953512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383280" y="2953512"/>
            <a:ext cx="73152" cy="20116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789920" y="293522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3209544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383280" y="3209544"/>
            <a:ext cx="6803136" cy="201168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789920" y="3191256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93%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685032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62844"/>
                </a:solidFill>
                <a:latin typeface="Calibri"/>
              </a:rPr>
              <a:t>RecurrenceService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3575304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383280" y="3575304"/>
            <a:ext cx="5705856" cy="20116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789920" y="3557016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78%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3831336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383280" y="3831336"/>
            <a:ext cx="292608" cy="201168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789920" y="381304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306824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62844"/>
                </a:solidFill>
                <a:latin typeface="Calibri"/>
              </a:rPr>
              <a:t>ConflictDetector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83280" y="4197096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383280" y="4197096"/>
            <a:ext cx="7315200" cy="20116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789920" y="417880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83280" y="4453128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3383280" y="4453128"/>
            <a:ext cx="5486400" cy="201168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789920" y="443484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75%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4928616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62844"/>
                </a:solidFill>
                <a:latin typeface="Calibri"/>
              </a:rPr>
              <a:t>EventService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83280" y="4818888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383280" y="4818888"/>
            <a:ext cx="6437376" cy="20116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789920" y="480060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88%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83280" y="5074920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3383280" y="5074920"/>
            <a:ext cx="6437376" cy="201168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789920" y="505663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88%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5550408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62844"/>
                </a:solidFill>
                <a:latin typeface="Calibri"/>
              </a:rPr>
              <a:t>RecurrenceRequest (DTO)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83280" y="5440680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383280" y="5440680"/>
            <a:ext cx="73152" cy="20116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789920" y="542239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83280" y="5696712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3383280" y="5696712"/>
            <a:ext cx="73152" cy="201168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0789920" y="567842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605332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B93A1"/>
                </a:solidFill>
                <a:latin typeface="Calibri"/>
              </a:rPr>
              <a:t>JUnit couvre la logique métier ; Cucumber couvre la couche REST — presque aucun recouvrement.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17 / 28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SANS OUVRIR DE NAVIGATEUR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FECE3"/>
                </a:solidFill>
                <a:latin typeface="Calibri"/>
              </a:rPr>
              <a:t>Le récap, direct dans le terminal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2167128" y="1645920"/>
            <a:ext cx="7863840" cy="467843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terminal-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2848" y="1691640"/>
            <a:ext cx="7772400" cy="45869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E7A8E"/>
                </a:solidFill>
                <a:latin typeface="Calibri"/>
              </a:rPr>
              <a:t>18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6E7A8E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62844"/>
                </a:solidFill>
                <a:latin typeface="Calibri"/>
              </a:rPr>
              <a:t>Trois commandes, un radar complet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011680"/>
            <a:ext cx="685800" cy="105156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685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C79A5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084832"/>
            <a:ext cx="9418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62844"/>
                </a:solidFill>
                <a:latin typeface="Consolas"/>
              </a:rPr>
              <a:t>./mvnw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542032"/>
            <a:ext cx="9418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alibri"/>
              </a:rPr>
              <a:t>Build + JUnit + Cucumber + 3 rapports Jacoco générés automatiquement.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383280"/>
            <a:ext cx="685800" cy="105156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3383280"/>
            <a:ext cx="685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C79A52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456432"/>
            <a:ext cx="9418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62844"/>
                </a:solidFill>
                <a:latin typeface="Consolas"/>
              </a:rPr>
              <a:t>./scripts/coverage-summary.sh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913632"/>
            <a:ext cx="9418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alibri"/>
              </a:rPr>
              <a:t>Le récap coloré JUnit / Cucumber / global, côte à côte, dans le terminal.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754880"/>
            <a:ext cx="685800" cy="105156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4754880"/>
            <a:ext cx="685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C79A52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828032"/>
            <a:ext cx="9418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62844"/>
                </a:solidFill>
                <a:latin typeface="Consolas"/>
              </a:rPr>
              <a:t>open target/jacoco-report/index.html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5285232"/>
            <a:ext cx="9418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alibri"/>
              </a:rPr>
              <a:t>Le détail ligne par ligne — et les variantes -junit / -cucumber pour comparer.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19 / 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BONUS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FECE3"/>
                </a:solidFill>
                <a:latin typeface="Calibri"/>
              </a:rPr>
              <a:t>Et dans un vrai dashboard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36192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C8CFDA"/>
                </a:solidFill>
                <a:latin typeface="Calibri"/>
              </a:rPr>
              <a:t>Les deux mêmes rapports Jacoco XML, importés tels quels dans SonarQube.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86000"/>
            <a:ext cx="3310128" cy="155448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2286000"/>
            <a:ext cx="3310128" cy="6400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542032"/>
            <a:ext cx="331012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C79A52"/>
                </a:solidFill>
                <a:latin typeface="Calibri"/>
              </a:rPr>
              <a:t>77,7 %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46120"/>
            <a:ext cx="33101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B93A1"/>
                </a:solidFill>
                <a:latin typeface="Calibri"/>
              </a:rPr>
              <a:t>couverture globale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286000"/>
            <a:ext cx="3310128" cy="155448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120" y="2286000"/>
            <a:ext cx="3310128" cy="6400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89120" y="2542032"/>
            <a:ext cx="331012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C79A52"/>
                </a:solidFill>
                <a:latin typeface="Calibri"/>
              </a:rPr>
              <a:t>82 %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3246120"/>
            <a:ext cx="33101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B93A1"/>
                </a:solidFill>
                <a:latin typeface="Calibri"/>
              </a:rPr>
              <a:t>lignes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0" y="2286000"/>
            <a:ext cx="3310128" cy="155448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955280" y="2286000"/>
            <a:ext cx="3310128" cy="6400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55280" y="2542032"/>
            <a:ext cx="331012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C79A52"/>
                </a:solidFill>
                <a:latin typeface="Calibri"/>
              </a:rPr>
              <a:t>65 %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0" y="3246120"/>
            <a:ext cx="33101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B93A1"/>
                </a:solidFill>
                <a:latin typeface="Calibri"/>
              </a:rPr>
              <a:t>branches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60520"/>
            <a:ext cx="9875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B93A1"/>
                </a:solidFill>
                <a:latin typeface="Calibri"/>
              </a:rPr>
              <a:t>Mesure réelle, obtenue en lançant l'analyse sur ce projet — pas une maquette.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617720"/>
            <a:ext cx="10515600" cy="105156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99669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docker compose -f sonarqube/docker-compose.yml up -d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./mvnw test sonar:sonar -Dsonar.token=&lt;ton_token&gt;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97880"/>
            <a:ext cx="9875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8B93A1"/>
                </a:solidFill>
                <a:latin typeface="Calibri"/>
              </a:rPr>
              <a:t>SonarQube Community en local — aucun compte SonarCloud, aucune dépendance réseau pendant le talk.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E7A8E"/>
                </a:solidFill>
                <a:latin typeface="Calibri"/>
              </a:rPr>
              <a:t>20 / 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6E7A8E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SONARQUBE —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62844"/>
                </a:solidFill>
                <a:latin typeface="Calibri"/>
              </a:rPr>
              <a:t>Coverage 77,7 %, en vrai, dans l'interface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2395728" y="1645920"/>
            <a:ext cx="7406640" cy="466344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onar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1448" y="1691640"/>
            <a:ext cx="73152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21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SONARQUBE — MESURES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62844"/>
                </a:solidFill>
                <a:latin typeface="Calibri"/>
              </a:rPr>
              <a:t>Le détail, fichier par fichier</a:t>
            </a:r>
          </a:p>
        </p:txBody>
      </p:sp>
      <p:sp>
        <p:nvSpPr>
          <p:cNvPr id="5" name="Rectangle 4"/>
          <p:cNvSpPr/>
          <p:nvPr/>
        </p:nvSpPr>
        <p:spPr>
          <a:xfrm>
            <a:off x="2395728" y="1645920"/>
            <a:ext cx="7406640" cy="466344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onar-coverage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1448" y="1691640"/>
            <a:ext cx="73152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22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SONARQUBE — LA PREUVE, ENCORE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0789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162844"/>
                </a:solidFill>
                <a:latin typeface="Calibri"/>
              </a:rPr>
              <a:t>Même branche rouge, autre outil</a:t>
            </a:r>
          </a:p>
        </p:txBody>
      </p:sp>
      <p:sp>
        <p:nvSpPr>
          <p:cNvPr id="5" name="Rectangle 4"/>
          <p:cNvSpPr/>
          <p:nvPr/>
        </p:nvSpPr>
        <p:spPr>
          <a:xfrm>
            <a:off x="2121408" y="1188720"/>
            <a:ext cx="7955280" cy="500634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onar-code-drill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7128" y="1234440"/>
            <a:ext cx="7863840" cy="4914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23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F6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BF6F5D"/>
                </a:solidFill>
                <a:latin typeface="Calibri"/>
              </a:rPr>
              <a:t>PETIT INTERLUDE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62844"/>
                </a:solidFill>
                <a:latin typeface="Calibri"/>
              </a:rPr>
              <a:t>Le best-of des excuses pour ne pas tester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BF6F5D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14884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62844"/>
                </a:solidFill>
                <a:latin typeface="Calibri"/>
              </a:rPr>
              <a:t>« Ça marche sur ma machine.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BF6F5D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74320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62844"/>
                </a:solidFill>
                <a:latin typeface="Calibri"/>
              </a:rPr>
              <a:t>« On testera après le sprint. » (le sprint suivant aussi)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3756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BF6F5D"/>
                </a:solidFill>
                <a:latin typeface="Calibri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33756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62844"/>
                </a:solidFill>
                <a:latin typeface="Calibri"/>
              </a:rPr>
              <a:t>« C'est trop simple pour bugger. 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3192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BF6F5D"/>
                </a:solidFill>
                <a:latin typeface="Calibri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93192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62844"/>
                </a:solidFill>
                <a:latin typeface="Calibri"/>
              </a:rPr>
              <a:t>« Le stagiaire a dit que ça passait. 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2628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BF6F5D"/>
                </a:solidFill>
                <a:latin typeface="Calibri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52628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62844"/>
                </a:solidFill>
                <a:latin typeface="Calibri"/>
              </a:rPr>
              <a:t>« 100 % de couverture, on n'a plus besoin de relire. 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62356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1">
                <a:solidFill>
                  <a:srgbClr val="BF6F5D"/>
                </a:solidFill>
                <a:latin typeface="Calibri"/>
              </a:rPr>
              <a:t>Spoiler : aucune de ces phrases n'a jamais empêché un incendie en prod.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24 / 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RETOUR D'EXPÉRIENCE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EFECE3"/>
                </a:solidFill>
                <a:latin typeface="Calibri"/>
              </a:rPr>
              <a:t>Deux pièges qu'on a vraiment eus en préparant cette conf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965960"/>
            <a:ext cx="10515600" cy="178308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82296" cy="1783080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3000" y="2167128"/>
            <a:ext cx="9966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EFECE3"/>
                </a:solidFill>
                <a:latin typeface="Calibri"/>
              </a:rPr>
              <a:t>Le QuarkusClassLoader fantôme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24328"/>
            <a:ext cx="99669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8B93A1"/>
                </a:solidFill>
                <a:latin typeface="Calibri"/>
              </a:rPr>
              <a:t>Deux exécutions Surefire, deux agents Jacoco... et pourtant tout à 0 %. Coupable : l'extension quarkus-jacoco mesure le code CDI toute seule, dans son coin, sans prévenir personne.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023360"/>
            <a:ext cx="10515600" cy="178308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22960" y="4023360"/>
            <a:ext cx="82296" cy="1783080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4224528"/>
            <a:ext cx="9966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EFECE3"/>
                </a:solidFill>
                <a:latin typeface="Calibri"/>
              </a:rPr>
              <a:t>L'accent qui a cassé Gherkin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681728"/>
            <a:ext cx="99669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8B93A1"/>
                </a:solidFill>
                <a:latin typeface="Calibri"/>
              </a:rPr>
              <a:t>« Fonctionnalite » sans accent ne veut RIEN dire pour un parseur Gherkin en français. Une lettre manquante, un stacktrace de 100 lignes.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172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C79A52"/>
                </a:solidFill>
                <a:latin typeface="Calibri"/>
              </a:rPr>
              <a:t>Bref : même en préparant une conf sur les tests, on s'est fait avoir. C'est le principe.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E7A8E"/>
                </a:solidFill>
                <a:latin typeface="Calibri"/>
              </a:rPr>
              <a:t>25 / 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6E7A8E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EFECE3"/>
                </a:solidFill>
                <a:latin typeface="Calibri"/>
              </a:rPr>
              <a:t>Ce qu'il faut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972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C79A52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84248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FECE3"/>
                </a:solidFill>
                <a:latin typeface="Calibri"/>
              </a:rPr>
              <a:t>Un test vert ne dit pas ce qu'il a vérifié.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8B93A1"/>
                </a:solidFill>
                <a:latin typeface="Calibri"/>
              </a:rPr>
              <a:t>La couverture, 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08960"/>
            <a:ext cx="10972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C79A52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127248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FECE3"/>
                </a:solidFill>
                <a:latin typeface="Calibri"/>
              </a:rPr>
              <a:t>JUnit et Cucumber répondent à deux questions différentes.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611880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8B93A1"/>
                </a:solidFill>
                <a:latin typeface="Calibri"/>
              </a:rPr>
              <a:t>« Ça marche ? » contre « c'est le bon comportement ? 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251960"/>
            <a:ext cx="10972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C79A52"/>
                </a:solidFill>
                <a:latin typeface="Calibri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4270248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FECE3"/>
                </a:solidFill>
                <a:latin typeface="Calibri"/>
              </a:rPr>
              <a:t>Le rapport de couverture n'est pas un objectif.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754880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8B93A1"/>
                </a:solidFill>
                <a:latin typeface="Calibri"/>
              </a:rPr>
              <a:t>C'est un radar : il montre où regarder en premier.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394960"/>
            <a:ext cx="10972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C79A52"/>
                </a:solidFill>
                <a:latin typeface="Calibri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5413248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FECE3"/>
                </a:solidFill>
                <a:latin typeface="Calibri"/>
              </a:rPr>
              <a:t>Un outil ne remplace pas la question qu'on ne s'est pas posée.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5897880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8B93A1"/>
                </a:solidFill>
                <a:latin typeface="Calibri"/>
              </a:rPr>
              <a:t>Ni Jacoco, ni Sonar, ni celui d'après.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E7A8E"/>
                </a:solidFill>
                <a:latin typeface="Calibri"/>
              </a:rPr>
              <a:t>26 / 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6E7A8E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POUR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62844"/>
                </a:solidFill>
                <a:latin typeface="Calibri"/>
              </a:rPr>
              <a:t>Si vous voulez creuser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2267712"/>
            <a:ext cx="128016" cy="12801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194560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62844"/>
                </a:solidFill>
                <a:latin typeface="Calibri"/>
              </a:rPr>
              <a:t>Le dépôt de ce projet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542032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onsolas"/>
              </a:rPr>
              <a:t>github.com/sidevconcept/couverture-junit-cucumber-jacoco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3227832"/>
            <a:ext cx="128016" cy="128016"/>
          </a:xfrm>
          <a:prstGeom prst="ellipse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88720" y="3154680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62844"/>
                </a:solidFill>
                <a:latin typeface="Calibri"/>
              </a:rPr>
              <a:t>Guide Quarkus + Jacoco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02152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onsolas"/>
              </a:rPr>
              <a:t>quarkus.io/guides/tests-with-coverage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4187952"/>
            <a:ext cx="128016" cy="128016"/>
          </a:xfrm>
          <a:prstGeom prst="ellipse">
            <a:avLst/>
          </a:prstGeom>
          <a:solidFill>
            <a:srgbClr val="839B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88720" y="4114800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62844"/>
                </a:solidFill>
                <a:latin typeface="Calibri"/>
              </a:rPr>
              <a:t>Extension Cucumber pour Quarkus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462272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onsolas"/>
              </a:rPr>
              <a:t>docs.quarkiverse.io/quarkus-cucumber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5148072"/>
            <a:ext cx="128016" cy="128016"/>
          </a:xfrm>
          <a:prstGeom prst="ellipse">
            <a:avLst/>
          </a:prstGeom>
          <a:solidFill>
            <a:srgbClr val="BF6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88720" y="5074920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62844"/>
                </a:solidFill>
                <a:latin typeface="Calibri"/>
              </a:rPr>
              <a:t>SonarQube Community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5422392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onsolas"/>
              </a:rPr>
              <a:t>docs.sonarsource.com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27 / 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640080" y="484632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32688" y="484632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225296" y="484632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517904" y="484632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810512" y="484632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2103120" y="484632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40080" y="513892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32688" y="513892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225296" y="513892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517904" y="513892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810512" y="513892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103120" y="513892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40080" y="543153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32688" y="543153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225296" y="543153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517904" y="543153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810512" y="543153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103120" y="543153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40080" y="572414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32688" y="572414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225296" y="572414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1517904" y="572414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810512" y="572414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2103120" y="572414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640080" y="601675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932688" y="601675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1225296" y="601675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1517904" y="601675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1810512" y="601675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2103120" y="601675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68680" y="882396"/>
            <a:ext cx="75895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200" b="1" i="0" dirty="0">
                <a:solidFill>
                  <a:srgbClr val="EFECE3"/>
                </a:solidFill>
                <a:latin typeface="Calibri"/>
              </a:rPr>
              <a:t>Merci.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1732788"/>
            <a:ext cx="7589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0" i="0" dirty="0">
                <a:solidFill>
                  <a:srgbClr val="C79A52"/>
                </a:solidFill>
                <a:latin typeface="Calibri"/>
              </a:rPr>
              <a:t>Questions 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8395" y="2936557"/>
            <a:ext cx="7359805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 dirty="0">
                <a:solidFill>
                  <a:srgbClr val="8B93A1"/>
                </a:solidFill>
                <a:latin typeface="Calibri"/>
              </a:rPr>
              <a:t>https://</a:t>
            </a:r>
            <a:r>
              <a:rPr sz="2000" b="0" i="0" dirty="0" err="1">
                <a:solidFill>
                  <a:srgbClr val="8B93A1"/>
                </a:solidFill>
                <a:latin typeface="Calibri"/>
              </a:rPr>
              <a:t>github.com</a:t>
            </a:r>
            <a:r>
              <a:rPr sz="2000" b="0" i="0" dirty="0">
                <a:solidFill>
                  <a:srgbClr val="8B93A1"/>
                </a:solidFill>
                <a:latin typeface="Calibri"/>
              </a:rPr>
              <a:t>/</a:t>
            </a:r>
            <a:r>
              <a:rPr sz="2000" b="0" i="0" dirty="0" err="1">
                <a:solidFill>
                  <a:srgbClr val="8B93A1"/>
                </a:solidFill>
                <a:latin typeface="Calibri"/>
              </a:rPr>
              <a:t>sidevconcept</a:t>
            </a:r>
            <a:r>
              <a:rPr sz="2000" b="0" i="0" dirty="0">
                <a:solidFill>
                  <a:srgbClr val="8B93A1"/>
                </a:solidFill>
                <a:latin typeface="Calibri"/>
              </a:rPr>
              <a:t>/couverture-</a:t>
            </a:r>
            <a:r>
              <a:rPr sz="2000" b="0" i="0" dirty="0" err="1">
                <a:solidFill>
                  <a:srgbClr val="8B93A1"/>
                </a:solidFill>
                <a:latin typeface="Calibri"/>
              </a:rPr>
              <a:t>junit</a:t>
            </a:r>
            <a:r>
              <a:rPr sz="2000" b="0" i="0" dirty="0">
                <a:solidFill>
                  <a:srgbClr val="8B93A1"/>
                </a:solidFill>
                <a:latin typeface="Calibri"/>
              </a:rPr>
              <a:t>-cucumber-</a:t>
            </a:r>
            <a:r>
              <a:rPr sz="2000" b="0" i="0" dirty="0" err="1">
                <a:solidFill>
                  <a:srgbClr val="8B93A1"/>
                </a:solidFill>
                <a:latin typeface="Calibri"/>
              </a:rPr>
              <a:t>jacoco</a:t>
            </a:r>
            <a:endParaRPr lang="fr-FR" sz="2000" b="0" i="0" dirty="0">
              <a:solidFill>
                <a:srgbClr val="8B93A1"/>
              </a:solidFill>
              <a:latin typeface="Calibri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endParaRPr lang="fr-FR" sz="2400" dirty="0">
              <a:solidFill>
                <a:srgbClr val="8B93A1"/>
              </a:solidFill>
              <a:latin typeface="Calibri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 dirty="0">
                <a:solidFill>
                  <a:srgbClr val="8B93A1"/>
                </a:solidFill>
                <a:latin typeface="Calibri"/>
              </a:rPr>
              <a:t>sidev.concept06@gmail.com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52560" y="201168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 dirty="0" err="1">
                <a:solidFill>
                  <a:srgbClr val="C79A52"/>
                </a:solidFill>
                <a:latin typeface="Calibri"/>
              </a:rPr>
              <a:t>Scanne</a:t>
            </a:r>
            <a:r>
              <a:rPr sz="1300" b="1" i="0" dirty="0">
                <a:solidFill>
                  <a:srgbClr val="C79A52"/>
                </a:solidFill>
                <a:latin typeface="Calibri"/>
              </a:rPr>
              <a:t>-moi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823960" y="2331720"/>
            <a:ext cx="2377440" cy="237744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qr-git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2377440"/>
            <a:ext cx="2286000" cy="2286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2096</Words>
  <Application>Microsoft Macintosh PowerPoint</Application>
  <PresentationFormat>Grand écran</PresentationFormat>
  <Paragraphs>328</Paragraphs>
  <Slides>28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28</vt:i4>
      </vt:variant>
    </vt:vector>
  </HeadingPairs>
  <TitlesOfParts>
    <vt:vector size="32" baseType="lpstr">
      <vt:lpstr>Arial</vt:lpstr>
      <vt:lpstr>Calibri</vt:lpstr>
      <vt:lpstr>Consolas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Sidney Cohen</cp:lastModifiedBy>
  <cp:revision>2</cp:revision>
  <dcterms:created xsi:type="dcterms:W3CDTF">2013-01-27T09:14:16Z</dcterms:created>
  <dcterms:modified xsi:type="dcterms:W3CDTF">2026-09-14T07:16:18Z</dcterms:modified>
  <cp:category/>
</cp:coreProperties>
</file>