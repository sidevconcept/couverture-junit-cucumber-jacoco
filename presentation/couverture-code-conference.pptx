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2"/>
  </p:normalViewPr>
  <p:slideViewPr>
    <p:cSldViewPr snapToGrid="0" snapToObjects="1">
      <p:cViewPr varScale="1">
        <p:scale>
          <a:sx n="114" d="100"/>
          <a:sy n="114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54864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85248" y="54864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77856" y="54864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70464" y="54864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863072" y="54864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155680" y="54864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92640" y="84124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85248" y="84124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77856" y="84124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70464" y="84124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63072" y="84124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155680" y="84124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92640" y="113385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985248" y="113385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277856" y="113385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570464" y="113385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63072" y="113385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155680" y="113385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92640" y="1426464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985248" y="1426464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77856" y="1426464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570464" y="1426464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863072" y="1426464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155680" y="1426464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92640" y="1719072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985248" y="1719072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277856" y="1719072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570464" y="1719072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863072" y="1719072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155680" y="1719072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" y="2148840"/>
            <a:ext cx="82296" cy="1737360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1560" y="1783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79A52"/>
                </a:solidFill>
                <a:latin typeface="Helvetica Neue"/>
              </a:rPr>
              <a:t>CONFÉRENCE TECHNIQUE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2194560"/>
            <a:ext cx="96012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600" b="1" i="0">
                <a:solidFill>
                  <a:srgbClr val="EFECE3"/>
                </a:solidFill>
                <a:latin typeface="Helvetica Neue"/>
              </a:rPr>
              <a:t>La couverture de code,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600" b="1" i="0">
                <a:solidFill>
                  <a:srgbClr val="EFECE3"/>
                </a:solidFill>
                <a:latin typeface="Helvetica Neue"/>
              </a:rPr>
              <a:t>sans blabla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3794760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C79A52"/>
                </a:solidFill>
                <a:latin typeface="Helvetica Neue"/>
              </a:rPr>
              <a:t>Quarkus  ·  JUnit  ·  Cucumber  ·  Jacoco  ·  (un peu de Sonar en bonus)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34340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1">
                <a:solidFill>
                  <a:srgbClr val="C8CFDA"/>
                </a:solidFill>
                <a:latin typeface="Helvetica Neue"/>
              </a:rPr>
              <a:t>Où l'on découvre que « 100 % de couverture » ne veut pas dire « 0 bug ».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9893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B93A1"/>
                </a:solidFill>
                <a:latin typeface="Helvetica Neue"/>
              </a:rPr>
              <a:t>Ton nom — Date de la conférence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6530"/>
                </a:solidFill>
                <a:latin typeface="Helvetica Neue"/>
              </a:rPr>
              <a:t>AVANT DE COMMENCER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62844"/>
                </a:solidFill>
                <a:latin typeface="Helvetica Neue"/>
              </a:rPr>
              <a:t>Qui suis-je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3310128" cy="310896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3310128" cy="82296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2651760"/>
            <a:ext cx="27614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162844"/>
                </a:solidFill>
                <a:latin typeface="Helvetica Neue"/>
              </a:rPr>
              <a:t>Développeur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429000"/>
            <a:ext cx="276148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333A47"/>
                </a:solidFill>
                <a:latin typeface="Helvetica Neue"/>
              </a:rPr>
              <a:t>Suffisamment d'années pour avoir déjà tout cassé au moins une fois.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331720"/>
            <a:ext cx="3310128" cy="310896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2331720"/>
            <a:ext cx="3310128" cy="82296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2651760"/>
            <a:ext cx="27614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162844"/>
                </a:solidFill>
                <a:latin typeface="Helvetica Neue"/>
              </a:rPr>
              <a:t>Écrit des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429000"/>
            <a:ext cx="276148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333A47"/>
                </a:solidFill>
                <a:latin typeface="Helvetica Neue"/>
              </a:rPr>
              <a:t>Un ratio tests / code que je ne montrerai à personne aujourd'hui.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2331720"/>
            <a:ext cx="3310128" cy="310896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80" y="2331720"/>
            <a:ext cx="3310128" cy="82296"/>
          </a:xfrm>
          <a:prstGeom prst="rect">
            <a:avLst/>
          </a:prstGeom>
          <a:solidFill>
            <a:srgbClr val="BF6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651760"/>
            <a:ext cx="27614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162844"/>
                </a:solidFill>
                <a:latin typeface="Helvetica Neue"/>
              </a:rPr>
              <a:t>Ici pour une raison précise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429000"/>
            <a:ext cx="276148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333A47"/>
                </a:solidFill>
                <a:latin typeface="Helvetica Neue"/>
              </a:rPr>
              <a:t>Vous convaincre de regarder VOTRE rapport de couverture. Le vrai. Pas celui que vous imaginez.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5E6674"/>
                </a:solidFill>
                <a:latin typeface="Helvetica Neue"/>
              </a:rPr>
              <a:t>(personnalisez cette slide avec votre vraie bio avant le jour J)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02 / 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79A52"/>
                </a:solidFill>
                <a:latin typeface="Helvetica Neue"/>
              </a:rPr>
              <a:t>POUR COMMENCER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FECE3"/>
                </a:solidFill>
                <a:latin typeface="Helvetica Neue"/>
              </a:rPr>
              <a:t>Levez la main si...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157984"/>
            <a:ext cx="292608" cy="292608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2103120"/>
            <a:ext cx="9692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EFECE3"/>
                </a:solidFill>
                <a:latin typeface="Helvetica Neue"/>
              </a:rPr>
              <a:t>...vous avez déjà écrit un test juste pour faire plaisir à la CI.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118104"/>
            <a:ext cx="292608" cy="292608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3063240"/>
            <a:ext cx="9692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EFECE3"/>
                </a:solidFill>
                <a:latin typeface="Helvetica Neue"/>
              </a:rPr>
              <a:t>...vous avez déjà vu 100 % de couverture sur un fichier plein de bugs.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078224"/>
            <a:ext cx="292608" cy="292608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4023360"/>
            <a:ext cx="9692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EFECE3"/>
                </a:solidFill>
                <a:latin typeface="Helvetica Neue"/>
              </a:rPr>
              <a:t>...vous ne savez pas, là, maintenant, ce que couvrent VOS tests.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C79A52"/>
                </a:solidFill>
                <a:latin typeface="Helvetica Neue"/>
              </a:rPr>
              <a:t>Pas de jugement. Enfin... un peu.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Helvetica Neue"/>
              </a:rPr>
              <a:t>03 / 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B93A1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6530"/>
                </a:solidFill>
                <a:latin typeface="Helvetica Neue"/>
              </a:rPr>
              <a:t>AU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62844"/>
                </a:solidFill>
                <a:latin typeface="Helvetica Neue"/>
              </a:rPr>
              <a:t>Une heure, quatre outils, zéro slide inutile (promis)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A6530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30552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Le 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441448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333A47"/>
                </a:solidFill>
                <a:latin typeface="Helvetica Neue"/>
              </a:rPr>
              <a:t>Pourquoi une suite de tests verte ne suffit 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203704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E6674"/>
                </a:solidFill>
                <a:latin typeface="Helvetica Neue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07208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A6530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8892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La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99816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333A47"/>
                </a:solidFill>
                <a:latin typeface="Helvetica Neue"/>
              </a:rPr>
              <a:t>JUnit, Cucumber, Quarkus, Jacoco — qui fait quoi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86207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E6674"/>
                </a:solidFill>
                <a:latin typeface="Helvetica Neue"/>
              </a:rPr>
              <a:t>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65576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A6530"/>
                </a:solidFill>
                <a:latin typeface="Helvetica Ne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47288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Démo : le projet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58184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333A47"/>
                </a:solidFill>
                <a:latin typeface="Helvetica Neue"/>
              </a:rPr>
              <a:t>Un agenda malin, ses tests, ses angles morts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5204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E6674"/>
                </a:solidFill>
                <a:latin typeface="Helvetica Neue"/>
              </a:rPr>
              <a:t>10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23944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A6530"/>
                </a:solidFill>
                <a:latin typeface="Helvetica Ne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05656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Le rapport qui ne ment pas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16552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333A47"/>
                </a:solidFill>
                <a:latin typeface="Helvetica Neue"/>
              </a:rPr>
              <a:t>Jacoco en direct, JUnit contre Cucumber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17880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E6674"/>
                </a:solidFill>
                <a:latin typeface="Helvetica Neue"/>
              </a:rPr>
              <a:t>15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82312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A6530"/>
                </a:solidFill>
                <a:latin typeface="Helvetica Ne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76402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Bonus : SonarQube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07492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333A47"/>
                </a:solidFill>
                <a:latin typeface="Helvetica Neue"/>
              </a:rPr>
              <a:t>Le même rapport, dans un vrai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83717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E6674"/>
                </a:solidFill>
                <a:latin typeface="Helvetica Neue"/>
              </a:rPr>
              <a:t>10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A6530"/>
                </a:solidFill>
                <a:latin typeface="Helvetica Neue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422392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Ce qu'on retient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733288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333A47"/>
                </a:solidFill>
                <a:latin typeface="Helvetica Neue"/>
              </a:rPr>
              <a:t>Et deux ou trois pièges qu'on a vraiment eus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5495544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E6674"/>
                </a:solidFill>
                <a:latin typeface="Helvetica Neue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04 / 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6530"/>
                </a:solidFill>
                <a:latin typeface="Helvetica Neue"/>
              </a:rPr>
              <a:t>LE 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62844"/>
                </a:solidFill>
                <a:latin typeface="Helvetica Neue"/>
              </a:rPr>
              <a:t>On a des tests. On n'a pas de visibilité.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3310128" cy="324612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3310128" cy="82296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2651760"/>
            <a:ext cx="27614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355C57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337560"/>
            <a:ext cx="27614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62844"/>
                </a:solidFill>
                <a:latin typeface="Helvetica Neue"/>
              </a:rPr>
              <a:t>On écrit des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160520"/>
            <a:ext cx="27614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333A47"/>
                </a:solidFill>
                <a:latin typeface="Helvetica Neue"/>
              </a:rPr>
              <a:t>JUnit, Cucumber : les suites tournent au vert à chaque build.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331720"/>
            <a:ext cx="3310128" cy="324612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331720"/>
            <a:ext cx="3310128" cy="82296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2651760"/>
            <a:ext cx="27614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8A6530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337560"/>
            <a:ext cx="27614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62844"/>
                </a:solidFill>
                <a:latin typeface="Helvetica Neue"/>
              </a:rPr>
              <a:t>On ne sait pas ce qu'ils couvrent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4160520"/>
            <a:ext cx="27614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333A47"/>
                </a:solidFill>
                <a:latin typeface="Helvetica Neue"/>
              </a:rPr>
              <a:t>Quelles classes ? Quelles branches ? Personne ne regarde vraiment.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2331720"/>
            <a:ext cx="3310128" cy="324612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80" y="2331720"/>
            <a:ext cx="3310128" cy="82296"/>
          </a:xfrm>
          <a:prstGeom prst="rect">
            <a:avLst/>
          </a:prstGeom>
          <a:solidFill>
            <a:srgbClr val="BF6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651760"/>
            <a:ext cx="27614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8F4536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337560"/>
            <a:ext cx="27614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62844"/>
                </a:solidFill>
                <a:latin typeface="Helvetica Neue"/>
              </a:rPr>
              <a:t>Les angles morts restent invisibles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160520"/>
            <a:ext cx="27614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333A47"/>
                </a:solidFill>
                <a:latin typeface="Helvetica Neue"/>
              </a:rPr>
              <a:t>Jusqu'au bug en prod, dans le code qu'aucun test n'a jamais exécuté.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05 /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6530"/>
                </a:solidFill>
                <a:latin typeface="Helvetica Neue"/>
              </a:rPr>
              <a:t>LA STACK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62844"/>
                </a:solidFill>
                <a:latin typeface="Helvetica Neue"/>
              </a:rPr>
              <a:t>Quatre outils, quatre questions différentes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5138928" cy="214884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82296" cy="2148840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75687"/>
            <a:ext cx="4590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62844"/>
                </a:solidFill>
                <a:latin typeface="Helvetica Neue"/>
              </a:rPr>
              <a:t>JUnit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59"/>
            <a:ext cx="459028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3A47"/>
                </a:solidFill>
                <a:latin typeface="Helvetica Neue"/>
              </a:rPr>
              <a:t>« La logique métier fait-elle ce qu'elle doit ? »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3A47"/>
                </a:solidFill>
                <a:latin typeface="Helvetica Neue"/>
              </a:rPr>
              <a:t>Tests unitaires ciblés, rapides, isolés.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74519"/>
            <a:ext cx="5138928" cy="214884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874519"/>
            <a:ext cx="82296" cy="2148840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075687"/>
            <a:ext cx="4590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62844"/>
                </a:solidFill>
                <a:latin typeface="Helvetica Neue"/>
              </a:rPr>
              <a:t>Cucumber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51759"/>
            <a:ext cx="459028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3A47"/>
                </a:solidFill>
                <a:latin typeface="Helvetica Neue"/>
              </a:rPr>
              <a:t>« Le comportement attendu est-il respecté ? »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3A47"/>
                </a:solidFill>
                <a:latin typeface="Helvetica Neue"/>
              </a:rPr>
              <a:t>Scénarios Gherkin lisibles, exécutés via l'API REST.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51959"/>
            <a:ext cx="5138928" cy="214884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4251959"/>
            <a:ext cx="82296" cy="2148840"/>
          </a:xfrm>
          <a:prstGeom prst="rect">
            <a:avLst/>
          </a:prstGeom>
          <a:solidFill>
            <a:srgbClr val="839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453127"/>
            <a:ext cx="4590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62844"/>
                </a:solidFill>
                <a:latin typeface="Helvetica Neue"/>
              </a:rPr>
              <a:t>Quarkus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029199"/>
            <a:ext cx="459028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3A47"/>
                </a:solidFill>
                <a:latin typeface="Helvetica Neue"/>
              </a:rPr>
              <a:t>« Comment tout ça tourne ensemble ? »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3A47"/>
                </a:solidFill>
                <a:latin typeface="Helvetica Neue"/>
              </a:rPr>
              <a:t>Le framework qui démarre l'appli et pilote les tests.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51959"/>
            <a:ext cx="5138928" cy="214884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4251959"/>
            <a:ext cx="82296" cy="2148840"/>
          </a:xfrm>
          <a:prstGeom prst="rect">
            <a:avLst/>
          </a:prstGeom>
          <a:solidFill>
            <a:srgbClr val="BF6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4453127"/>
            <a:ext cx="4590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62844"/>
                </a:solidFill>
                <a:latin typeface="Helvetica Neue"/>
              </a:rPr>
              <a:t>Jacoco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029199"/>
            <a:ext cx="459028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3A47"/>
                </a:solidFill>
                <a:latin typeface="Helvetica Neue"/>
              </a:rPr>
              <a:t>« Qu'est-ce qui a vraiment été exécuté ? »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3A47"/>
                </a:solidFill>
                <a:latin typeface="Helvetica Neue"/>
              </a:rPr>
              <a:t>L'instrument de mesure de la couverture, à chaque build.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06 / 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79A52"/>
                </a:solidFill>
                <a:latin typeface="Helvetica Neue"/>
              </a:rPr>
              <a:t>LE TERRAIN DE JEU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FECE3"/>
                </a:solidFill>
                <a:latin typeface="Helvetica Neue"/>
              </a:rPr>
              <a:t>Un agenda malin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36192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C8CFDA"/>
                </a:solidFill>
                <a:latin typeface="Helvetica Neue"/>
              </a:rPr>
              <a:t>Une API Quarkus qui planifie des événements, détecte les conflits d'horaire,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C8CFDA"/>
                </a:solidFill>
                <a:latin typeface="Helvetica Neue"/>
              </a:rPr>
              <a:t>génère des récurrences, et glisse une citation du jour.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3840480" cy="960120"/>
          </a:xfrm>
          <a:prstGeom prst="rect">
            <a:avLst/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3840480" cy="64008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45059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FECE3"/>
                </a:solidFill>
                <a:latin typeface="Helvetica Neue"/>
              </a:rPr>
              <a:t>CalendarResource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83464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3B1"/>
                </a:solidFill>
                <a:latin typeface="Helvetica Neue"/>
              </a:rPr>
              <a:t>Couche REST — JSON in/out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246120"/>
            <a:ext cx="36576" cy="320040"/>
          </a:xfrm>
          <a:prstGeom prst="rect">
            <a:avLst/>
          </a:prstGeom>
          <a:solidFill>
            <a:srgbClr val="8B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611880"/>
            <a:ext cx="2395728" cy="960120"/>
          </a:xfrm>
          <a:prstGeom prst="rect">
            <a:avLst/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611880"/>
            <a:ext cx="2395728" cy="64008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776472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FECE3"/>
                </a:solidFill>
                <a:latin typeface="Helvetica Neue"/>
              </a:rPr>
              <a:t>EventService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160520"/>
            <a:ext cx="20299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3B1"/>
                </a:solidFill>
                <a:latin typeface="Helvetica Neue"/>
              </a:rPr>
              <a:t>création + recherche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6704" y="3611880"/>
            <a:ext cx="2395728" cy="960120"/>
          </a:xfrm>
          <a:prstGeom prst="rect">
            <a:avLst/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46704" y="3611880"/>
            <a:ext cx="2395728" cy="64008"/>
          </a:xfrm>
          <a:prstGeom prst="rect">
            <a:avLst/>
          </a:prstGeom>
          <a:solidFill>
            <a:srgbClr val="839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7872" y="3776472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FECE3"/>
                </a:solidFill>
                <a:latin typeface="Helvetica Neue"/>
              </a:rPr>
              <a:t>RecurrenceService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4160520"/>
            <a:ext cx="20299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3B1"/>
                </a:solidFill>
                <a:latin typeface="Helvetica Neue"/>
              </a:rPr>
              <a:t>quotidien / hebdo / mensuel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70448" y="3611880"/>
            <a:ext cx="2395728" cy="960120"/>
          </a:xfrm>
          <a:prstGeom prst="rect">
            <a:avLst/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70448" y="3611880"/>
            <a:ext cx="2395728" cy="64008"/>
          </a:xfrm>
          <a:prstGeom prst="rect">
            <a:avLst/>
          </a:prstGeom>
          <a:solidFill>
            <a:srgbClr val="BF6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71616" y="3776472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FECE3"/>
                </a:solidFill>
                <a:latin typeface="Helvetica Neue"/>
              </a:rPr>
              <a:t>HolidayService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4160520"/>
            <a:ext cx="20299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3B1"/>
                </a:solidFill>
                <a:latin typeface="Helvetica Neue"/>
              </a:rPr>
              <a:t>jours fériés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94192" y="3611880"/>
            <a:ext cx="2395728" cy="960120"/>
          </a:xfrm>
          <a:prstGeom prst="rect">
            <a:avLst/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94192" y="3611880"/>
            <a:ext cx="2395728" cy="64008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0" y="3776472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FECE3"/>
                </a:solidFill>
                <a:latin typeface="Helvetica Neue"/>
              </a:rPr>
              <a:t>QuoteOfTheDayService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160520"/>
            <a:ext cx="20299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3B1"/>
                </a:solidFill>
                <a:latin typeface="Helvetica Neue"/>
              </a:rPr>
              <a:t>citation du jour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4572000"/>
            <a:ext cx="36576" cy="320040"/>
          </a:xfrm>
          <a:prstGeom prst="rect">
            <a:avLst/>
          </a:prstGeom>
          <a:solidFill>
            <a:srgbClr val="8B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" y="4892040"/>
            <a:ext cx="3840480" cy="822960"/>
          </a:xfrm>
          <a:prstGeom prst="rect">
            <a:avLst/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" y="4892040"/>
            <a:ext cx="3840480" cy="64008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4128" y="505663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FECE3"/>
                </a:solidFill>
                <a:latin typeface="Helvetica Neue"/>
              </a:rPr>
              <a:t>ConflictDetector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44068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3B1"/>
                </a:solidFill>
                <a:latin typeface="Helvetica Neue"/>
              </a:rPr>
              <a:t>logique pure — aucune dépendance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937760"/>
            <a:ext cx="5577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8B93A1"/>
                </a:solidFill>
                <a:latin typeface="Helvetica Neue"/>
              </a:rPr>
              <a:t>Aucune base de données : le sujet du jour, c'est la couverture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8B93A1"/>
                </a:solidFill>
                <a:latin typeface="Helvetica Neue"/>
              </a:rPr>
              <a:t>de tests — pas la persistance.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Helvetica Neue"/>
              </a:rPr>
              <a:t>07 / 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B93A1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6530"/>
                </a:solidFill>
                <a:latin typeface="Helvetica Neue"/>
              </a:rPr>
              <a:t>ZOOM — JUNIT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62844"/>
                </a:solidFill>
                <a:latin typeface="Helvetica Neue"/>
              </a:rPr>
              <a:t>Le microscope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333A47"/>
                </a:solidFill>
                <a:latin typeface="Helvetica Neue"/>
              </a:rPr>
              <a:t>JUnit teste une unité de code isolée — une méthode, une classe — sans lancer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333A47"/>
                </a:solidFill>
                <a:latin typeface="Helvetica Neue"/>
              </a:rPr>
              <a:t>toute l'application. C'est rapide, précis, et ça ne pardonne rien.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71800"/>
            <a:ext cx="3310128" cy="137160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971800"/>
            <a:ext cx="73152" cy="1371600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2852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Rapide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333A47"/>
                </a:solidFill>
                <a:latin typeface="Helvetica Neue"/>
              </a:rPr>
              <a:t>Des milliers de tests en quelques secondes.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971800"/>
            <a:ext cx="3310128" cy="137160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971800"/>
            <a:ext cx="73152" cy="1371600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852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Isolé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566160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333A47"/>
                </a:solidFill>
                <a:latin typeface="Helvetica Neue"/>
              </a:rPr>
              <a:t>Pas de serveur, pas de réseau, pas de surprise.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971800"/>
            <a:ext cx="3310128" cy="137160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80" y="2971800"/>
            <a:ext cx="73152" cy="1371600"/>
          </a:xfrm>
          <a:prstGeom prst="rect">
            <a:avLst/>
          </a:prstGeom>
          <a:solidFill>
            <a:srgbClr val="BF6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3200400"/>
            <a:ext cx="2852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66160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333A47"/>
                </a:solidFill>
                <a:latin typeface="Helvetica Neue"/>
              </a:rPr>
              <a:t>Pensé par et pour les développeurs.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333A47"/>
                </a:solidFill>
                <a:latin typeface="Helvetica Neue"/>
              </a:rPr>
              <a:t>Dans notre agenda malin : ConflictDetector, RecurrenceService — de la logique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333A47"/>
                </a:solidFill>
                <a:latin typeface="Helvetica Neue"/>
              </a:rPr>
              <a:t>pure, testée sans jamais démarrer Quarkus.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08 / 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6530"/>
                </a:solidFill>
                <a:latin typeface="Helvetica Neue"/>
              </a:rPr>
              <a:t>JUNIT — EN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62844"/>
                </a:solidFill>
                <a:latin typeface="Helvetica Neue"/>
              </a:rPr>
              <a:t>Viser juste, vite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515600" cy="288036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99669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 i="0">
                <a:solidFill>
                  <a:srgbClr val="E3E8F0"/>
                </a:solidFill>
                <a:latin typeface="Menlo"/>
              </a:rPr>
              <a:t>@Test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 i="0">
                <a:solidFill>
                  <a:srgbClr val="E3E8F0"/>
                </a:solidFill>
                <a:latin typeface="Menlo"/>
              </a:rPr>
              <a:t>void deuxEvenementsQuiSeTouchentNeSontPasEnConflit() {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 i="0">
                <a:solidFill>
                  <a:srgbClr val="E3E8F0"/>
                </a:solidFill>
                <a:latin typeface="Menlo"/>
              </a:rPr>
              <a:t>    Event a = eventAt("a", 9, 10);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 i="0">
                <a:solidFill>
                  <a:srgbClr val="E3E8F0"/>
                </a:solidFill>
                <a:latin typeface="Menlo"/>
              </a:rPr>
              <a:t>    Event b = eventAt("b", 10, 11);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sz="1550" b="0" i="0">
              <a:solidFill>
                <a:srgbClr val="E3E8F0"/>
              </a:solidFill>
              <a:latin typeface="Menlo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 i="0">
                <a:solidFill>
                  <a:srgbClr val="E3E8F0"/>
                </a:solidFill>
                <a:latin typeface="Menlo"/>
              </a:rPr>
              <a:t>    assertFalse(detector.isConflicting(a, b));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 i="0">
                <a:solidFill>
                  <a:srgbClr val="E3E8F0"/>
                </a:solidFill>
                <a:latin typeface="Menl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333A47"/>
                </a:solidFill>
                <a:latin typeface="Helvetica Neue"/>
              </a:rPr>
              <a:t>ConflictDetectorTest : 4 tests, 4 cas limites — chevauchement, contact exact,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333A47"/>
                </a:solidFill>
                <a:latin typeface="Helvetica Neue"/>
              </a:rPr>
              <a:t>séparation nette, réflexivité. Une classe pure, sans Quarkus, testée en quelques 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09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55C57"/>
                </a:solidFill>
                <a:latin typeface="Helvetica Neue"/>
              </a:rPr>
              <a:t>ZOOM — CUCUMBER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62844"/>
                </a:solidFill>
                <a:latin typeface="Helvetica Neue"/>
              </a:rPr>
              <a:t>Le grand 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333A47"/>
                </a:solidFill>
                <a:latin typeface="Helvetica Neue"/>
              </a:rPr>
              <a:t>Cucumber teste le comportement observable, de bout en bout, en français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333A47"/>
                </a:solidFill>
                <a:latin typeface="Helvetica Neue"/>
              </a:rPr>
              <a:t>lisible. Le même texte sert de spec fonctionnelle ET de test automatisé.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71800"/>
            <a:ext cx="3310128" cy="137160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971800"/>
            <a:ext cx="73152" cy="1371600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2852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Lisible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333A47"/>
                </a:solidFill>
                <a:latin typeface="Helvetica Neue"/>
              </a:rPr>
              <a:t>Même un product owner peut le relire (et le corriger).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971800"/>
            <a:ext cx="3310128" cy="137160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971800"/>
            <a:ext cx="73152" cy="1371600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852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Bout en bout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566160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333A47"/>
                </a:solidFill>
                <a:latin typeface="Helvetica Neue"/>
              </a:rPr>
              <a:t>Passe par la vraie API REST, pas un mock.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971800"/>
            <a:ext cx="3310128" cy="137160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80" y="2971800"/>
            <a:ext cx="73152" cy="1371600"/>
          </a:xfrm>
          <a:prstGeom prst="rect">
            <a:avLst/>
          </a:prstGeom>
          <a:solidFill>
            <a:srgbClr val="BF6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3200400"/>
            <a:ext cx="2852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Fonctionnel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66160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333A47"/>
                </a:solidFill>
                <a:latin typeface="Helvetica Neue"/>
              </a:rPr>
              <a:t>Décrit ce que fait le produit, pas comment.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333A47"/>
                </a:solidFill>
                <a:latin typeface="Helvetica Neue"/>
              </a:rPr>
              <a:t>Dans notre agenda malin : la création d'événement, la détection de conflit,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333A47"/>
                </a:solidFill>
                <a:latin typeface="Helvetica Neue"/>
              </a:rPr>
              <a:t>le signalement d'un jour férié — trois scénarios, en français.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10 / 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55C57"/>
                </a:solidFill>
                <a:latin typeface="Helvetica Neue"/>
              </a:rPr>
              <a:t>CUCUMBER — EN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62844"/>
                </a:solidFill>
                <a:latin typeface="Helvetica Neue"/>
              </a:rPr>
              <a:t>Le scénario que tout le monde comprend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515600" cy="324612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996696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E3E8F0"/>
                </a:solidFill>
                <a:latin typeface="Menlo"/>
              </a:rPr>
              <a:t>Scénario: Refus d'un événement qui chevauche un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E3E8F0"/>
                </a:solidFill>
                <a:latin typeface="Menlo"/>
              </a:rPr>
              <a:t>          événement existant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1450" b="0" i="0">
              <a:solidFill>
                <a:srgbClr val="E3E8F0"/>
              </a:solidFill>
              <a:latin typeface="Menlo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E3E8F0"/>
                </a:solidFill>
                <a:latin typeface="Menlo"/>
              </a:rPr>
              <a:t>  Étant donné que j'ai déjà l'événement "Comité de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E3E8F0"/>
                </a:solidFill>
                <a:latin typeface="Menlo"/>
              </a:rPr>
              <a:t>  pilotage" de "14:00" à "15:00" le "2026-09-15"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E3E8F0"/>
                </a:solidFill>
                <a:latin typeface="Menlo"/>
              </a:rPr>
              <a:t>  Quand je crée l'événement "Revue de code" de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E3E8F0"/>
                </a:solidFill>
                <a:latin typeface="Menlo"/>
              </a:rPr>
              <a:t>  "14:30" à "15:30" le "2026-09-15"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E3E8F0"/>
                </a:solidFill>
                <a:latin typeface="Menlo"/>
              </a:rPr>
              <a:t>  Alors la création est refusée pour cause de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E3E8F0"/>
                </a:solidFill>
                <a:latin typeface="Menlo"/>
              </a:rPr>
              <a:t>  conflit d'horaire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333A47"/>
                </a:solidFill>
                <a:latin typeface="Helvetica Neue"/>
              </a:rPr>
              <a:t>Ce même texte sert de spécification fonctionnelle et de test d'intégration,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333A47"/>
                </a:solidFill>
                <a:latin typeface="Helvetica Neue"/>
              </a:rPr>
              <a:t>exécuté en vrai contre l'API REST via RestAssured.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11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6530"/>
                </a:solidFill>
                <a:latin typeface="Helvetica Neue"/>
              </a:rPr>
              <a:t>LE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62844"/>
                </a:solidFill>
                <a:latin typeface="Helvetica Neue"/>
              </a:rPr>
              <a:t>JUnit vs Cucumber : qui gagne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4937760" cy="329184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4937760" cy="82296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62844"/>
                </a:solidFill>
                <a:latin typeface="Helvetica Neue"/>
              </a:rPr>
              <a:t>JUnit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1752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A47"/>
                </a:solidFill>
                <a:latin typeface="Helvetica Neue"/>
              </a:rPr>
              <a:t>— Rapide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204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A47"/>
                </a:solidFill>
                <a:latin typeface="Helvetica Neue"/>
              </a:rPr>
              <a:t>— Isolé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2336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A47"/>
                </a:solidFill>
                <a:latin typeface="Helvetica Neue"/>
              </a:rPr>
              <a:t>—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52628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A47"/>
                </a:solidFill>
                <a:latin typeface="Helvetica Neue"/>
              </a:rPr>
              <a:t>— Pour les devs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103120"/>
            <a:ext cx="4937760" cy="329184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2103120"/>
            <a:ext cx="4937760" cy="82296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3774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62844"/>
                </a:solidFill>
                <a:latin typeface="Helvetica Neue"/>
              </a:rPr>
              <a:t>Cucumber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1752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A47"/>
                </a:solidFill>
                <a:latin typeface="Helvetica Neue"/>
              </a:rPr>
              <a:t>— Lisible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204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A47"/>
                </a:solidFill>
                <a:latin typeface="Helvetica Neue"/>
              </a:rPr>
              <a:t>— Bout en bout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2336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A47"/>
                </a:solidFill>
                <a:latin typeface="Helvetica Neue"/>
              </a:rPr>
              <a:t>— Fonctionnel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52628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A47"/>
                </a:solidFill>
                <a:latin typeface="Helvetica Neue"/>
              </a:rPr>
              <a:t>— Pour tout le monde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1">
                <a:solidFill>
                  <a:srgbClr val="8A6530"/>
                </a:solidFill>
                <a:latin typeface="Helvetica Neue"/>
              </a:rPr>
              <a:t>Spoiler : il n'y a pas de gagnant. Le seul qui gagne, c'est le code — testé sous deux angles.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12 /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91440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" y="91440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25296" y="91440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17904" y="91440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10512" y="91440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103120" y="91440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395728" y="91440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688336" y="91440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980944" y="91440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273552" y="91440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" y="120700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2688" y="120700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25296" y="120700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17904" y="120700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810512" y="120700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103120" y="120700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395728" y="120700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688336" y="120700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80944" y="120700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273552" y="120700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149961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32688" y="149961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225296" y="149961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517904" y="149961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810512" y="149961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103120" y="149961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395728" y="149961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688336" y="149961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80944" y="149961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273552" y="149961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995263" y="2286000"/>
            <a:ext cx="201168" cy="201168"/>
          </a:xfrm>
          <a:prstGeom prst="ellipse">
            <a:avLst/>
          </a:prstGeom>
          <a:solidFill>
            <a:srgbClr val="BF6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EFECE3"/>
                </a:solidFill>
                <a:latin typeface="Helvetica Neue"/>
              </a:rPr>
              <a:t>EN DIRECT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C79A52"/>
                </a:solidFill>
                <a:latin typeface="Helvetica Neue"/>
              </a:rPr>
              <a:t>(fermez Slack. ça va aller vite, mais pas invisible)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Helvetica Neue"/>
              </a:rPr>
              <a:t>13 / 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B93A1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F6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F4536"/>
                </a:solidFill>
                <a:latin typeface="Helvetica Neue"/>
              </a:rPr>
              <a:t>ZOOM — JACOCO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62844"/>
                </a:solidFill>
                <a:latin typeface="Helvetica Neue"/>
              </a:rPr>
              <a:t>Un agent qui espionne le bytecode (légalement)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594360" cy="59436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79A52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305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Au démarrage de la JVM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78024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A47"/>
                </a:solidFill>
                <a:latin typeface="Helvetica Neue"/>
              </a:rPr>
              <a:t>Un agent Java (-javaagent) s'attache et instrumente chaque classe chargée.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00400"/>
            <a:ext cx="594360" cy="59436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79A52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1821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Pendant les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529584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A47"/>
                </a:solidFill>
                <a:latin typeface="Helvetica Neue"/>
              </a:rPr>
              <a:t>Chaque ligne, chaque branche exécutée est comptée — en silence, sans ralentir grand-chose.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51960"/>
            <a:ext cx="594360" cy="59436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79A52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23367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À l'arrêt de la JVM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581144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A47"/>
                </a:solidFill>
                <a:latin typeface="Helvetica Neue"/>
              </a:rPr>
              <a:t>Tout est vidé dans un fichier .exec. Puis jacoco-maven-plugin le transforme en rapport HTML/XML/CSV.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1">
                <a:solidFill>
                  <a:srgbClr val="8F4536"/>
                </a:solidFill>
                <a:latin typeface="Helvetica Neue"/>
              </a:rPr>
              <a:t>Non, ce n'est pas de l'espionnage industriel. C'est juste un agent très curieux.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14 / 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F6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F4536"/>
                </a:solidFill>
                <a:latin typeface="Helvetica Neue"/>
              </a:rPr>
              <a:t>JACOCO — LE RAPPORT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62844"/>
                </a:solidFill>
                <a:latin typeface="Helvetica Neue"/>
              </a:rPr>
              <a:t>Pas une maquette. Le vrai rapport.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10607040" cy="1793652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jacoco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0515600" cy="1702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0233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5E6674"/>
                </a:solidFill>
                <a:latin typeface="Helvetica Neue"/>
              </a:rPr>
              <a:t>Capture d'écran réelle de target/jacoco-report/index.html sur ce projet, à l'instant 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15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F6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F4536"/>
                </a:solidFill>
                <a:latin typeface="Helvetica Neue"/>
              </a:rPr>
              <a:t>JACOCO — LA PREUVE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2844"/>
                </a:solidFill>
                <a:latin typeface="Helvetica Neue"/>
              </a:rPr>
              <a:t>La branche MENSUELLE, prise en flagrant délit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5648" y="1188720"/>
            <a:ext cx="8686800" cy="5135841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jacoco-recurrence-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1234440"/>
            <a:ext cx="8595360" cy="50444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16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F4536"/>
                </a:solidFill>
                <a:latin typeface="Helvetica Neue"/>
              </a:rPr>
              <a:t>JACOCO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62844"/>
                </a:solidFill>
                <a:latin typeface="Helvetica Neue"/>
              </a:rPr>
              <a:t>Ce que les tests ont vraiment touché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5E6674"/>
                </a:solidFill>
                <a:latin typeface="Helvetica Neue"/>
              </a:rPr>
              <a:t>Mesure réelle, extraite du build — couverture de lignes, JUnit contre Cucumber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292608" cy="164592"/>
          </a:xfrm>
          <a:prstGeom prst="rect">
            <a:avLst/>
          </a:prstGeom>
          <a:solidFill>
            <a:srgbClr val="8A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847087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2844"/>
                </a:solidFill>
                <a:latin typeface="Helvetica Neue"/>
              </a:rPr>
              <a:t>JUnit (unitaire)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74519"/>
            <a:ext cx="292608" cy="164592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184708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2844"/>
                </a:solidFill>
                <a:latin typeface="Helvetica Neue"/>
              </a:rPr>
              <a:t>Cucumber (intégration)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4144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2844"/>
                </a:solidFill>
                <a:latin typeface="Helvetica Neue"/>
              </a:rPr>
              <a:t>CalendarResource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331720"/>
            <a:ext cx="7315200" cy="201168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2331720"/>
            <a:ext cx="73152" cy="201168"/>
          </a:xfrm>
          <a:prstGeom prst="rect">
            <a:avLst/>
          </a:prstGeom>
          <a:solidFill>
            <a:srgbClr val="8A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0" y="23134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2844"/>
                </a:solidFill>
                <a:latin typeface="Helvetica Neue"/>
              </a:rPr>
              <a:t>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587752"/>
            <a:ext cx="7315200" cy="201168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3280" y="2587752"/>
            <a:ext cx="4242816" cy="201168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25694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2844"/>
                </a:solidFill>
                <a:latin typeface="Helvetica Neue"/>
              </a:rPr>
              <a:t>58%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6324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2844"/>
                </a:solidFill>
                <a:latin typeface="Helvetica Neue"/>
              </a:rPr>
              <a:t>HolidayService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953512"/>
            <a:ext cx="7315200" cy="201168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83280" y="2953512"/>
            <a:ext cx="73152" cy="201168"/>
          </a:xfrm>
          <a:prstGeom prst="rect">
            <a:avLst/>
          </a:prstGeom>
          <a:solidFill>
            <a:srgbClr val="8A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0" y="2935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2844"/>
                </a:solidFill>
                <a:latin typeface="Helvetica Neue"/>
              </a:rPr>
              <a:t>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209544"/>
            <a:ext cx="7315200" cy="201168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83280" y="3209544"/>
            <a:ext cx="6803136" cy="201168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319125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2844"/>
                </a:solidFill>
                <a:latin typeface="Helvetica Neue"/>
              </a:rPr>
              <a:t>93%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8503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2844"/>
                </a:solidFill>
                <a:latin typeface="Helvetica Neue"/>
              </a:rPr>
              <a:t>RecurrenceService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575304"/>
            <a:ext cx="7315200" cy="201168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83280" y="3575304"/>
            <a:ext cx="5705856" cy="201168"/>
          </a:xfrm>
          <a:prstGeom prst="rect">
            <a:avLst/>
          </a:prstGeom>
          <a:solidFill>
            <a:srgbClr val="8A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355701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2844"/>
                </a:solidFill>
                <a:latin typeface="Helvetica Neue"/>
              </a:rPr>
              <a:t>78%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831336"/>
            <a:ext cx="7315200" cy="201168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83280" y="3831336"/>
            <a:ext cx="292608" cy="201168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89920" y="38130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2844"/>
                </a:solidFill>
                <a:latin typeface="Helvetica Neue"/>
              </a:rPr>
              <a:t>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306824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2844"/>
                </a:solidFill>
                <a:latin typeface="Helvetica Neue"/>
              </a:rPr>
              <a:t>ConflictDetector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197096"/>
            <a:ext cx="7315200" cy="201168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83280" y="4197096"/>
            <a:ext cx="7315200" cy="201168"/>
          </a:xfrm>
          <a:prstGeom prst="rect">
            <a:avLst/>
          </a:prstGeom>
          <a:solidFill>
            <a:srgbClr val="8A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89920" y="417880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2844"/>
                </a:solidFill>
                <a:latin typeface="Helvetica Neue"/>
              </a:rP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4453128"/>
            <a:ext cx="7315200" cy="201168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383280" y="4453128"/>
            <a:ext cx="5486400" cy="201168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89920" y="44348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2844"/>
                </a:solidFill>
                <a:latin typeface="Helvetica Neue"/>
              </a:rPr>
              <a:t>75%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928616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2844"/>
                </a:solidFill>
                <a:latin typeface="Helvetica Neue"/>
              </a:rPr>
              <a:t>EventService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4818888"/>
            <a:ext cx="7315200" cy="201168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383280" y="4818888"/>
            <a:ext cx="6437376" cy="201168"/>
          </a:xfrm>
          <a:prstGeom prst="rect">
            <a:avLst/>
          </a:prstGeom>
          <a:solidFill>
            <a:srgbClr val="8A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89920" y="48006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2844"/>
                </a:solidFill>
                <a:latin typeface="Helvetica Neue"/>
              </a:rPr>
              <a:t>88%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5074920"/>
            <a:ext cx="7315200" cy="201168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383280" y="5074920"/>
            <a:ext cx="6437376" cy="201168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89920" y="50566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2844"/>
                </a:solidFill>
                <a:latin typeface="Helvetica Neue"/>
              </a:rPr>
              <a:t>88%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55040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2844"/>
                </a:solidFill>
                <a:latin typeface="Helvetica Neue"/>
              </a:rPr>
              <a:t>RecurrenceRequest (DTO)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5440680"/>
            <a:ext cx="7315200" cy="201168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383280" y="5440680"/>
            <a:ext cx="73152" cy="201168"/>
          </a:xfrm>
          <a:prstGeom prst="rect">
            <a:avLst/>
          </a:prstGeom>
          <a:solidFill>
            <a:srgbClr val="8A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0" y="5422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2844"/>
                </a:solidFill>
                <a:latin typeface="Helvetica Neue"/>
              </a:rPr>
              <a:t>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5696712"/>
            <a:ext cx="7315200" cy="201168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383280" y="5696712"/>
            <a:ext cx="73152" cy="201168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789920" y="56784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2844"/>
                </a:solidFill>
                <a:latin typeface="Helvetica Neue"/>
              </a:rPr>
              <a:t>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60533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5E6674"/>
                </a:solidFill>
                <a:latin typeface="Helvetica Neue"/>
              </a:rPr>
              <a:t>JUnit couvre la logique métier ; Cucumber couvre la couche REST — presque aucun recouvrement.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17 / 28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79A52"/>
                </a:solidFill>
                <a:latin typeface="Helvetica Neue"/>
              </a:rPr>
              <a:t>SANS OUVRIR DE NAVIGATEUR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FECE3"/>
                </a:solidFill>
                <a:latin typeface="Helvetica Neue"/>
              </a:rPr>
              <a:t>Le récap, direct dans le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167128" y="1645920"/>
            <a:ext cx="7863840" cy="4678430"/>
          </a:xfrm>
          <a:prstGeom prst="rect">
            <a:avLst/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rminal-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691640"/>
            <a:ext cx="7772400" cy="45869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Helvetica Neue"/>
              </a:rPr>
              <a:t>18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B93A1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6530"/>
                </a:solidFill>
                <a:latin typeface="Helvetica Neue"/>
              </a:rPr>
              <a:t>EN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62844"/>
                </a:solidFill>
                <a:latin typeface="Helvetica Neue"/>
              </a:rPr>
              <a:t>Trois commandes, un radar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685800" cy="105156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685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C79A52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84832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62844"/>
                </a:solidFill>
                <a:latin typeface="Menlo"/>
              </a:rPr>
              <a:t>./mvnw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542032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33A47"/>
                </a:solidFill>
                <a:latin typeface="Helvetica Neue"/>
              </a:rPr>
              <a:t>Build + JUnit + Cucumber + 3 rapports Jacoco générés automatiquement.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83280"/>
            <a:ext cx="685800" cy="105156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685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C79A52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456432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62844"/>
                </a:solidFill>
                <a:latin typeface="Menlo"/>
              </a:rPr>
              <a:t>./scripts/coverage-summary.sh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913632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33A47"/>
                </a:solidFill>
                <a:latin typeface="Helvetica Neue"/>
              </a:rPr>
              <a:t>Le récap coloré JUnit / Cucumber / global, côte à côte, dans le terminal.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754880"/>
            <a:ext cx="685800" cy="105156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685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C79A52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828032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62844"/>
                </a:solidFill>
                <a:latin typeface="Menlo"/>
              </a:rPr>
              <a:t>open target/jacoco-report/index.html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285232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33A47"/>
                </a:solidFill>
                <a:latin typeface="Helvetica Neue"/>
              </a:rPr>
              <a:t>Le détail ligne par ligne — et les variantes -junit / -cucumber pour comparer.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19 /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79A52"/>
                </a:solidFill>
                <a:latin typeface="Helvetica Neue"/>
              </a:rPr>
              <a:t>BONUS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FECE3"/>
                </a:solidFill>
                <a:latin typeface="Helvetica Neue"/>
              </a:rPr>
              <a:t>Et dans un vrai dashboard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36192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C8CFDA"/>
                </a:solidFill>
                <a:latin typeface="Helvetica Neue"/>
              </a:rPr>
              <a:t>Les deux mêmes rapports Jacoco XML, importés tels quels dans SonarQube.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3310128" cy="1554480"/>
          </a:xfrm>
          <a:prstGeom prst="rect">
            <a:avLst/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3310128" cy="64008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42032"/>
            <a:ext cx="33101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C79A52"/>
                </a:solidFill>
                <a:latin typeface="Helvetica Neue"/>
              </a:rPr>
              <a:t>77,7 %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BA3B1"/>
                </a:solidFill>
                <a:latin typeface="Helvetica Neue"/>
              </a:rPr>
              <a:t>couverture globale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86000"/>
            <a:ext cx="3310128" cy="1554480"/>
          </a:xfrm>
          <a:prstGeom prst="rect">
            <a:avLst/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310128" cy="64008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2542032"/>
            <a:ext cx="33101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C79A52"/>
                </a:solidFill>
                <a:latin typeface="Helvetica Neue"/>
              </a:rPr>
              <a:t>82 %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46120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BA3B1"/>
                </a:solidFill>
                <a:latin typeface="Helvetica Neue"/>
              </a:rPr>
              <a:t>lignes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2286000"/>
            <a:ext cx="3310128" cy="1554480"/>
          </a:xfrm>
          <a:prstGeom prst="rect">
            <a:avLst/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80" y="2286000"/>
            <a:ext cx="3310128" cy="64008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0" y="2542032"/>
            <a:ext cx="33101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C79A52"/>
                </a:solidFill>
                <a:latin typeface="Helvetica Neue"/>
              </a:rPr>
              <a:t>65 %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246120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BA3B1"/>
                </a:solidFill>
                <a:latin typeface="Helvetica Neue"/>
              </a:rPr>
              <a:t>branches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8B93A1"/>
                </a:solidFill>
                <a:latin typeface="Helvetica Neue"/>
              </a:rPr>
              <a:t>Mesure réelle, obtenue en lançant l'analyse sur ce projet — pas une maquette.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617720"/>
            <a:ext cx="10515600" cy="1051560"/>
          </a:xfrm>
          <a:prstGeom prst="rect">
            <a:avLst/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828032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E3E8F0"/>
                </a:solidFill>
                <a:latin typeface="Menlo"/>
              </a:rPr>
              <a:t>docker compose -f sonarqube/docker-compose.yml up -d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E3E8F0"/>
                </a:solidFill>
                <a:latin typeface="Menlo"/>
              </a:rPr>
              <a:t>./mvnw test sonar:sonar -Dsonar.token=&lt;ton_token&gt;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B93A1"/>
                </a:solidFill>
                <a:latin typeface="Helvetica Neue"/>
              </a:rPr>
              <a:t>SonarQube Community en local — aucun compte SonarCloud, aucune dépendance réseau pendant le talk.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Helvetica Neue"/>
              </a:rPr>
              <a:t>20 / 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B93A1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6530"/>
                </a:solidFill>
                <a:latin typeface="Helvetica Neue"/>
              </a:rPr>
              <a:t>SONARQUBE —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62844"/>
                </a:solidFill>
                <a:latin typeface="Helvetica Neue"/>
              </a:rPr>
              <a:t>Coverage 77,7 %, en vrai, dans l'interface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395728" y="1645920"/>
            <a:ext cx="7406640" cy="466344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onar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1691640"/>
            <a:ext cx="73152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21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6530"/>
                </a:solidFill>
                <a:latin typeface="Helvetica Neue"/>
              </a:rPr>
              <a:t>SONARQUBE — MESURES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62844"/>
                </a:solidFill>
                <a:latin typeface="Helvetica Neue"/>
              </a:rPr>
              <a:t>Le détail, fichier par fichier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395728" y="1645920"/>
            <a:ext cx="7406640" cy="466344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onar-coverage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1691640"/>
            <a:ext cx="73152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22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6530"/>
                </a:solidFill>
                <a:latin typeface="Helvetica Neue"/>
              </a:rPr>
              <a:t>SONARQUBE — LA PREUVE, ENCORE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2844"/>
                </a:solidFill>
                <a:latin typeface="Helvetica Neue"/>
              </a:rPr>
              <a:t>Même branche rouge, autre outil</a:t>
            </a:r>
          </a:p>
        </p:txBody>
      </p:sp>
      <p:sp>
        <p:nvSpPr>
          <p:cNvPr id="5" name="Rectangle 4"/>
          <p:cNvSpPr/>
          <p:nvPr/>
        </p:nvSpPr>
        <p:spPr>
          <a:xfrm>
            <a:off x="2121408" y="1188720"/>
            <a:ext cx="7955280" cy="5006340"/>
          </a:xfrm>
          <a:prstGeom prst="rect">
            <a:avLst/>
          </a:prstGeom>
          <a:solidFill>
            <a:srgbClr val="EA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onar-code-drill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1234440"/>
            <a:ext cx="7863840" cy="4914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23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F6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F4536"/>
                </a:solidFill>
                <a:latin typeface="Helvetica Neue"/>
              </a:rPr>
              <a:t>PETIT INTERLUDE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62844"/>
                </a:solidFill>
                <a:latin typeface="Helvetica Neue"/>
              </a:rPr>
              <a:t>Le best-of des excuses pour ne pas tester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F4536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62844"/>
                </a:solidFill>
                <a:latin typeface="Helvetica Neue"/>
              </a:rPr>
              <a:t>« Ça marche sur ma machine.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F4536"/>
                </a:solidFill>
                <a:latin typeface="Helvetica Neue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7432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62844"/>
                </a:solidFill>
                <a:latin typeface="Helvetica Neue"/>
              </a:rPr>
              <a:t>« On testera après le sprint. » (le sprint suivant aussi)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F4536"/>
                </a:solidFill>
                <a:latin typeface="Helvetica Neue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3375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62844"/>
                </a:solidFill>
                <a:latin typeface="Helvetica Neue"/>
              </a:rPr>
              <a:t>« C'est trop simple pour bugger.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F4536"/>
                </a:solidFill>
                <a:latin typeface="Helvetica Neue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31920"/>
            <a:ext cx="91440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 dirty="0">
                <a:solidFill>
                  <a:srgbClr val="162844"/>
                </a:solidFill>
                <a:latin typeface="Helvetica Neue"/>
              </a:rPr>
              <a:t>« </a:t>
            </a:r>
            <a:r>
              <a:rPr lang="fr-FR" sz="1700" b="0" i="0" dirty="0">
                <a:solidFill>
                  <a:srgbClr val="162844"/>
                </a:solidFill>
                <a:latin typeface="Helvetica Neue"/>
              </a:rPr>
              <a:t>Le test passe normalement</a:t>
            </a:r>
            <a:r>
              <a:rPr sz="1700" b="0" i="0" dirty="0">
                <a:solidFill>
                  <a:srgbClr val="162844"/>
                </a:solidFill>
                <a:latin typeface="Helvetica Neue"/>
              </a:rPr>
              <a:t>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F4536"/>
                </a:solidFill>
                <a:latin typeface="Helvetica Neue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262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62844"/>
                </a:solidFill>
                <a:latin typeface="Helvetica Neue"/>
              </a:rPr>
              <a:t>« 100 % de couverture, on n'a plus besoin de relire.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1">
                <a:solidFill>
                  <a:srgbClr val="8F4536"/>
                </a:solidFill>
                <a:latin typeface="Helvetica Neue"/>
              </a:rPr>
              <a:t>Spoiler : aucune de ces phrases n'a jamais empêché un incendie en prod.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24 / 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79A52"/>
                </a:solidFill>
                <a:latin typeface="Helvetica Neue"/>
              </a:rPr>
              <a:t>RETOUR D'EXPÉRIENCE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EFECE3"/>
                </a:solidFill>
                <a:latin typeface="Helvetica Neue"/>
              </a:rPr>
              <a:t>Deux pièges qu'on a vraiment eus en préparant cette conf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10515600" cy="1783080"/>
          </a:xfrm>
          <a:prstGeom prst="rect">
            <a:avLst/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82296" cy="1783080"/>
          </a:xfrm>
          <a:prstGeom prst="rect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167128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FECE3"/>
                </a:solidFill>
                <a:latin typeface="Helvetica Neue"/>
              </a:rPr>
              <a:t>Le QuarkusClassLoader fantôme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24328"/>
            <a:ext cx="9966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9BA3B1"/>
                </a:solidFill>
                <a:latin typeface="Helvetica Neue"/>
              </a:rPr>
              <a:t>Deux exécutions Surefire, deux agents Jacoco... et pourtant tout à 0 %. Coupable : l'extension quarkus-jacoco mesure le code CDI toute seule, dans son coin, sans prévenir personne.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10515600" cy="1783080"/>
          </a:xfrm>
          <a:prstGeom prst="rect">
            <a:avLst/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4023360"/>
            <a:ext cx="82296" cy="1783080"/>
          </a:xfrm>
          <a:prstGeom prst="rect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224528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FECE3"/>
                </a:solidFill>
                <a:latin typeface="Helvetica Neue"/>
              </a:rPr>
              <a:t>L'accent qui a cassé Gherkin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681728"/>
            <a:ext cx="9966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9BA3B1"/>
                </a:solidFill>
                <a:latin typeface="Helvetica Neue"/>
              </a:rPr>
              <a:t>« Fonctionnalite » sans accent ne veut RIEN dire pour un parseur Gherkin en français. Une lettre manquante, un stacktrace de 100 lignes.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C79A52"/>
                </a:solidFill>
                <a:latin typeface="Helvetica Neue"/>
              </a:rPr>
              <a:t>Bref : même en préparant une conf sur les tests, on s'est fait avoir. C'est le principe.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Helvetica Neue"/>
              </a:rPr>
              <a:t>25 / 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B93A1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79A52"/>
                </a:solidFill>
                <a:latin typeface="Helvetica Neue"/>
              </a:rPr>
              <a:t>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FECE3"/>
                </a:solidFill>
                <a:latin typeface="Helvetica Neue"/>
              </a:rPr>
              <a:t>Ce qu'il faut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97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C79A52"/>
                </a:solidFill>
                <a:latin typeface="Helvetica Neue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84248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FECE3"/>
                </a:solidFill>
                <a:latin typeface="Helvetica Neue"/>
              </a:rPr>
              <a:t>Un test vert ne dit pas ce qu'il a vérifié.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8B93A1"/>
                </a:solidFill>
                <a:latin typeface="Helvetica Neue"/>
              </a:rPr>
              <a:t>La couverture, 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97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C79A52"/>
                </a:solidFill>
                <a:latin typeface="Helvetica Neue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127248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FECE3"/>
                </a:solidFill>
                <a:latin typeface="Helvetica Neue"/>
              </a:rPr>
              <a:t>JUnit et Cucumber répondent à deux questions différentes.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61188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8B93A1"/>
                </a:solidFill>
                <a:latin typeface="Helvetica Neue"/>
              </a:rPr>
              <a:t>« Ça marche ? » contre « c'est le bon comportement ?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1097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C79A52"/>
                </a:solidFill>
                <a:latin typeface="Helvetica Neue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270248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FECE3"/>
                </a:solidFill>
                <a:latin typeface="Helvetica Neue"/>
              </a:rPr>
              <a:t>Le rapport de couverture n'est pas un objectif.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75488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8B93A1"/>
                </a:solidFill>
                <a:latin typeface="Helvetica Neue"/>
              </a:rPr>
              <a:t>C'est un radar : il montre où regarder en premier.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94960"/>
            <a:ext cx="1097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C79A52"/>
                </a:solidFill>
                <a:latin typeface="Helvetica Neue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413248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FECE3"/>
                </a:solidFill>
                <a:latin typeface="Helvetica Neue"/>
              </a:rPr>
              <a:t>Un outil ne remplace pas la question qu'on ne s'est pas posée.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89788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8B93A1"/>
                </a:solidFill>
                <a:latin typeface="Helvetica Neue"/>
              </a:rPr>
              <a:t>Ni Jacoco, ni Sonar, ni celui d'après.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Helvetica Neue"/>
              </a:rPr>
              <a:t>26 / 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B93A1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6530"/>
                </a:solidFill>
                <a:latin typeface="Helvetica Neue"/>
              </a:rPr>
              <a:t>POUR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62844"/>
                </a:solidFill>
                <a:latin typeface="Helvetica Neue"/>
              </a:rPr>
              <a:t>Si vous voulez creuser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267712"/>
            <a:ext cx="128016" cy="12801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Le dépôt de ce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42032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33A47"/>
                </a:solidFill>
                <a:latin typeface="Menlo"/>
              </a:rPr>
              <a:t>github.com/sidevconcept/couverture-junit-cucumber-jacoco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27832"/>
            <a:ext cx="128016" cy="128016"/>
          </a:xfrm>
          <a:prstGeom prst="ellipse">
            <a:avLst/>
          </a:prstGeom>
          <a:solidFill>
            <a:srgbClr val="5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Guide Quarkus + Jacoco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02152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33A47"/>
                </a:solidFill>
                <a:latin typeface="Menlo"/>
              </a:rPr>
              <a:t>quarkus.io/guides/tests-with-coverage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187952"/>
            <a:ext cx="128016" cy="128016"/>
          </a:xfrm>
          <a:prstGeom prst="ellipse">
            <a:avLst/>
          </a:prstGeom>
          <a:solidFill>
            <a:srgbClr val="839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411480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Extension Cucumber pour Quarkus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62272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33A47"/>
                </a:solidFill>
                <a:latin typeface="Menlo"/>
              </a:rPr>
              <a:t>docs.quarkiverse.io/quarkus-cucumber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148072"/>
            <a:ext cx="128016" cy="128016"/>
          </a:xfrm>
          <a:prstGeom prst="ellipse">
            <a:avLst/>
          </a:prstGeom>
          <a:solidFill>
            <a:srgbClr val="BF6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507492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62844"/>
                </a:solidFill>
                <a:latin typeface="Helvetica Neue"/>
              </a:rPr>
              <a:t>SonarQube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422392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33A47"/>
                </a:solidFill>
                <a:latin typeface="Menlo"/>
              </a:rPr>
              <a:t>docs.sonarsource.com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674"/>
                </a:solidFill>
                <a:latin typeface="Helvetica Neue"/>
              </a:rPr>
              <a:t>27 /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674"/>
                </a:solidFill>
                <a:latin typeface="Helvetica Neue"/>
              </a:rPr>
              <a:t>COUVERTURE DE CODE — QUARKUS · JUNIT · CUCUMBER · JACOCO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484632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" y="484632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25296" y="484632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17904" y="484632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10512" y="484632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103120" y="4846320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513892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2688" y="513892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25296" y="513892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517904" y="513892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10512" y="513892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103120" y="5138928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0080" y="543153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2688" y="543153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25296" y="543153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517904" y="543153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10512" y="543153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103120" y="5431536"/>
            <a:ext cx="82296" cy="82296"/>
          </a:xfrm>
          <a:prstGeom prst="ellipse">
            <a:avLst/>
          </a:prstGeom>
          <a:solidFill>
            <a:srgbClr val="C7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809802"/>
            <a:ext cx="7589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1" i="0" dirty="0">
                <a:solidFill>
                  <a:srgbClr val="EFECE3"/>
                </a:solidFill>
                <a:latin typeface="Helvetica Neue"/>
              </a:rPr>
              <a:t>Merci.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92537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 dirty="0">
                <a:solidFill>
                  <a:srgbClr val="C79A52"/>
                </a:solidFill>
                <a:latin typeface="Helvetica Neue"/>
              </a:rPr>
              <a:t>Questions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839" y="2837205"/>
            <a:ext cx="809021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2000" b="0" i="0" dirty="0">
                <a:solidFill>
                  <a:srgbClr val="8B93A1"/>
                </a:solidFill>
                <a:latin typeface="Helvetica Neue"/>
              </a:rPr>
              <a:t>https://</a:t>
            </a:r>
            <a:r>
              <a:rPr lang="fr-FR" sz="2000" b="0" i="0" dirty="0" err="1">
                <a:solidFill>
                  <a:srgbClr val="8B93A1"/>
                </a:solidFill>
                <a:latin typeface="Helvetica Neue"/>
              </a:rPr>
              <a:t>github.com</a:t>
            </a:r>
            <a:r>
              <a:rPr lang="fr-FR" sz="2000" b="0" i="0" dirty="0">
                <a:solidFill>
                  <a:srgbClr val="8B93A1"/>
                </a:solidFill>
                <a:latin typeface="Helvetica Neue"/>
              </a:rPr>
              <a:t>/</a:t>
            </a:r>
            <a:r>
              <a:rPr lang="fr-FR" sz="2000" b="0" i="0" dirty="0" err="1">
                <a:solidFill>
                  <a:srgbClr val="8B93A1"/>
                </a:solidFill>
                <a:latin typeface="Helvetica Neue"/>
              </a:rPr>
              <a:t>sidevconcept</a:t>
            </a:r>
            <a:r>
              <a:rPr lang="fr-FR" sz="2000" b="0" i="0" dirty="0">
                <a:solidFill>
                  <a:srgbClr val="8B93A1"/>
                </a:solidFill>
                <a:latin typeface="Helvetica Neue"/>
              </a:rPr>
              <a:t>/couverture-</a:t>
            </a:r>
            <a:r>
              <a:rPr lang="fr-FR" sz="2000" b="0" i="0" dirty="0" err="1">
                <a:solidFill>
                  <a:srgbClr val="8B93A1"/>
                </a:solidFill>
                <a:latin typeface="Helvetica Neue"/>
              </a:rPr>
              <a:t>junit</a:t>
            </a:r>
            <a:r>
              <a:rPr lang="fr-FR" sz="2000" b="0" i="0" dirty="0">
                <a:solidFill>
                  <a:srgbClr val="8B93A1"/>
                </a:solidFill>
                <a:latin typeface="Helvetica Neue"/>
              </a:rPr>
              <a:t>-</a:t>
            </a:r>
            <a:r>
              <a:rPr lang="fr-FR" sz="2000" b="0" i="0" dirty="0" err="1">
                <a:solidFill>
                  <a:srgbClr val="8B93A1"/>
                </a:solidFill>
                <a:latin typeface="Helvetica Neue"/>
              </a:rPr>
              <a:t>cucumber-jacoco</a:t>
            </a:r>
            <a:endParaRPr lang="fr-FR" sz="2000" dirty="0">
              <a:solidFill>
                <a:srgbClr val="8B93A1"/>
              </a:solidFill>
              <a:latin typeface="Helvetica Neue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fr-FR" sz="2000" b="0" i="0" dirty="0">
              <a:solidFill>
                <a:srgbClr val="8B93A1"/>
              </a:solidFill>
              <a:latin typeface="Helvetica Neue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fr-FR" sz="2000" dirty="0">
              <a:solidFill>
                <a:srgbClr val="8B93A1"/>
              </a:solidFill>
              <a:latin typeface="Helvetica Neue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2000" b="0" i="0" dirty="0">
                <a:solidFill>
                  <a:srgbClr val="8B93A1"/>
                </a:solidFill>
                <a:latin typeface="Helvetica Neue"/>
              </a:rPr>
              <a:t>sidev.concept06@gmail.com</a:t>
            </a:r>
            <a:endParaRPr sz="2000" b="0" i="0" dirty="0">
              <a:solidFill>
                <a:srgbClr val="8B93A1"/>
              </a:solidFill>
              <a:latin typeface="Helvetica Neue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52560" y="20116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79A52"/>
                </a:solidFill>
                <a:latin typeface="Helvetica Neue"/>
              </a:rPr>
              <a:t>Scanne-moi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2331720"/>
            <a:ext cx="2377440" cy="2377440"/>
          </a:xfrm>
          <a:prstGeom prst="rect">
            <a:avLst/>
          </a:prstGeom>
          <a:solidFill>
            <a:srgbClr val="F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qr-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37744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2091</Words>
  <Application>Microsoft Macintosh PowerPoint</Application>
  <PresentationFormat>Grand écran</PresentationFormat>
  <Paragraphs>329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Arial</vt:lpstr>
      <vt:lpstr>Calibri</vt:lpstr>
      <vt:lpstr>Helvetica Neue</vt:lpstr>
      <vt:lpstr>Menlo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Sidney Cohen</cp:lastModifiedBy>
  <cp:revision>2</cp:revision>
  <dcterms:created xsi:type="dcterms:W3CDTF">2013-01-27T09:14:16Z</dcterms:created>
  <dcterms:modified xsi:type="dcterms:W3CDTF">2026-09-14T13:15:06Z</dcterms:modified>
  <cp:category/>
</cp:coreProperties>
</file>