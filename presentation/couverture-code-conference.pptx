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85248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77856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70464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63072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0" y="54864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9264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85248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77856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70464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863072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0" y="84124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85248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277856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570464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63072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5680" y="113385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9264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85248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277856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570464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863072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55680" y="142646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85248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77856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70464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863072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55680" y="171907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2960" y="2331720"/>
            <a:ext cx="82296" cy="155448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1965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CONFÉRENCE TECHNIQUE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2377440"/>
            <a:ext cx="96012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La couverture de code,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600" b="1" i="0">
                <a:solidFill>
                  <a:srgbClr val="EFECE3"/>
                </a:solidFill>
                <a:latin typeface="Calibri"/>
              </a:rPr>
              <a:t>sans blabla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39776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C79A52"/>
                </a:solidFill>
                <a:latin typeface="Calibri"/>
              </a:rPr>
              <a:t>Quarkus  ·  JUnit  ·  Cucumber  ·  Jacoco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9893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Ton nom — Date de la conférence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62844"/>
                </a:solidFill>
                <a:latin typeface="Calibri"/>
              </a:rPr>
              <a:t>On a des tests. On n'a pas de visibilité.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10128" cy="82296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5C8C86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écrit des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JUnit, Cucumber : les suites tournent au vert à chaque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331720"/>
            <a:ext cx="3310128" cy="82296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On ne sait pas ce qu'ils couvrent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Quelles classes ? Quelles branches ? Personne ne regarde vraiment.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0" y="2331720"/>
            <a:ext cx="3310128" cy="324612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80" y="2331720"/>
            <a:ext cx="3310128" cy="82296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651760"/>
            <a:ext cx="276148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BF6F5D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337560"/>
            <a:ext cx="27614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i="0">
                <a:solidFill>
                  <a:srgbClr val="162844"/>
                </a:solidFill>
                <a:latin typeface="Calibri"/>
              </a:rPr>
              <a:t>Les angles morts restent invisibles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160520"/>
            <a:ext cx="276148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Jusqu'au bug en prod, dans le code qu'aucun test n'a jamais exécuté.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02 /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Quatre outils, quatre questions différentes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" cy="214884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JUnit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Tests unitaires ciblés, rapides, isolés.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87451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874519"/>
            <a:ext cx="82296" cy="214884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7568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Cucumber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5175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Scénarios Gherkin lisibles, exécutés via l'API REST.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251959"/>
            <a:ext cx="82296" cy="2148840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Quarkus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Le framework qui démarre l'appli et pilote les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4251959"/>
            <a:ext cx="5138928" cy="2148840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4251959"/>
            <a:ext cx="82296" cy="214884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453127"/>
            <a:ext cx="4590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62844"/>
                </a:solidFill>
                <a:latin typeface="Calibri"/>
              </a:rPr>
              <a:t>Jacoco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5029199"/>
            <a:ext cx="45902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333A47"/>
                </a:solidFill>
                <a:latin typeface="Calibri"/>
              </a:rPr>
              <a:t>L'instrument de mesure de la couverture, à chaque build.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03 /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C8CFDA"/>
                </a:solidFill>
                <a:latin typeface="Calibri"/>
              </a:rPr>
              <a:t>génère des récurrences, et glisse une citation du jour.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3840480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3840480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CalendarResource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83464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Couche REST — JSON in/out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324612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611880"/>
            <a:ext cx="2395728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EventService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création + recherche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6704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6704" y="3611880"/>
            <a:ext cx="2395728" cy="64008"/>
          </a:xfrm>
          <a:prstGeom prst="rect">
            <a:avLst/>
          </a:prstGeom>
          <a:solidFill>
            <a:srgbClr val="839B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RecurrenceService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47872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quotidien / hebdo / mensuel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70448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70448" y="3611880"/>
            <a:ext cx="2395728" cy="64008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71616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HolidayService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71616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jours fériés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3611880"/>
            <a:ext cx="2395728" cy="96012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3611880"/>
            <a:ext cx="2395728" cy="6400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3776472"/>
            <a:ext cx="20299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QuoteOfTheDayService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160520"/>
            <a:ext cx="20299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citation du jour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4572000"/>
            <a:ext cx="36576" cy="320040"/>
          </a:xfrm>
          <a:prstGeom prst="rect">
            <a:avLst/>
          </a:prstGeom>
          <a:solidFill>
            <a:srgbClr val="8B9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4892040"/>
            <a:ext cx="3840480" cy="822960"/>
          </a:xfrm>
          <a:prstGeom prst="rect">
            <a:avLst/>
          </a:prstGeom>
          <a:solidFill>
            <a:srgbClr val="183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892040"/>
            <a:ext cx="3840480" cy="6400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505663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FECE3"/>
                </a:solidFill>
                <a:latin typeface="Calibri"/>
              </a:rPr>
              <a:t>ConflictDetector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440680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Calibri"/>
              </a:rPr>
              <a:t>logique pure — aucune dépendance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93776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Aucune base de données : le sujet du jour, c'est la couverture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1">
                <a:solidFill>
                  <a:srgbClr val="8B93A1"/>
                </a:solidFill>
                <a:latin typeface="Calibri"/>
              </a:rPr>
              <a:t>de tests — pas la persistance.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04 /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Viser juste, vite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28803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48840"/>
            <a:ext cx="9966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50" b="0" i="0">
                <a:solidFill>
                  <a:srgbClr val="E3E8F0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séparation nette, réflexivité. Une classe pure, sans Quarkus, testée en quelques 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05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C8C86"/>
                </a:solidFill>
                <a:latin typeface="Calibri"/>
              </a:rPr>
              <a:t>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Le scénario que tout le monde comprend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0515600" cy="324612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103120"/>
            <a:ext cx="9966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Scénario: Refus d'un événement qui chevauche un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        événement existant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/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Étant donné que j'ai déjà l'événement "Comité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pilotage" de "14:00" à "15:00"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Quand je crée l'événement "Revue de code"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"14:30" à "15:30" le "2026-09-15"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Alors la création est refusée pour cause de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0" i="0">
                <a:solidFill>
                  <a:srgbClr val="E3E8F0"/>
                </a:solidFill>
                <a:latin typeface="Consolas"/>
              </a:rPr>
              <a:t>  conflit d'horaire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49240"/>
            <a:ext cx="9875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Ce même texte sert de spécification fonctionnelle et de test d'intégration,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333A47"/>
                </a:solidFill>
                <a:latin typeface="Calibri"/>
              </a:rPr>
              <a:t>exécuté en vrai contre l'API REST via RestAssured.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06 /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F6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F6F5D"/>
                </a:solidFill>
                <a:latin typeface="Calibri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62844"/>
                </a:solidFill>
                <a:latin typeface="Calibri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447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B93A1"/>
                </a:solidFill>
                <a:latin typeface="Calibri"/>
              </a:rPr>
              <a:t>Mesure réelle, extraite du build — couverture de lignes, JUnit contre Cucumber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292608" cy="164592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847087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JUnit (unitaire)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74519"/>
            <a:ext cx="292608" cy="164592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847087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62844"/>
                </a:solidFill>
                <a:latin typeface="Calibri"/>
              </a:rPr>
              <a:t>Cucumber (intégration)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4144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CalendarResource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3317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0" y="23134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258775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2587752"/>
            <a:ext cx="424281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0" y="256946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58%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HolidayService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29535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83280" y="2953512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0" y="293522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954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209544"/>
            <a:ext cx="680313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0" y="319125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93%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685032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3575304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83280" y="3575304"/>
            <a:ext cx="570585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355701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383133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83280" y="3831336"/>
            <a:ext cx="292608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0" y="38130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ConflictDetector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83280" y="4197096"/>
            <a:ext cx="7315200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789920" y="417880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0" y="445312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83280" y="4453128"/>
            <a:ext cx="5486400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0" y="4434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75%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928616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EventService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83280" y="4818888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4818888"/>
            <a:ext cx="6437376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0" y="48006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507492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83280" y="5074920"/>
            <a:ext cx="6437376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89920" y="5056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88%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550408"/>
            <a:ext cx="2423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62844"/>
                </a:solidFill>
                <a:latin typeface="Calibri"/>
              </a:rPr>
              <a:t>RecurrenceRequest (DTO)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5440680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5440680"/>
            <a:ext cx="73152" cy="201168"/>
          </a:xfrm>
          <a:prstGeom prst="rect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789920" y="542239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696712"/>
            <a:ext cx="7315200" cy="201168"/>
          </a:xfrm>
          <a:prstGeom prst="rect">
            <a:avLst/>
          </a:prstGeom>
          <a:solidFill>
            <a:srgbClr val="EA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696712"/>
            <a:ext cx="73152" cy="201168"/>
          </a:xfrm>
          <a:prstGeom prst="rect">
            <a:avLst/>
          </a:prstGeom>
          <a:solidFill>
            <a:srgbClr val="5C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789920" y="567842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162844"/>
                </a:solidFill>
                <a:latin typeface="Calibri"/>
              </a:rPr>
              <a:t>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605332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B93A1"/>
                </a:solidFill>
                <a:latin typeface="Calibri"/>
              </a:rPr>
              <a:t>JUnit couvre la logique métier ; Cucumber couvre la couche REST — presque aucun recouvrement.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07 / 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62844"/>
                </a:solidFill>
                <a:latin typeface="Calibri"/>
              </a:rPr>
              <a:t>Trois commandes, un radar complet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0848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42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Build + JUnit + Cucumber + 3 rapports Jacoco générés automatiquement.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4564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récap coloré JUnit / Cucumber / global, côte à côte, dans le terminal.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solidFill>
            <a:srgbClr val="0B1D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6858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C79A52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8280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62844"/>
                </a:solidFill>
                <a:latin typeface="Consolas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2852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333A47"/>
                </a:solidFill>
                <a:latin typeface="Calibri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Calibri"/>
              </a:rPr>
              <a:t>08 /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8B93A1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79A52"/>
                </a:solidFill>
                <a:latin typeface="Calibri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EFECE3"/>
                </a:solidFill>
                <a:latin typeface="Calibri"/>
              </a:rPr>
              <a:t>Ce qu'il faut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4884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Un test vert ne dit pas ce qu'il a vérifié.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La couverture, si.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47472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JUnit et Cucumber répondent à deux questions différentes.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95935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« Ça marche ? » contre « c'est le bon comportement ?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54880"/>
            <a:ext cx="1097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C79A52"/>
                </a:solidFill>
                <a:latin typeface="Calibri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4800600"/>
            <a:ext cx="8961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EFECE3"/>
                </a:solidFill>
                <a:latin typeface="Calibri"/>
              </a:rPr>
              <a:t>Le rapport de couverture n'est pas un objectif.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285232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B93A1"/>
                </a:solidFill>
                <a:latin typeface="Calibri"/>
              </a:rPr>
              <a:t>C'est un radar : il montre où regarder en premier.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E7A8E"/>
                </a:solidFill>
                <a:latin typeface="Calibri"/>
              </a:rPr>
              <a:t>09 /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6E7A8E"/>
                </a:solidFill>
                <a:latin typeface="Calibri"/>
              </a:rPr>
              <a:t>COUVERTURE DE CODE — QUARKUS · JUNIT · CUCUMBER · JACOCO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2688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25296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517904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810512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03120" y="5724144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225296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17904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10512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103120" y="6016752"/>
            <a:ext cx="82296" cy="82296"/>
          </a:xfrm>
          <a:prstGeom prst="ellipse">
            <a:avLst/>
          </a:prstGeom>
          <a:solidFill>
            <a:srgbClr val="C79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237744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200" b="1" i="0">
                <a:solidFill>
                  <a:srgbClr val="EFECE3"/>
                </a:solidFill>
                <a:latin typeface="Calibri"/>
              </a:rPr>
              <a:t>Merci.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342900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C79A52"/>
                </a:solidFill>
                <a:latin typeface="Calibri"/>
              </a:rPr>
              <a:t>Questions 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9893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B93A1"/>
                </a:solidFill>
                <a:latin typeface="Calibri"/>
              </a:rPr>
              <a:t>github.com/&lt;ton-repo&gt;  —  &lt;ton-email&gt;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