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  <p:sldId id="266" r:id="rId12"/>
    <p:sldId id="267" r:id="rId13"/>
    <p:sldId id="285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9" r:id="rId25"/>
    <p:sldId id="280" r:id="rId26"/>
    <p:sldId id="282" r:id="rId27"/>
    <p:sldId id="283" r:id="rId28"/>
    <p:sldId id="284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2"/>
  </p:normalViewPr>
  <p:slideViewPr>
    <p:cSldViewPr snapToGrid="0" snapToObjects="1">
      <p:cViewPr varScale="1">
        <p:scale>
          <a:sx n="114" d="100"/>
          <a:sy n="114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8778240" y="-1097280"/>
            <a:ext cx="5669280" cy="9144000"/>
          </a:xfrm>
          <a:prstGeom prst="parallelogram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46920" y="50292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39528" y="50292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32136" y="50292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24744" y="50292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817352" y="50292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46920" y="795528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939528" y="795528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32136" y="795528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24744" y="795528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17352" y="795528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46920" y="1088136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939528" y="1088136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32136" y="1088136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524744" y="1088136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817352" y="1088136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46920" y="1380744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39528" y="1380744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232136" y="1380744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524744" y="1380744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817352" y="1380744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46920" y="1673352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939528" y="1673352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232136" y="1673352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524744" y="1673352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17352" y="1673352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646920" y="196596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939528" y="196596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232136" y="196596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524744" y="196596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817352" y="196596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2057400"/>
            <a:ext cx="91440" cy="1874519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166420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CONFÉRENCE TECHNIQUE (OU THÉRAPIE DE GROUPE)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2148840"/>
            <a:ext cx="9601200" cy="1429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dirty="0">
                <a:solidFill>
                  <a:srgbClr val="F3EEE0"/>
                </a:solidFill>
                <a:latin typeface="Helvetica Neue"/>
              </a:rPr>
              <a:t>La couverture de code,
</a:t>
            </a:r>
            <a:r>
              <a:rPr lang="fr-FR" sz="4600" b="1" dirty="0">
                <a:solidFill>
                  <a:srgbClr val="FFD23F"/>
                </a:solidFill>
                <a:latin typeface="Helvetica Neue"/>
              </a:rPr>
              <a:t>n’est jamais à 100%</a:t>
            </a:r>
            <a:endParaRPr sz="4600" b="1" dirty="0">
              <a:solidFill>
                <a:srgbClr val="FFD23F"/>
              </a:solidFill>
              <a:latin typeface="Helvetica Neue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43000" y="388620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F0A72E"/>
                </a:solidFill>
                <a:latin typeface="Helvetica Neue"/>
              </a:rPr>
              <a:t>Quarkus  ·  JUnit  ·  Cucumber  ·  Jacoco  ·  (un peu de Sonar en bonus)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9CEDC"/>
                </a:solidFill>
                <a:latin typeface="Helvetica Neue"/>
              </a:rPr>
              <a:t>Où l'on découvre que « 100 % de couverture » ne veut pas dire « 0 bug 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A1B5"/>
                </a:solidFill>
                <a:latin typeface="Helvetica Neue"/>
              </a:rPr>
              <a:t>Sidney Cohen — 13 octobre 2026</a:t>
            </a:r>
          </a:p>
        </p:txBody>
      </p:sp>
      <p:sp>
        <p:nvSpPr>
          <p:cNvPr id="39" name="Oval 38"/>
          <p:cNvSpPr/>
          <p:nvPr/>
        </p:nvSpPr>
        <p:spPr>
          <a:xfrm>
            <a:off x="9610344" y="4626864"/>
            <a:ext cx="1554480" cy="15544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21000000">
            <a:off x="9555480" y="4572000"/>
            <a:ext cx="1554480" cy="15544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100%
authentique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Qui suis-je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A5A10"/>
                </a:solidFill>
                <a:latin typeface="Helvetica Neue"/>
              </a:rPr>
              <a:t>Sidney Cohen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Développeur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10 ans de Java, 21 ans de dev au total — assez pour avoir déjà tout cassé au moins une fois. Deux, si on compte la prod.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395728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Écrit des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Forcé d'écrire des tests sous la contrainte : pas de tests, pas de PR validée. Ma phrase préférée reste « c'est bon, les tests sont tous verts » — vous allez vite comprendre pourquoi elle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2395728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74736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Ici pour une raison précise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Honnêtement ? C'était soit ça, soit vous refaire une présentation sur l'IA. Vous l'avez échappé belle.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1920240"/>
            <a:ext cx="1828800" cy="566928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confidentiel</a:t>
            </a:r>
          </a:p>
        </p:txBody>
      </p:sp>
      <p:sp>
        <p:nvSpPr>
          <p:cNvPr id="22" name="Isosceles Triangle 21"/>
          <p:cNvSpPr/>
          <p:nvPr/>
        </p:nvSpPr>
        <p:spPr>
          <a:xfrm rot="10800000">
            <a:off x="6922008" y="2468880"/>
            <a:ext cx="256032" cy="256032"/>
          </a:xfrm>
          <a:prstGeom prst="triangl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21040" y="1920240"/>
            <a:ext cx="38404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0" b="1" i="0">
                <a:solidFill>
                  <a:srgbClr val="171F33"/>
                </a:solidFill>
                <a:latin typeface="Helvetica Neue"/>
              </a:rPr>
              <a:t>?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SONDAGE (SANS JUGEMENT)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3EEE0"/>
                </a:solidFill>
                <a:latin typeface="Helvetica Neue"/>
              </a:rPr>
              <a:t>Levez la main si...</a:t>
            </a:r>
          </a:p>
        </p:txBody>
      </p:sp>
      <p:sp>
        <p:nvSpPr>
          <p:cNvPr id="5" name="Oval 4"/>
          <p:cNvSpPr/>
          <p:nvPr/>
        </p:nvSpPr>
        <p:spPr>
          <a:xfrm>
            <a:off x="918972" y="219913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64108" y="214426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écrit un test juste pour faire plaisir à la CI.</a:t>
            </a:r>
          </a:p>
        </p:txBody>
      </p:sp>
      <p:sp>
        <p:nvSpPr>
          <p:cNvPr id="8" name="Oval 7"/>
          <p:cNvSpPr/>
          <p:nvPr/>
        </p:nvSpPr>
        <p:spPr>
          <a:xfrm>
            <a:off x="918972" y="320497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 rot="21240000">
            <a:off x="864108" y="315010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0040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vu 100 % de couverture sur un fichier plein de bugs.</a:t>
            </a:r>
          </a:p>
        </p:txBody>
      </p:sp>
      <p:sp>
        <p:nvSpPr>
          <p:cNvPr id="11" name="Oval 10"/>
          <p:cNvSpPr/>
          <p:nvPr/>
        </p:nvSpPr>
        <p:spPr>
          <a:xfrm>
            <a:off x="918972" y="421081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 rot="21240000">
            <a:off x="864108" y="415594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0624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ne savez pas, là, maintenant, ce que couvrent VOS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420624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Pas de jugement. Enfin... un peu.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143000" y="52486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03/29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Une heure, quatre outils, zéro slide inutile (promis)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3113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Pourquoi une suite de tests toute verte ne prouve absolument rien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52928"/>
            <a:ext cx="54864" cy="4572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8A5A10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La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089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JUnit, Cucumber, Quarkus, Jacoco — qui fait quoi (et qui ne fait pas le café)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74720"/>
            <a:ext cx="54864" cy="4572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456432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B6E62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38144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Démo : le projet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30752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Un agenda malin, ses tests, ses angles morts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96512"/>
            <a:ext cx="54864" cy="4572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078224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546E22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59936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rapport qui ne ment 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52544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Jacoco en direct, JUnit contre Cucumber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18304"/>
            <a:ext cx="54864" cy="4572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4700016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2409C"/>
                </a:solidFill>
                <a:latin typeface="Helvetica Neue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681728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Bonus : SonarQube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974336"/>
            <a:ext cx="78638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rapport, dans un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4009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0352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Ce qu'on retient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59612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Et deux pièges qu'on a vraiment pris en pleine figure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04/29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81D2B"/>
                </a:solidFill>
                <a:latin typeface="Helvetica Neue"/>
              </a:rPr>
              <a:t>On a des tests. On n'a toujours aucune idée de ce qu'ils font.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B6E62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écrit des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JUnit, Cucumber : les suites tournent au vert à chaque build. On est très fiers. À raison, d'ailleurs.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 rot="21480000">
            <a:off x="4352544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468880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8A5A10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ne sait pas ce qu'ils couvrent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Quelles classes ? Quelles branches ? Une CI verte suffit largement à calmer tout le monde.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 rot="120000">
            <a:off x="7882128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82128" y="2468880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74736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A83322"/>
                </a:solidFill>
                <a:latin typeface="Helvetica Neu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Les angles morts restent invisibles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Jusqu'au bug en prod, dans le code qu'aucun test n'a jamais exécuté. Généralement un vendredi. Toujours un vendredi.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Quatre outils, quatre questions différentes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91440" cy="2084831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15568" y="2148840"/>
            <a:ext cx="1415948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JUnit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Tests unitaires ciblés, rapides — le genre d'ami qui vous dit direct que votre code est nul, sans détour.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99632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965960"/>
            <a:ext cx="91440" cy="2084831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92240" y="2148840"/>
            <a:ext cx="1576425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Cucumber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Scénarios Gherkin lisibles — le seul test que votre chef de projet pourra théoriquement relire.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4270247"/>
            <a:ext cx="91440" cy="2084831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15568" y="4453127"/>
            <a:ext cx="1415948" cy="310896"/>
          </a:xfrm>
          <a:prstGeom prst="round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Quarkus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framework qui démarre l'appli et pilote les tests — le collègue qui organise tout sans qu'on lui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99632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270247"/>
            <a:ext cx="91440" cy="2084831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92240" y="4453127"/>
            <a:ext cx="1255471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L'instrument de mesure — celui qui ne ment jamais, contrairement à votre estimation à l'oral.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06/29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génère des récurrences, et glisse une citation du jour — parce qu'une démo a le droit d'être un peu sympa.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414016"/>
            <a:ext cx="3794760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794760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794760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Couche REST — JSON in/out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329184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5256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3703320"/>
            <a:ext cx="23591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EventService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création + recherche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2424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10128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2359152" cy="73152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1296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quotidien / hebdo / mensuel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79592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97296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97296" y="3703320"/>
            <a:ext cx="2359152" cy="73152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98464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HolidayService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jours fériés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84464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84464" y="3703320"/>
            <a:ext cx="23591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QuoteOfTheDayService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citation du jour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461772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05256" y="5020056"/>
            <a:ext cx="3794760" cy="77724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2960" y="4937760"/>
            <a:ext cx="3794760" cy="77724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960" y="4937760"/>
            <a:ext cx="3794760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4128" y="510235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ConflictDetector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46811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logique pure — aucune dépendance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709160"/>
            <a:ext cx="5394960" cy="10515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C111F"/>
                </a:solidFill>
                <a:latin typeface="Helvetica Neue"/>
              </a:rPr>
              <a:t>Aucune base de données : le sujet du jour, c'est la couverture de
tests — pas Hibernate. On se recentre.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6263640" y="447141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07/29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BONUS THÉORIE (VITE FAIT)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81D2B"/>
                </a:solidFill>
                <a:latin typeface="Helvetica Neue"/>
              </a:rPr>
              <a:t>SOLID est au clean code ce que </a:t>
            </a:r>
            <a:r>
              <a:rPr sz="2600" b="1">
                <a:solidFill>
                  <a:srgbClr val="F0A72E"/>
                </a:solidFill>
                <a:latin typeface="Helvetica Neue"/>
              </a:rPr>
              <a:t>FIRST</a:t>
            </a:r>
            <a:r>
              <a:rPr sz="2600" b="1">
                <a:solidFill>
                  <a:srgbClr val="181D2B"/>
                </a:solidFill>
                <a:latin typeface="Helvetica Neue"/>
              </a:rPr>
              <a:t> est au test unitaire.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938528" cy="82296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8A5A10"/>
                </a:solidFill>
                <a:latin typeface="Helvetica Neue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Rapide — sinon on arrête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de les lancer.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62656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62656" y="2514600"/>
            <a:ext cx="1938528" cy="82296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27248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B6E62"/>
                </a:solidFill>
                <a:latin typeface="Helvetica Neue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Isolated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Indépendant de tout autre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test, de tout ordre.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8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102352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02352" y="2514600"/>
            <a:ext cx="1938528" cy="82296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66944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546E22"/>
                </a:solidFill>
                <a:latin typeface="Helvetica Neue"/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Repeatable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Même résultat : votre machine,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la CI, 3h du matin.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242048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42048" y="2514600"/>
            <a:ext cx="1938528" cy="82296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06640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A83322"/>
                </a:solidFill>
                <a:latin typeface="Helvetica Neue"/>
              </a:rPr>
              <a:t>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Self-Validating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Il dit lui-même s'il passe.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Pas de log à relire.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381744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381744" y="2514600"/>
            <a:ext cx="1938528" cy="82296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46336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2409C"/>
                </a:solidFill>
                <a:latin typeface="Helvetica Neue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6336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Timely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Écrit avec le code — pas trois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sprints après (jamais).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49240"/>
            <a:ext cx="10515600" cy="7772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C111F"/>
                </a:solidFill>
                <a:latin typeface="Helvetica Neue"/>
              </a:rPr>
              <a:t>SOLID vous dit comment ranger le code pour qu'il reste maintenable. FIRST vous dit comment ranger les tests pour qu'on continue à leur faire confiance.</a:t>
            </a:r>
          </a:p>
        </p:txBody>
      </p:sp>
      <p:sp>
        <p:nvSpPr>
          <p:cNvPr id="36" name="Isosceles Triangle 35"/>
          <p:cNvSpPr/>
          <p:nvPr/>
        </p:nvSpPr>
        <p:spPr>
          <a:xfrm>
            <a:off x="1143000" y="51114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C6272"/>
                </a:solidFill>
                <a:latin typeface="Helvetica Neue"/>
              </a:rPr>
              <a:t>Pour mémoire : SOLID = Single responsibility · Open/closed · Liskov substitution · Interface segregation · Dependency inversion.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08/29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lang="fr-FR" sz="3200" b="1" i="0" dirty="0">
                <a:solidFill>
                  <a:srgbClr val="181D2B"/>
                </a:solidFill>
                <a:latin typeface="Helvetica Neue"/>
              </a:rPr>
              <a:t>zoom</a:t>
            </a:r>
            <a:endParaRPr sz="3200" b="1" i="0" dirty="0">
              <a:solidFill>
                <a:srgbClr val="181D2B"/>
              </a:solidFill>
              <a:latin typeface="Helvetica Neue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toute l'application. C'est rapide, précis, et ça ne pardonne rien.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Des milliers de tests en quelques secondes. Votre café, lui, met plus longtemps.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Isolé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 de serveur, pas de réseau, pas de surprise. Le rêve,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Technique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Pensé par et pour les développeurs. Personne d'autre ne relira jamais un assertEquals.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ConflictDetector, RecurrenceService — de la logique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pure, testée sans jamais démarrer Quarkus.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09/29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81D2B"/>
                </a:solidFill>
                <a:latin typeface="Helvetica Neue"/>
              </a:rPr>
              <a:t>Viser juste, vite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74320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500" b="0" i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9875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séparation nette, et réflexivité (oui, on vérifie qu'un événement n'est pas en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conflit avec lui-même — sinon, c'est un problème existentiel, pas un bug).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10/29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lisible. Le même texte sert de spec fonctionnelle ET de test automatisé.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Même un product owner peut le relire (et le corriger). Sensation forte garantie.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Bout en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Passe par la vraie API REST, pas un mock. Comme un vrai client, en moins énervé.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Décrit ce que fait le produit, pas comment. Ça change des tickets Jira écrits un vendredi soir.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le signalement d'un jour férié — trois scénarios, en français.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11/29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scénario que tout le monde comprend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9937" y="2133226"/>
            <a:ext cx="11091672" cy="2115385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01105" y="2261241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0561" y="2261241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40017" y="2261241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9976" y="2608713"/>
            <a:ext cx="10532327" cy="13227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E7ECF5"/>
                </a:solidFill>
                <a:latin typeface="Menlo"/>
              </a:rPr>
              <a:t>Scénario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: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d'un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qui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chevauche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un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existant</a:t>
            </a: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Étant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donné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que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j'ai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déjà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Comité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depilotage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 de "14:00" à "15:00"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Quand je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"Revue de code"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"14:30" à "15:30"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Alors la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création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est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pour cause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conflit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d'horaire</a:t>
            </a:r>
            <a:endParaRPr sz="1400" b="0" i="0" dirty="0">
              <a:solidFill>
                <a:srgbClr val="E7ECF5"/>
              </a:solidFill>
              <a:latin typeface="Menl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1"/>
            <a:ext cx="9875520" cy="7799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181D2B"/>
                </a:solidFill>
                <a:latin typeface="Helvetica Neue"/>
              </a:rPr>
              <a:t>Vous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remarquerez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le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scénario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test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sait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qu'un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comité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pilotage</a:t>
            </a:r>
            <a:r>
              <a:rPr lang="fr-FR"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prend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toute la place dans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l'agenda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.</a:t>
            </a:r>
            <a:endParaRPr lang="fr-FR" sz="1400" b="0" i="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Ça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,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c'est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du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réalisme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12/29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Le Gherkin, démasqué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695" y="1638116"/>
            <a:ext cx="10195560" cy="42062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280605" y="1766132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500061" y="1766132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19517" y="1766132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43720" y="2358928"/>
            <a:ext cx="8647771" cy="29072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public class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EventStepDefinitions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{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@Given("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j'ai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déjà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{string} de {string} à {string} le {string}")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public void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jai_deja_levenement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(String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titre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, String debut, String fin, String date) {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   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creerEvenement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titre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, debut, fin, date);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}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@When("je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crée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{string} de {string} à {string} le {string}")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public void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je_cree_levenement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(String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titre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, String debut, String fin, String date) {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   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creerEvenement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titre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, debut, fin, date);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}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@Then("la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création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est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refusée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pour cause de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conflit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d'horaire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")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public void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la_creation_est_refusee_pour_conflit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() {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   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assertThat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lastResponse.statusCode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(),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equalTo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(409));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}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//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creerEvenement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()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construit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le JSON et POST /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api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/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calendrier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/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evenements</a:t>
            </a:r>
            <a:endParaRPr sz="115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63760"/>
            <a:ext cx="9759547" cy="474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181D2B"/>
                </a:solidFill>
                <a:latin typeface="Helvetica Neue"/>
              </a:rPr>
              <a:t>@Given / @When / @Then :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une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expression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régulière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relie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chaque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phrase à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sa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méthode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.</a:t>
            </a:r>
          </a:p>
          <a:p>
            <a:pPr algn="l">
              <a:lnSpc>
                <a:spcPct val="125000"/>
              </a:lnSpc>
            </a:pP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fichier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pour les trois :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EventStepDefinitions.java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13/29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CLASH (AMICAL)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JUnit vs Cucumber : qui gagne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 rot="21510000">
            <a:off x="82296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4892040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JUnit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Isolé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Technique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les devs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90000">
            <a:off x="598932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2194560"/>
            <a:ext cx="4892040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Cucumber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Lisible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Bout en bout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tout le monde</a:t>
            </a:r>
          </a:p>
        </p:txBody>
      </p:sp>
      <p:sp>
        <p:nvSpPr>
          <p:cNvPr id="22" name="Oval 21"/>
          <p:cNvSpPr/>
          <p:nvPr/>
        </p:nvSpPr>
        <p:spPr>
          <a:xfrm rot="21120000">
            <a:off x="5252870" y="1762162"/>
            <a:ext cx="1068669" cy="1037731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dirty="0">
                <a:solidFill>
                  <a:srgbClr val="FFD23F"/>
                </a:solidFill>
                <a:latin typeface="Helvetica Neue"/>
              </a:rPr>
              <a:t>MATCH
NUL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6928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C111F"/>
                </a:solidFill>
                <a:latin typeface="Helvetica Neue"/>
              </a:rPr>
              <a:t>Spoiler : il n'y a pas de gagnant. Le seul qui gagne, c'est le code — testé sous deux angles.</a:t>
            </a:r>
          </a:p>
        </p:txBody>
      </p:sp>
      <p:sp>
        <p:nvSpPr>
          <p:cNvPr id="24" name="Isosceles Triangle 23"/>
          <p:cNvSpPr/>
          <p:nvPr/>
        </p:nvSpPr>
        <p:spPr>
          <a:xfrm>
            <a:off x="1143000" y="543153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14/29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916168" y="2286000"/>
            <a:ext cx="365760" cy="3657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2788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F3EEE0"/>
                </a:solidFill>
                <a:latin typeface="Helvetica Neue"/>
              </a:rPr>
              <a:t>EN DIRECT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3977639"/>
            <a:ext cx="685800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 dirty="0">
                <a:solidFill>
                  <a:srgbClr val="0C111F"/>
                </a:solidFill>
                <a:latin typeface="Helvetica Neue"/>
              </a:rPr>
              <a:t>on </a:t>
            </a:r>
            <a:r>
              <a:rPr sz="1350" b="1" i="1" dirty="0" err="1">
                <a:solidFill>
                  <a:srgbClr val="0C111F"/>
                </a:solidFill>
                <a:latin typeface="Helvetica Neue"/>
              </a:rPr>
              <a:t>arrête</a:t>
            </a:r>
            <a:r>
              <a:rPr sz="1350" b="1" i="1" dirty="0">
                <a:solidFill>
                  <a:srgbClr val="0C111F"/>
                </a:solidFill>
                <a:latin typeface="Helvetica Neue"/>
              </a:rPr>
              <a:t> PowerPoint. direction le terminal, pour de </a:t>
            </a:r>
            <a:r>
              <a:rPr sz="1350" b="1" i="1" dirty="0" err="1">
                <a:solidFill>
                  <a:srgbClr val="0C111F"/>
                </a:solidFill>
                <a:latin typeface="Helvetica Neue"/>
              </a:rPr>
              <a:t>vrai</a:t>
            </a:r>
            <a:endParaRPr sz="1350" b="1" i="1" dirty="0">
              <a:solidFill>
                <a:srgbClr val="0C111F"/>
              </a:solidFill>
              <a:latin typeface="Helvetica Neue"/>
            </a:endParaRPr>
          </a:p>
        </p:txBody>
      </p:sp>
      <p:sp>
        <p:nvSpPr>
          <p:cNvPr id="35" name="Isosceles Triangle 34"/>
          <p:cNvSpPr/>
          <p:nvPr/>
        </p:nvSpPr>
        <p:spPr>
          <a:xfrm>
            <a:off x="2971800" y="3739895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15/29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81D2B"/>
                </a:solidFill>
                <a:latin typeface="Helvetica Neue"/>
              </a:rPr>
              <a:t>Un agent qui espionne le bytecode (légalement)</a:t>
            </a:r>
          </a:p>
        </p:txBody>
      </p:sp>
      <p:sp>
        <p:nvSpPr>
          <p:cNvPr id="5" name="Oval 4"/>
          <p:cNvSpPr/>
          <p:nvPr/>
        </p:nvSpPr>
        <p:spPr>
          <a:xfrm>
            <a:off x="873252" y="224485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18388" y="218998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4203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Un agent Java (-javaagent) s'attache et instrumente chaque classe chargée.</a:t>
            </a:r>
          </a:p>
        </p:txBody>
      </p:sp>
      <p:sp>
        <p:nvSpPr>
          <p:cNvPr id="9" name="Oval 8"/>
          <p:cNvSpPr/>
          <p:nvPr/>
        </p:nvSpPr>
        <p:spPr>
          <a:xfrm>
            <a:off x="873252" y="329641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818388" y="324154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461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9359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Chaque ligne, chaque branche exécutée est comptée — en silence, sans ralentir grand-chose. Un espion discret.</a:t>
            </a:r>
          </a:p>
        </p:txBody>
      </p:sp>
      <p:sp>
        <p:nvSpPr>
          <p:cNvPr id="13" name="Oval 12"/>
          <p:cNvSpPr/>
          <p:nvPr/>
        </p:nvSpPr>
        <p:spPr>
          <a:xfrm>
            <a:off x="873252" y="434797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818388" y="429310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976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4515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Non, ce n'est pas de l'espionnage industriel. C'est juste un agent très curieux, payé en aucune façon.</a:t>
            </a:r>
          </a:p>
        </p:txBody>
      </p:sp>
      <p:sp>
        <p:nvSpPr>
          <p:cNvPr id="18" name="Isosceles Triangle 17"/>
          <p:cNvSpPr/>
          <p:nvPr/>
        </p:nvSpPr>
        <p:spPr>
          <a:xfrm>
            <a:off x="1143000" y="529437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16/29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 dirty="0">
                <a:solidFill>
                  <a:srgbClr val="181D2B"/>
                </a:solidFill>
                <a:latin typeface="Helvetica Neue"/>
              </a:rPr>
              <a:t>Pas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une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maquette</a:t>
            </a:r>
            <a:r>
              <a:rPr lang="fr-FR" sz="2600" b="1" i="0" dirty="0">
                <a:solidFill>
                  <a:srgbClr val="181D2B"/>
                </a:solidFill>
                <a:latin typeface="Helvetica Neue"/>
              </a:rPr>
              <a:t>..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. Le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rapport.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029967"/>
            <a:ext cx="1051560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7552" y="1979675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88720" y="1979675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89888" y="1979675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85415"/>
            <a:ext cx="10515600" cy="170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85415"/>
            <a:ext cx="10515600" cy="170221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Vrai export HTML, généré il y a quelques heures, par la commande qu'on vient de lancer. Pas d'entourloupe.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17/29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La branche MENSUELLE, prise en flagrant délit</a:t>
            </a:r>
          </a:p>
        </p:txBody>
      </p:sp>
      <p:sp>
        <p:nvSpPr>
          <p:cNvPr id="5" name="Oval 4"/>
          <p:cNvSpPr/>
          <p:nvPr/>
        </p:nvSpPr>
        <p:spPr>
          <a:xfrm>
            <a:off x="9907524" y="306324"/>
            <a:ext cx="1417320" cy="14173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000000">
            <a:off x="9852660" y="251460"/>
            <a:ext cx="1417320" cy="14173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Bissextile 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1737360"/>
            <a:ext cx="69494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24328" y="1892808"/>
            <a:ext cx="69494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889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900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1912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048256"/>
            <a:ext cx="6949440" cy="40784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624328" y="2048256"/>
            <a:ext cx="6949440" cy="407845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18/29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Mesure réelle, extraite du build — couverture de lignes, JUnit contre Cucumber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465222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JUnit (unitaire)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011680"/>
            <a:ext cx="3279952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Cucumber (intégration)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3288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45059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83280" y="245059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0" y="24323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6547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2665476"/>
            <a:ext cx="424281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0" y="264718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HolidayService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98094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83280" y="2980944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0" y="29626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319582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83280" y="3195828"/>
            <a:ext cx="680313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89920" y="31775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93%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51129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383280" y="3511296"/>
            <a:ext cx="57058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0" y="3493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72618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83280" y="3726180"/>
            <a:ext cx="292608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0" y="37078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23944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ConflictDetector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789920" y="40233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25653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383280" y="4256532"/>
            <a:ext cx="5486400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89920" y="42382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54296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EventService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80" y="457200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383280" y="4572000"/>
            <a:ext cx="643737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89920" y="45537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78688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83280" y="4786884"/>
            <a:ext cx="643737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0" y="47685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18464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RecurrenceRequest (DTO)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83280" y="510235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3383280" y="510235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89920" y="50840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31723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3383280" y="5317236"/>
            <a:ext cx="21945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52989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5C6272"/>
                </a:solidFill>
                <a:latin typeface="Helvetica Neue"/>
              </a:rPr>
              <a:t>JUnit couvre la logique métier ; Cucumber couvre la couche REST — presque aucun recouvrement.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5943600"/>
            <a:ext cx="10424160" cy="5486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C111F"/>
                </a:solidFill>
                <a:latin typeface="Helvetica Neue"/>
              </a:rPr>
              <a:t>Mention spéciale à RecurrenceRequest : 0 % partout. Personne n'y a jamais touché. Personne.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1143000" y="57058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19/29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3EEE0"/>
                </a:solidFill>
                <a:latin typeface="Helvetica Neue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395728" y="1645920"/>
            <a:ext cx="7406640" cy="4408607"/>
          </a:xfrm>
          <a:prstGeom prst="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3171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9AA1B5"/>
                </a:solidFill>
                <a:latin typeface="Helvetica Neue"/>
              </a:rPr>
              <a:t>coverage-summary.sh fait le café à votre place : rouge, orange, vert, classe par classe.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20/29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Trois commandes, un radar complet</a:t>
            </a:r>
          </a:p>
        </p:txBody>
      </p:sp>
      <p:sp>
        <p:nvSpPr>
          <p:cNvPr id="5" name="Oval 4"/>
          <p:cNvSpPr/>
          <p:nvPr/>
        </p:nvSpPr>
        <p:spPr>
          <a:xfrm>
            <a:off x="836676" y="210769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781812" y="205282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12264"/>
            <a:ext cx="932688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 dirty="0" err="1">
                <a:solidFill>
                  <a:srgbClr val="181D2B"/>
                </a:solidFill>
                <a:latin typeface="Menlo"/>
              </a:rPr>
              <a:t>mvn</a:t>
            </a:r>
            <a:r>
              <a:rPr sz="1700" b="1" i="0" dirty="0">
                <a:solidFill>
                  <a:srgbClr val="181D2B"/>
                </a:solidFill>
                <a:latin typeface="Menlo"/>
              </a:rPr>
              <a:t>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56032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Build + JUnit + Cucumber + 3 rapports Jacoco générés automatiquement.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" y="343357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781812" y="337870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3814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88620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récap coloré JUnit / Cucumber / global, côte à côte, dans le terminal.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" y="475945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781812" y="470458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76402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521208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Rien d'exotique, rien à installer de plus que ce qu'on a déjà dans le pom.xml.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21/29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 dirty="0">
                <a:solidFill>
                  <a:srgbClr val="0C111F"/>
                </a:solidFill>
                <a:latin typeface="Helvetica Neue"/>
              </a:rPr>
              <a:t>BONUS </a:t>
            </a:r>
            <a:r>
              <a:rPr lang="fr-FR" sz="1150" b="1" dirty="0">
                <a:solidFill>
                  <a:srgbClr val="0C111F"/>
                </a:solidFill>
                <a:latin typeface="Helvetica Neue"/>
              </a:rPr>
              <a:t>SONAR</a:t>
            </a:r>
            <a:endParaRPr sz="1150" b="1" dirty="0">
              <a:solidFill>
                <a:srgbClr val="0C111F"/>
              </a:solidFill>
              <a:latin typeface="Helvetica Neue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3EEE0"/>
                </a:solidFill>
                <a:latin typeface="Helvetica Neue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Les deux mêmes rapports Jacoco XML, importés tels quels dans SonarQube.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73552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FD23F"/>
                </a:solidFill>
                <a:latin typeface="Helvetica Neue"/>
              </a:rPr>
              <a:t>77,7 %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couverture globale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52544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2544" y="2423160"/>
            <a:ext cx="32735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544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0A72E"/>
                </a:solidFill>
                <a:latin typeface="Helvetica Neue"/>
              </a:rPr>
              <a:t>82 %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82128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82128" y="2423160"/>
            <a:ext cx="32735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82128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EB0A0"/>
                </a:solidFill>
                <a:latin typeface="Helvetica Neue"/>
              </a:rPr>
              <a:t>65 %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branches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1B5"/>
                </a:solidFill>
                <a:latin typeface="Helvetica Neue"/>
              </a:rPr>
              <a:t>Mesure réelle, obtenue en lançant l'analyse sur ce projet — pas une maquette.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10515600" cy="10058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4128" y="48371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243584" y="48371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463040" y="48371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518464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docker compose -f sonarqube/docker-compose.yml up -d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./mvnw test sonar:sonar -Dsonar.token=&lt;ton_token&gt;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43600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AA1B5"/>
                </a:solidFill>
                <a:latin typeface="Helvetica Neue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22/29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Coverage 77,7 %, en vrai, dans l'interface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Sonar ne mesure rien lui-même : il relit ce que Jacoco a déjà dit et fait semblant d'avoir tout calculé.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23/29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Même branche rouge, autre outil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3736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89280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4825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4825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Pas un artefact d'un outil bizarre : un fait sur votre code, confirmé deux fois de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25/29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CONFESSIONS COLLECTIVES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best-of des excuses pour ne pas tester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67128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6888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Votre machine n'ira pas en prod avec vous. Elle ne peut pas témoigner.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25496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072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On testera après le sprint.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272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Le sprint suivant aussi. Et celui d'après. À ce rythme, on teste au démantèlement.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83864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6557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C'est trop simple pour bugger.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8561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Neuf incidents de prod sur dix commencent exactement comme ça.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42232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123944"/>
            <a:ext cx="960120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 dirty="0">
                <a:solidFill>
                  <a:srgbClr val="181D2B"/>
                </a:solidFill>
                <a:latin typeface="Helvetica Neue"/>
              </a:rPr>
              <a:t>« </a:t>
            </a:r>
            <a:r>
              <a:rPr lang="fr-FR" sz="1450" b="1" i="0" dirty="0">
                <a:solidFill>
                  <a:srgbClr val="181D2B"/>
                </a:solidFill>
                <a:latin typeface="Helvetica Neue"/>
              </a:rPr>
              <a:t>François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a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dit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que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ça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passait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44398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Un mardi après-midi ensoleillé, à la main, une seule fois.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823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100 % de couverture, on n'a plus besoin de relire.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La couverture mesure ce qui a été EXÉCUTÉ. Pas ce qui a été VÉRIFIÉ.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06440"/>
            <a:ext cx="10515600" cy="64008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C111F"/>
                </a:solidFill>
                <a:latin typeface="Helvetica Neue"/>
              </a:rPr>
              <a:t>Spoiler : aucune de ces cinq phrases n'a jamais empêché un incendie en prod. Pas une seule. J'ai vérifié. Enfin... je crois.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43000" y="55686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26/29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Ce qu'il faut retenir</a:t>
            </a:r>
          </a:p>
        </p:txBody>
      </p:sp>
      <p:sp>
        <p:nvSpPr>
          <p:cNvPr id="4" name="Oval 3"/>
          <p:cNvSpPr/>
          <p:nvPr/>
        </p:nvSpPr>
        <p:spPr>
          <a:xfrm>
            <a:off x="10273284" y="443484"/>
            <a:ext cx="1051560" cy="10515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 rot="360000">
            <a:off x="10218420" y="388620"/>
            <a:ext cx="1051560" cy="105156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tl;dr</a:t>
            </a:r>
          </a:p>
        </p:txBody>
      </p:sp>
      <p:sp>
        <p:nvSpPr>
          <p:cNvPr id="6" name="Oval 5"/>
          <p:cNvSpPr/>
          <p:nvPr/>
        </p:nvSpPr>
        <p:spPr>
          <a:xfrm>
            <a:off x="946404" y="215341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 rot="21240000">
            <a:off x="891540" y="209854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6712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test vert ne dit pas ce qu'il a vérifié.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La couverture, si.</a:t>
            </a:r>
          </a:p>
        </p:txBody>
      </p:sp>
      <p:sp>
        <p:nvSpPr>
          <p:cNvPr id="10" name="Oval 9"/>
          <p:cNvSpPr/>
          <p:nvPr/>
        </p:nvSpPr>
        <p:spPr>
          <a:xfrm>
            <a:off x="946404" y="325069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 rot="21240000">
            <a:off x="891540" y="319582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26440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JUnit et Cucumber répondent à deux questions différentes.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7307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« Ça marche ? » contre « c'est le bon comportement ? »</a:t>
            </a:r>
          </a:p>
        </p:txBody>
      </p:sp>
      <p:sp>
        <p:nvSpPr>
          <p:cNvPr id="14" name="Oval 13"/>
          <p:cNvSpPr/>
          <p:nvPr/>
        </p:nvSpPr>
        <p:spPr>
          <a:xfrm>
            <a:off x="946404" y="434797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 rot="21240000">
            <a:off x="891540" y="429310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36168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Le rapport de couverture n'est pas un objectif.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8280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C'est un radar : il montre où regarder en premier.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27/29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Si vous voulez creuser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Code et scripts, en clair. Le reste (mes doutes existentiels sur plusMonths()) reste entre moi et mon terminal.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32304"/>
            <a:ext cx="146304" cy="14630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Le dépôt de ce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github.com/sidevconcept/couverture-junit-cucumber-jacoco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328416"/>
            <a:ext cx="146304" cy="146304"/>
          </a:xfrm>
          <a:prstGeom prst="ellipse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Guide Quarkus + Jacoco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2102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quarkus.io/guides/tests-with-coverage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224528"/>
            <a:ext cx="146304" cy="146304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16966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Extension Cucumber pour Quarkus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1713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docs.quarkiverse.io/quarkus-cucumber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20640"/>
            <a:ext cx="146304" cy="14630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SonarQube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132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docs.sonarsource.com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28/29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2194560"/>
            <a:ext cx="7589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3EEE0"/>
                </a:solidFill>
                <a:latin typeface="Helvetica Neue"/>
              </a:rPr>
              <a:t>Merci.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918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FFD23F"/>
                </a:solidFill>
                <a:latin typeface="Helvetica Neue"/>
              </a:rPr>
              <a:t>Questions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86200"/>
            <a:ext cx="6949440" cy="9144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et si quelqu'un me dit « chez nous on a 100 % de couverture », je réponds déjà : sur quelle branche ?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88720" y="36484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60350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A1B5"/>
                </a:solidFill>
                <a:latin typeface="Helvetica Neue"/>
              </a:rPr>
              <a:t>https://github.com/sidevconcept/couverture-junit-cucumber-jacoco  —  sidev.concept06@gmail.com</a:t>
            </a:r>
          </a:p>
        </p:txBody>
      </p:sp>
      <p:sp>
        <p:nvSpPr>
          <p:cNvPr id="25" name="Rounded Rectangle 24"/>
          <p:cNvSpPr/>
          <p:nvPr/>
        </p:nvSpPr>
        <p:spPr>
          <a:xfrm rot="21240000">
            <a:off x="3782276" y="955438"/>
            <a:ext cx="2011680" cy="242316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 rot="21240000">
            <a:off x="3699980" y="873142"/>
            <a:ext cx="2011680" cy="2423160"/>
          </a:xfrm>
          <a:prstGeom prst="round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40000">
            <a:off x="3837140" y="1010302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 rot="21240000">
            <a:off x="3699980" y="282081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81D2B"/>
                </a:solidFill>
                <a:latin typeface="Helvetica Neue"/>
              </a:rPr>
              <a:t>GitHub</a:t>
            </a:r>
          </a:p>
        </p:txBody>
      </p:sp>
      <p:sp>
        <p:nvSpPr>
          <p:cNvPr id="29" name="Rectangle 28"/>
          <p:cNvSpPr/>
          <p:nvPr/>
        </p:nvSpPr>
        <p:spPr>
          <a:xfrm rot="21240000">
            <a:off x="4477220" y="3140854"/>
            <a:ext cx="457200" cy="457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 rot="360000">
            <a:off x="8887303" y="1636777"/>
            <a:ext cx="2011680" cy="242316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 rot="360000">
            <a:off x="8805007" y="1554481"/>
            <a:ext cx="2011680" cy="2423160"/>
          </a:xfrm>
          <a:prstGeom prst="round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8942167" y="1691641"/>
            <a:ext cx="1737360" cy="1737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 rot="360000">
            <a:off x="8805007" y="350215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81D2B"/>
                </a:solidFill>
                <a:latin typeface="Helvetica Neue"/>
              </a:rPr>
              <a:t>LinkedIn</a:t>
            </a:r>
          </a:p>
        </p:txBody>
      </p:sp>
      <p:sp>
        <p:nvSpPr>
          <p:cNvPr id="34" name="Rectangle 33"/>
          <p:cNvSpPr/>
          <p:nvPr/>
        </p:nvSpPr>
        <p:spPr>
          <a:xfrm rot="360000">
            <a:off x="9582247" y="3822193"/>
            <a:ext cx="457200" cy="4572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 rot="21120000">
            <a:off x="3742352" y="557116"/>
            <a:ext cx="1417320" cy="365760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rIns="45720" bIns="18288" rtlCol="0" anchor="ctr"/>
          <a:lstStyle/>
          <a:p>
            <a:pPr algn="ctr"/>
            <a:r>
              <a:rPr sz="1100" b="1" dirty="0">
                <a:solidFill>
                  <a:srgbClr val="0C111F"/>
                </a:solidFill>
                <a:latin typeface="Helvetica Neue"/>
              </a:rPr>
              <a:t>SCANNE-MOI</a:t>
            </a:r>
          </a:p>
        </p:txBody>
      </p:sp>
      <p:sp>
        <p:nvSpPr>
          <p:cNvPr id="36" name="Parallelogram 34">
            <a:extLst>
              <a:ext uri="{FF2B5EF4-FFF2-40B4-BE49-F238E27FC236}">
                <a16:creationId xmlns:a16="http://schemas.microsoft.com/office/drawing/2014/main" id="{E910F05D-95E6-DE6C-81E7-A4EEA0EA2189}"/>
              </a:ext>
            </a:extLst>
          </p:cNvPr>
          <p:cNvSpPr/>
          <p:nvPr/>
        </p:nvSpPr>
        <p:spPr>
          <a:xfrm rot="334049">
            <a:off x="9314242" y="1177865"/>
            <a:ext cx="1417320" cy="365760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rIns="45720" bIns="18288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SCANNE-MOI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6252</TotalTime>
  <Words>2678</Words>
  <Application>Microsoft Macintosh PowerPoint</Application>
  <PresentationFormat>Grand écran</PresentationFormat>
  <Paragraphs>371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Arial</vt:lpstr>
      <vt:lpstr>Calibri</vt:lpstr>
      <vt:lpstr>Helvetica Neue</vt:lpstr>
      <vt:lpstr>Menlo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Sidney Cohen</cp:lastModifiedBy>
  <cp:revision>11</cp:revision>
  <dcterms:created xsi:type="dcterms:W3CDTF">2013-01-27T09:14:16Z</dcterms:created>
  <dcterms:modified xsi:type="dcterms:W3CDTF">2026-10-13T18:18:45Z</dcterms:modified>
  <cp:category/>
</cp:coreProperties>
</file>