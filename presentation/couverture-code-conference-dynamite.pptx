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2"/>
  </p:normalViewPr>
  <p:slideViewPr>
    <p:cSldViewPr snapToGrid="0" snapToObjects="1">
      <p:cViewPr varScale="1">
        <p:scale>
          <a:sx n="114" d="100"/>
          <a:sy n="114" d="100"/>
        </p:scale>
        <p:origin x="66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8778240" y="-1097280"/>
            <a:ext cx="5669280" cy="9144000"/>
          </a:xfrm>
          <a:prstGeom prst="parallelogram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646920" y="502920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939528" y="502920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232136" y="502920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524744" y="502920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817352" y="502920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646920" y="795528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939528" y="795528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232136" y="795528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524744" y="795528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0817352" y="795528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646920" y="1088136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939528" y="1088136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232136" y="1088136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524744" y="1088136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0817352" y="1088136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646920" y="1380744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9939528" y="1380744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0232136" y="1380744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0524744" y="1380744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0817352" y="1380744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646920" y="1673352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939528" y="1673352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0232136" y="1673352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0524744" y="1673352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0817352" y="1673352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9646920" y="1965960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939528" y="1965960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10232136" y="1965960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10524744" y="1965960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10817352" y="1965960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14400" y="2057400"/>
            <a:ext cx="91440" cy="1874519"/>
          </a:xfrm>
          <a:prstGeom prst="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143000" y="1664208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D23F"/>
                </a:solidFill>
                <a:latin typeface="Helvetica Neue"/>
              </a:rPr>
              <a:t>CONFÉRENCE TECHNIQUE (OU THÉRAPIE DE GROUPE)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2148840"/>
            <a:ext cx="9601200" cy="14295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dirty="0">
                <a:solidFill>
                  <a:srgbClr val="F3EEE0"/>
                </a:solidFill>
                <a:latin typeface="Helvetica Neue"/>
              </a:rPr>
              <a:t>La couverture de code,
</a:t>
            </a:r>
            <a:r>
              <a:rPr lang="fr-FR" sz="4600" b="1" dirty="0">
                <a:solidFill>
                  <a:srgbClr val="FFD23F"/>
                </a:solidFill>
                <a:latin typeface="Helvetica Neue"/>
              </a:rPr>
              <a:t>n’est jamais à 100%</a:t>
            </a:r>
            <a:endParaRPr sz="4600" b="1" dirty="0">
              <a:solidFill>
                <a:srgbClr val="FFD23F"/>
              </a:solidFill>
              <a:latin typeface="Helvetica Neue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143000" y="3886200"/>
            <a:ext cx="9784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F0A72E"/>
                </a:solidFill>
                <a:latin typeface="Helvetica Neue"/>
              </a:rPr>
              <a:t>Quarkus  ·  JUnit  ·  Cucumber  ·  Jacoco  ·  (un peu de Sonar en bonus)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4434840"/>
            <a:ext cx="9601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1">
                <a:solidFill>
                  <a:srgbClr val="C9CEDC"/>
                </a:solidFill>
                <a:latin typeface="Helvetica Neue"/>
              </a:rPr>
              <a:t>Où l'on découvre que « 100 % de couverture » ne veut pas dire « 0 bug ».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598932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9AA1B5"/>
                </a:solidFill>
                <a:latin typeface="Helvetica Neue"/>
              </a:rPr>
              <a:t>Sidney Cohen — 13 octobre 2026</a:t>
            </a:r>
          </a:p>
        </p:txBody>
      </p:sp>
      <p:sp>
        <p:nvSpPr>
          <p:cNvPr id="39" name="Oval 38"/>
          <p:cNvSpPr/>
          <p:nvPr/>
        </p:nvSpPr>
        <p:spPr>
          <a:xfrm>
            <a:off x="9610344" y="4626864"/>
            <a:ext cx="1554480" cy="155448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 rot="21000000">
            <a:off x="9555480" y="4572000"/>
            <a:ext cx="1554480" cy="15544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100%
authentique</a:t>
            </a: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AVANT DE COMMENCER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81D2B"/>
                </a:solidFill>
                <a:latin typeface="Helvetica Neue"/>
              </a:rPr>
              <a:t>Qui suis-je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8A5A10"/>
                </a:solidFill>
                <a:latin typeface="Helvetica Neue"/>
              </a:rPr>
              <a:t>Sidney Cohen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5256" y="2478024"/>
            <a:ext cx="3273552" cy="306324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2960" y="2395728"/>
            <a:ext cx="3273552" cy="306324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395728"/>
            <a:ext cx="3273552" cy="9144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15568" y="2724912"/>
            <a:ext cx="272491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Helvetica Neue"/>
              </a:rPr>
              <a:t>Développeur Java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3493008"/>
            <a:ext cx="2724912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10 ans de Java, 21 ans de dev au total — assez pour avoir déjà tout cassé au moins une fois. Deux, si on compte la prod.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478024"/>
            <a:ext cx="3273552" cy="306324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352544" y="2395728"/>
            <a:ext cx="3273552" cy="306324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52544" y="2395728"/>
            <a:ext cx="3273552" cy="9144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45152" y="2724912"/>
            <a:ext cx="272491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Helvetica Neue"/>
              </a:rPr>
              <a:t>Écrit des 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493008"/>
            <a:ext cx="2724912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Forcé d'écrire des tests sous la contrainte : pas de tests, pas de PR validée. Ma phrase préférée reste « c'est bon, les tests sont tous verts » — vous allez vite comprendre pourquoi elle ne veut rien dire.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4424" y="2478024"/>
            <a:ext cx="3273552" cy="306324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882128" y="2395728"/>
            <a:ext cx="3273552" cy="306324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82128" y="2395728"/>
            <a:ext cx="3273552" cy="9144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74736" y="2724912"/>
            <a:ext cx="272491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Helvetica Neue"/>
              </a:rPr>
              <a:t>Ici pour une raison précise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4736" y="3493008"/>
            <a:ext cx="2724912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Honnêtement ? C'était soit ça, soit vous refaire une présentation sur l'IA. Vous l'avez échappé belle.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0" y="1920240"/>
            <a:ext cx="1828800" cy="566928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D23F"/>
                </a:solidFill>
                <a:latin typeface="Helvetica Neue"/>
              </a:rPr>
              <a:t>confidentiel</a:t>
            </a:r>
          </a:p>
        </p:txBody>
      </p:sp>
      <p:sp>
        <p:nvSpPr>
          <p:cNvPr id="22" name="Isosceles Triangle 21"/>
          <p:cNvSpPr/>
          <p:nvPr/>
        </p:nvSpPr>
        <p:spPr>
          <a:xfrm rot="10800000">
            <a:off x="6922008" y="2468880"/>
            <a:ext cx="256032" cy="256032"/>
          </a:xfrm>
          <a:prstGeom prst="triangl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02/29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21040" y="1920240"/>
            <a:ext cx="384048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0" b="1" i="0">
                <a:solidFill>
                  <a:srgbClr val="171F33"/>
                </a:solidFill>
                <a:latin typeface="Helvetica Neue"/>
              </a:rPr>
              <a:t>?</a:t>
            </a:r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SONDAGE (SANS JUGEMENT)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F3EEE0"/>
                </a:solidFill>
                <a:latin typeface="Helvetica Neue"/>
              </a:rPr>
              <a:t>Levez la main si...</a:t>
            </a:r>
          </a:p>
        </p:txBody>
      </p:sp>
      <p:sp>
        <p:nvSpPr>
          <p:cNvPr id="5" name="Oval 4"/>
          <p:cNvSpPr/>
          <p:nvPr/>
        </p:nvSpPr>
        <p:spPr>
          <a:xfrm>
            <a:off x="918972" y="2199132"/>
            <a:ext cx="502920" cy="50292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 rot="21240000">
            <a:off x="864108" y="2144268"/>
            <a:ext cx="502920" cy="50292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500" b="1">
                <a:solidFill>
                  <a:srgbClr val="0C11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194560"/>
            <a:ext cx="9509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 i="0">
                <a:solidFill>
                  <a:srgbClr val="F3EEE0"/>
                </a:solidFill>
                <a:latin typeface="Helvetica Neue"/>
              </a:rPr>
              <a:t>...vous avez déjà écrit un test juste pour faire plaisir à la CI.</a:t>
            </a:r>
          </a:p>
        </p:txBody>
      </p:sp>
      <p:sp>
        <p:nvSpPr>
          <p:cNvPr id="8" name="Oval 7"/>
          <p:cNvSpPr/>
          <p:nvPr/>
        </p:nvSpPr>
        <p:spPr>
          <a:xfrm>
            <a:off x="918972" y="3204972"/>
            <a:ext cx="502920" cy="50292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 rot="21240000">
            <a:off x="864108" y="3150108"/>
            <a:ext cx="502920" cy="50292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500" b="1">
                <a:solidFill>
                  <a:srgbClr val="0C111F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200400"/>
            <a:ext cx="9509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 i="0">
                <a:solidFill>
                  <a:srgbClr val="F3EEE0"/>
                </a:solidFill>
                <a:latin typeface="Helvetica Neue"/>
              </a:rPr>
              <a:t>...vous avez déjà vu 100 % de couverture sur un fichier plein de bugs.</a:t>
            </a:r>
          </a:p>
        </p:txBody>
      </p:sp>
      <p:sp>
        <p:nvSpPr>
          <p:cNvPr id="11" name="Oval 10"/>
          <p:cNvSpPr/>
          <p:nvPr/>
        </p:nvSpPr>
        <p:spPr>
          <a:xfrm>
            <a:off x="918972" y="4210812"/>
            <a:ext cx="502920" cy="50292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 rot="21240000">
            <a:off x="864108" y="4155948"/>
            <a:ext cx="502920" cy="50292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500" b="1">
                <a:solidFill>
                  <a:srgbClr val="0C111F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206240"/>
            <a:ext cx="9509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 i="0">
                <a:solidFill>
                  <a:srgbClr val="F3EEE0"/>
                </a:solidFill>
                <a:latin typeface="Helvetica Neue"/>
              </a:rPr>
              <a:t>...vous ne savez pas, là, maintenant, ce que couvrent VOS tests.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486400"/>
            <a:ext cx="4206240" cy="68580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50" b="1" i="1">
                <a:solidFill>
                  <a:srgbClr val="0C111F"/>
                </a:solidFill>
                <a:latin typeface="Helvetica Neue"/>
              </a:rPr>
              <a:t>Pas de jugement. Enfin... un peu.</a:t>
            </a:r>
          </a:p>
        </p:txBody>
      </p:sp>
      <p:sp>
        <p:nvSpPr>
          <p:cNvPr id="15" name="Isosceles Triangle 14"/>
          <p:cNvSpPr/>
          <p:nvPr/>
        </p:nvSpPr>
        <p:spPr>
          <a:xfrm>
            <a:off x="1143000" y="524865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03/29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AU PROGRAMME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81D2B"/>
                </a:solidFill>
                <a:latin typeface="Helvetica Neue"/>
              </a:rPr>
              <a:t>Une heure, quatre outils, zéro slide inutile (promis)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31136"/>
            <a:ext cx="54864" cy="4572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2212848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A83322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194560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Le problème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487168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Pourquoi une suite de tests toute verte ne prouve absolument rien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852928"/>
            <a:ext cx="54864" cy="4572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2834640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8A5A10"/>
                </a:solidFill>
                <a:latin typeface="Helvetica Neue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816352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La stack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108960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JUnit, Cucumber, Quarkus, Jacoco — qui fait quoi (et qui ne fait pas le café)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474720"/>
            <a:ext cx="54864" cy="45720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51560" y="3456432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B6E62"/>
                </a:solidFill>
                <a:latin typeface="Helvetica Neue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438144"/>
            <a:ext cx="6949440" cy="2385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 dirty="0" err="1">
                <a:solidFill>
                  <a:srgbClr val="181D2B"/>
                </a:solidFill>
                <a:latin typeface="Helvetica Neue"/>
              </a:rPr>
              <a:t>Démo</a:t>
            </a:r>
            <a:r>
              <a:rPr sz="1550" b="1" i="0" dirty="0">
                <a:solidFill>
                  <a:srgbClr val="181D2B"/>
                </a:solidFill>
                <a:latin typeface="Helvetica Neue"/>
              </a:rPr>
              <a:t> : le pro</a:t>
            </a:r>
            <a:r>
              <a:rPr lang="fr-FR" sz="1550" b="1" dirty="0">
                <a:solidFill>
                  <a:srgbClr val="181D2B"/>
                </a:solidFill>
                <a:latin typeface="Helvetica Neue"/>
              </a:rPr>
              <a:t>jet</a:t>
            </a:r>
            <a:endParaRPr sz="1550" b="1" i="0" dirty="0">
              <a:solidFill>
                <a:srgbClr val="181D2B"/>
              </a:solidFill>
              <a:latin typeface="Helvetica Neue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600200" y="3730752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Un agenda malin, ses tests, ses angles morts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096512"/>
            <a:ext cx="54864" cy="457200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51560" y="4078224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546E22"/>
                </a:solidFill>
                <a:latin typeface="Helvetica Neu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4059936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Le rapport qui ne ment pas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4352544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Jacoco en direct, JUnit contre Cucumber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718304"/>
            <a:ext cx="54864" cy="457200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51560" y="4700016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22409C"/>
                </a:solidFill>
                <a:latin typeface="Helvetica Neue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4681728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Bonus : SonarQube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4974336"/>
            <a:ext cx="786384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0" i="0" dirty="0">
                <a:solidFill>
                  <a:srgbClr val="181D2B"/>
                </a:solidFill>
                <a:latin typeface="Helvetica Neue"/>
              </a:rPr>
              <a:t>Le </a:t>
            </a:r>
            <a:r>
              <a:rPr sz="1100" b="0" i="0" dirty="0" err="1">
                <a:solidFill>
                  <a:srgbClr val="181D2B"/>
                </a:solidFill>
                <a:latin typeface="Helvetica Neue"/>
              </a:rPr>
              <a:t>même</a:t>
            </a:r>
            <a:r>
              <a:rPr sz="1100" b="0" i="0" dirty="0">
                <a:solidFill>
                  <a:srgbClr val="181D2B"/>
                </a:solidFill>
                <a:latin typeface="Helvetica Neue"/>
              </a:rPr>
              <a:t> rapport, dans un </a:t>
            </a:r>
            <a:r>
              <a:rPr sz="1100" b="0" i="0" dirty="0" err="1">
                <a:solidFill>
                  <a:srgbClr val="181D2B"/>
                </a:solidFill>
                <a:latin typeface="Helvetica Neue"/>
              </a:rPr>
              <a:t>vrai</a:t>
            </a:r>
            <a:r>
              <a:rPr sz="1100" b="0" i="0" dirty="0">
                <a:solidFill>
                  <a:srgbClr val="181D2B"/>
                </a:solidFill>
                <a:latin typeface="Helvetica Neue"/>
              </a:rPr>
              <a:t> dashboard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5340096"/>
            <a:ext cx="54864" cy="4572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51560" y="5321808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A83322"/>
                </a:solidFill>
                <a:latin typeface="Helvetica Neue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5303520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Ce qu'on retient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0200" y="5596128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Et deux pièges qu'on a vraiment pris en pleine figure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04/29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LE CONSTAT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181D2B"/>
                </a:solidFill>
                <a:latin typeface="Helvetica Neue"/>
              </a:rPr>
              <a:t>On a des tests. On n'a toujours aucune idée de ce qu'ils font.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551176"/>
            <a:ext cx="3273552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468880"/>
            <a:ext cx="3273552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468880"/>
            <a:ext cx="3273552" cy="9144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" y="2788920"/>
            <a:ext cx="27249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B6E62"/>
                </a:solidFill>
                <a:latin typeface="Helvetica Neue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3429000"/>
            <a:ext cx="27249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50" b="1" i="0">
                <a:solidFill>
                  <a:srgbClr val="181D2B"/>
                </a:solidFill>
                <a:latin typeface="Helvetica Neue"/>
              </a:rPr>
              <a:t>On écrit des 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4206240"/>
            <a:ext cx="2724912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JUnit, Cucumber : les suites tournent au vert à chaque build. On est très fiers. À raison, d'ailleurs.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551176"/>
            <a:ext cx="3273552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 rot="21480000">
            <a:off x="4352544" y="2468880"/>
            <a:ext cx="3273552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52544" y="2468880"/>
            <a:ext cx="3273552" cy="9144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45152" y="2788920"/>
            <a:ext cx="27249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8A5A10"/>
                </a:solidFill>
                <a:latin typeface="Helvetica Neue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429000"/>
            <a:ext cx="27249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50" b="1" i="0">
                <a:solidFill>
                  <a:srgbClr val="181D2B"/>
                </a:solidFill>
                <a:latin typeface="Helvetica Neue"/>
              </a:rPr>
              <a:t>On ne sait pas ce qu'ils couvrent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06240"/>
            <a:ext cx="2724912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Quelles classes ? Quelles branches ? Une CI verte suffit largement à calmer tout le monde.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64424" y="2551176"/>
            <a:ext cx="3273552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 rot="120000">
            <a:off x="7882128" y="2468880"/>
            <a:ext cx="3273552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882128" y="2468880"/>
            <a:ext cx="3273552" cy="9144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74736" y="2788920"/>
            <a:ext cx="27249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A83322"/>
                </a:solidFill>
                <a:latin typeface="Helvetica Neue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6" y="3429000"/>
            <a:ext cx="27249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50" b="1" i="0">
                <a:solidFill>
                  <a:srgbClr val="181D2B"/>
                </a:solidFill>
                <a:latin typeface="Helvetica Neue"/>
              </a:rPr>
              <a:t>Les angles morts restent invisibles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736" y="4206240"/>
            <a:ext cx="2724912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Jusqu'au bug en prod, dans le code qu'aucun test n'a jamais exécuté. Généralement un vendredi. Toujours un vendredi.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05/29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LA STACK TECHNIQUE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81D2B"/>
                </a:solidFill>
                <a:latin typeface="Helvetica Neue"/>
              </a:rPr>
              <a:t>Quatre outils, quatre questions différentes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81928" y="1755203"/>
            <a:ext cx="5102352" cy="2084831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199632" y="1672907"/>
            <a:ext cx="5102352" cy="2084831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199632" y="1672907"/>
            <a:ext cx="91440" cy="2084831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92240" y="1855787"/>
            <a:ext cx="1415948" cy="31089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JUnit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422715"/>
            <a:ext cx="450799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« La logique métier fait-elle ce qu'elle doit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Tests unitaires ciblés, rapides — le genre d'ami qui vous dit direct que votre code est nul, sans détour.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116366"/>
            <a:ext cx="5102352" cy="2084831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86384" y="4050349"/>
            <a:ext cx="5102352" cy="2084831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86384" y="4050349"/>
            <a:ext cx="91440" cy="2084831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78992" y="4233229"/>
            <a:ext cx="1576425" cy="31089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Cucumber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" y="4800157"/>
            <a:ext cx="450799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« Le comportement attendu est-il respecté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Scénarios Gherkin lisibles — le seul test que votre chef de projet pourra théoriquement relire.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1736244"/>
            <a:ext cx="5102352" cy="2084831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86384" y="1653948"/>
            <a:ext cx="5102352" cy="2084831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86384" y="1653948"/>
            <a:ext cx="91440" cy="2084831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78992" y="1836828"/>
            <a:ext cx="1415948" cy="310896"/>
          </a:xfrm>
          <a:prstGeom prst="round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Quarkus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" y="2403756"/>
            <a:ext cx="450799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« Comment tout ça tourne ensemble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Le framework qui démarre l'appli et pilote les tests — le collègue qui organise tout sans qu'on lui demande.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81928" y="4096066"/>
            <a:ext cx="5102352" cy="2084831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199632" y="4013770"/>
            <a:ext cx="5102352" cy="2084831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99632" y="4013770"/>
            <a:ext cx="91440" cy="2084831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492240" y="4196650"/>
            <a:ext cx="1255471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Jacoco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4763578"/>
            <a:ext cx="450799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« Qu'est-ce qui a vraiment été exécuté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L'instrument de mesure — celui qui ne ment jamais, contrairement à votre estimation à l'oral.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06/29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LE TERRAIN DE JEU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3EEE0"/>
                </a:solidFill>
                <a:latin typeface="Helvetica Neue"/>
              </a:rPr>
              <a:t>Un agenda malin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9875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C9CEDC"/>
                </a:solidFill>
                <a:latin typeface="Helvetica Neue"/>
              </a:rPr>
              <a:t>Une API Quarkus qui planifie des événements, détecte les conflits d'horaire,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C9CEDC"/>
                </a:solidFill>
                <a:latin typeface="Helvetica Neue"/>
              </a:rPr>
              <a:t>génère des récurrences, et glisse une citation du jour — parce qu'une démo a le droit d'être un peu sympa.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414016"/>
            <a:ext cx="3794760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3794760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794760" cy="73152"/>
          </a:xfrm>
          <a:prstGeom prst="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2496312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CalendarResource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862072"/>
            <a:ext cx="3429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Couche REST — JSON in/out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15768" y="3291840"/>
            <a:ext cx="45720" cy="320040"/>
          </a:xfrm>
          <a:prstGeom prst="rect">
            <a:avLst/>
          </a:prstGeom>
          <a:solidFill>
            <a:srgbClr val="9AA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05256" y="3785616"/>
            <a:ext cx="2359152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2960" y="3703320"/>
            <a:ext cx="2359152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2960" y="3703320"/>
            <a:ext cx="2359152" cy="73152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24128" y="3867912"/>
            <a:ext cx="19933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EventService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4233672"/>
            <a:ext cx="19933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création + recherche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92424" y="3785616"/>
            <a:ext cx="2359152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310128" y="3703320"/>
            <a:ext cx="2359152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10128" y="3703320"/>
            <a:ext cx="2359152" cy="73152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11296" y="3867912"/>
            <a:ext cx="19933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RecurrenceService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1296" y="4233672"/>
            <a:ext cx="19933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quotidien / hebdo / mensuel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79592" y="3785616"/>
            <a:ext cx="2359152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797296" y="3703320"/>
            <a:ext cx="2359152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797296" y="3703320"/>
            <a:ext cx="2359152" cy="73152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998464" y="3867912"/>
            <a:ext cx="19933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HolidayService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98464" y="4233672"/>
            <a:ext cx="19933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jours fériés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66760" y="3785616"/>
            <a:ext cx="2359152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284464" y="3703320"/>
            <a:ext cx="2359152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284464" y="3703320"/>
            <a:ext cx="2359152" cy="73152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85632" y="3867912"/>
            <a:ext cx="19933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QuoteOfTheDayService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85632" y="4233672"/>
            <a:ext cx="19933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citation du jour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20240" y="4617720"/>
            <a:ext cx="45720" cy="320040"/>
          </a:xfrm>
          <a:prstGeom prst="rect">
            <a:avLst/>
          </a:prstGeom>
          <a:solidFill>
            <a:srgbClr val="9AA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905256" y="5020056"/>
            <a:ext cx="3794760" cy="77724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22960" y="4937760"/>
            <a:ext cx="3794760" cy="77724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22960" y="4937760"/>
            <a:ext cx="3794760" cy="73152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24128" y="5102352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ConflictDetector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" y="5468112"/>
            <a:ext cx="3429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logique pure — aucune dépendance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0" y="4709160"/>
            <a:ext cx="5394960" cy="105156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0C111F"/>
                </a:solidFill>
                <a:latin typeface="Helvetica Neue"/>
              </a:rPr>
              <a:t>Aucune base de données : le sujet du jour, c'est la couverture de
tests — pas Hibernate. On se recentre.</a:t>
            </a:r>
          </a:p>
        </p:txBody>
      </p:sp>
      <p:sp>
        <p:nvSpPr>
          <p:cNvPr id="38" name="Isosceles Triangle 37"/>
          <p:cNvSpPr/>
          <p:nvPr/>
        </p:nvSpPr>
        <p:spPr>
          <a:xfrm>
            <a:off x="6263640" y="447141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07/29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ZOOM — JUNIT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81D2B"/>
                </a:solidFill>
                <a:latin typeface="Helvetica Neue"/>
              </a:rPr>
              <a:t>Le microscope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JUnit teste une unité de code isolée — une méthode, une classe — sans lancer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toute l'application. C'est rapide, précis, et ça ne pardonne rien.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5256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3063240"/>
            <a:ext cx="73152" cy="141732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Rapide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Des milliers de tests en quelques secondes. Votre café, lui, met plus longtemps.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352544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52544" y="3063240"/>
            <a:ext cx="73152" cy="141732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26864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Isolé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Pas de serveur, pas de réseau, pas de surprise. Le rêve, quoi.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4424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882128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82128" y="3063240"/>
            <a:ext cx="73152" cy="141732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56448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Technique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Pensé par et pour les développeurs. Personne d'autre ne relira jamais un assertEquals.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074920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 dirty="0">
                <a:solidFill>
                  <a:srgbClr val="181D2B"/>
                </a:solidFill>
                <a:latin typeface="Helvetica Neue"/>
              </a:rPr>
              <a:t>Dans </a:t>
            </a:r>
            <a:r>
              <a:rPr sz="1400" b="0" i="1" dirty="0" err="1">
                <a:solidFill>
                  <a:srgbClr val="181D2B"/>
                </a:solidFill>
                <a:latin typeface="Helvetica Neue"/>
              </a:rPr>
              <a:t>notre</a:t>
            </a:r>
            <a:r>
              <a:rPr sz="1400" b="0" i="1" dirty="0">
                <a:solidFill>
                  <a:srgbClr val="181D2B"/>
                </a:solidFill>
                <a:latin typeface="Helvetica Neue"/>
              </a:rPr>
              <a:t> agenda </a:t>
            </a:r>
            <a:r>
              <a:rPr sz="1400" b="0" i="1" dirty="0" err="1">
                <a:solidFill>
                  <a:srgbClr val="181D2B"/>
                </a:solidFill>
                <a:latin typeface="Helvetica Neue"/>
              </a:rPr>
              <a:t>malin</a:t>
            </a:r>
            <a:r>
              <a:rPr sz="1400" b="0" i="1" dirty="0">
                <a:solidFill>
                  <a:srgbClr val="181D2B"/>
                </a:solidFill>
                <a:latin typeface="Helvetica Neue"/>
              </a:rPr>
              <a:t> : </a:t>
            </a:r>
            <a:r>
              <a:rPr sz="1400" b="0" i="1" dirty="0" err="1">
                <a:solidFill>
                  <a:srgbClr val="181D2B"/>
                </a:solidFill>
                <a:latin typeface="Helvetica Neue"/>
              </a:rPr>
              <a:t>ConflictDetector</a:t>
            </a:r>
            <a:r>
              <a:rPr sz="1400" b="0" i="1" dirty="0">
                <a:solidFill>
                  <a:srgbClr val="181D2B"/>
                </a:solidFill>
                <a:latin typeface="Helvetica Neue"/>
              </a:rPr>
              <a:t>, </a:t>
            </a:r>
            <a:r>
              <a:rPr sz="1400" b="0" i="1" dirty="0" err="1">
                <a:solidFill>
                  <a:srgbClr val="181D2B"/>
                </a:solidFill>
                <a:latin typeface="Helvetica Neue"/>
              </a:rPr>
              <a:t>RecurrenceService</a:t>
            </a:r>
            <a:r>
              <a:rPr sz="1400" b="0" i="1" dirty="0">
                <a:solidFill>
                  <a:srgbClr val="181D2B"/>
                </a:solidFill>
                <a:latin typeface="Helvetica Neue"/>
              </a:rPr>
              <a:t> — de la </a:t>
            </a:r>
            <a:r>
              <a:rPr sz="1400" b="0" i="1" dirty="0" err="1">
                <a:solidFill>
                  <a:srgbClr val="181D2B"/>
                </a:solidFill>
                <a:latin typeface="Helvetica Neue"/>
              </a:rPr>
              <a:t>logique</a:t>
            </a:r>
            <a:endParaRPr sz="1400" b="0" i="1" dirty="0">
              <a:solidFill>
                <a:srgbClr val="181D2B"/>
              </a:solidFill>
              <a:latin typeface="Helvetica Neue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 dirty="0">
                <a:solidFill>
                  <a:srgbClr val="181D2B"/>
                </a:solidFill>
                <a:latin typeface="Helvetica Neue"/>
              </a:rPr>
              <a:t>pure, </a:t>
            </a:r>
            <a:r>
              <a:rPr sz="1400" b="0" i="1" dirty="0" err="1">
                <a:solidFill>
                  <a:srgbClr val="181D2B"/>
                </a:solidFill>
                <a:latin typeface="Helvetica Neue"/>
              </a:rPr>
              <a:t>testée</a:t>
            </a:r>
            <a:r>
              <a:rPr sz="1400" b="0" i="1" dirty="0">
                <a:solidFill>
                  <a:srgbClr val="181D2B"/>
                </a:solidFill>
                <a:latin typeface="Helvetica Neue"/>
              </a:rPr>
              <a:t> sans jamais </a:t>
            </a:r>
            <a:r>
              <a:rPr sz="1400" b="0" i="1" dirty="0" err="1">
                <a:solidFill>
                  <a:srgbClr val="181D2B"/>
                </a:solidFill>
                <a:latin typeface="Helvetica Neue"/>
              </a:rPr>
              <a:t>démarrer</a:t>
            </a:r>
            <a:r>
              <a:rPr sz="1400" b="0" i="1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00" b="0" i="1" dirty="0" err="1">
                <a:solidFill>
                  <a:srgbClr val="181D2B"/>
                </a:solidFill>
                <a:latin typeface="Helvetica Neue"/>
              </a:rPr>
              <a:t>Quarkus</a:t>
            </a:r>
            <a:r>
              <a:rPr sz="1400" b="0" i="1" dirty="0">
                <a:solidFill>
                  <a:srgbClr val="181D2B"/>
                </a:solidFill>
                <a:latin typeface="Helvetica Neue"/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08/29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JUNIT — EN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81D2B"/>
                </a:solidFill>
                <a:latin typeface="Helvetica Neue"/>
              </a:rPr>
              <a:t>Viser juste, vite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2743200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4128" y="2093976"/>
            <a:ext cx="109728" cy="109728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243584" y="2093976"/>
            <a:ext cx="109728" cy="109728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463040" y="2093976"/>
            <a:ext cx="109728" cy="109728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2441448"/>
            <a:ext cx="98755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@Test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void deuxEvenementsQuiSeTouchentNeSontPasEnConflit() {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    Event a = eventAt("a", 9, 10);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    Event b = eventAt("b", 10, 11);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endParaRPr sz="1500" b="0" i="0">
              <a:solidFill>
                <a:srgbClr val="E7ECF5"/>
              </a:solidFill>
              <a:latin typeface="Menlo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    assertFalse(detector.isConflicting(a, b));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029200"/>
            <a:ext cx="98755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81D2B"/>
                </a:solidFill>
                <a:latin typeface="Helvetica Neue"/>
              </a:rPr>
              <a:t>ConflictDetectorTest : 4 tests, 4 cas limites — chevauchement, contact exact,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81D2B"/>
                </a:solidFill>
                <a:latin typeface="Helvetica Neue"/>
              </a:rPr>
              <a:t>séparation nette, et réflexivité (oui, on vérifie qu'un événement n'est pas en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81D2B"/>
                </a:solidFill>
                <a:latin typeface="Helvetica Neue"/>
              </a:rPr>
              <a:t>conflit avec lui-même — sinon, c'est un problème existentiel, pas un bug).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09/29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BONUS THÉORIE (VITE FAIT)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81D2B"/>
                </a:solidFill>
                <a:latin typeface="Helvetica Neue"/>
              </a:rPr>
              <a:t>SOLID est au clean code ce que </a:t>
            </a:r>
            <a:r>
              <a:rPr sz="2600" b="1">
                <a:solidFill>
                  <a:srgbClr val="F0A72E"/>
                </a:solidFill>
                <a:latin typeface="Helvetica Neue"/>
              </a:rPr>
              <a:t>FIRST</a:t>
            </a:r>
            <a:r>
              <a:rPr sz="2600" b="1">
                <a:solidFill>
                  <a:srgbClr val="181D2B"/>
                </a:solidFill>
                <a:latin typeface="Helvetica Neue"/>
              </a:rPr>
              <a:t> est au test unitaire.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514600"/>
            <a:ext cx="1938528" cy="82296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87552" y="2715768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8A5A10"/>
                </a:solidFill>
                <a:latin typeface="Helvetica Neue"/>
              </a:rPr>
              <a:t>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3383280"/>
            <a:ext cx="16093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Fast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886200"/>
            <a:ext cx="16093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Rapide — sinon on arrête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de les lancer.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44952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962656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962656" y="2514600"/>
            <a:ext cx="1938528" cy="82296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27248" y="2715768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1B6E62"/>
                </a:solidFill>
                <a:latin typeface="Helvetica Neue"/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27248" y="3383280"/>
            <a:ext cx="16093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Isolated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27248" y="3886200"/>
            <a:ext cx="16093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Indépendant de tout autre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test, de tout ordre.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84648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102352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102352" y="2514600"/>
            <a:ext cx="1938528" cy="82296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266944" y="2715768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546E22"/>
                </a:solidFill>
                <a:latin typeface="Helvetica Neue"/>
              </a:rPr>
              <a:t>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66944" y="3383280"/>
            <a:ext cx="16093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Repeatable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66944" y="3886200"/>
            <a:ext cx="16093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Même résultat : votre machine,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la CI, 3h du matin.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24344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242048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242048" y="2514600"/>
            <a:ext cx="1938528" cy="82296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06640" y="2715768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A83322"/>
                </a:solidFill>
                <a:latin typeface="Helvetica Neue"/>
              </a:rPr>
              <a:t>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3383280"/>
            <a:ext cx="16093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Self-Validating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3886200"/>
            <a:ext cx="16093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Il dit lui-même s'il passe.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Pas de log à relire.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64040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9381744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381744" y="2514600"/>
            <a:ext cx="1938528" cy="82296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546336" y="2715768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22409C"/>
                </a:solidFill>
                <a:latin typeface="Helvetica Neue"/>
              </a:rPr>
              <a:t>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46336" y="3383280"/>
            <a:ext cx="16093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Timely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46336" y="3886200"/>
            <a:ext cx="16093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Écrit avec le code — pas trois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sprints après (jamais).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5349240"/>
            <a:ext cx="10515600" cy="77724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C111F"/>
                </a:solidFill>
                <a:latin typeface="Helvetica Neue"/>
              </a:rPr>
              <a:t>SOLID vous dit comment ranger le code pour qu'il reste maintenable. FIRST vous dit comment ranger les tests pour qu'on continue à leur faire confiance.</a:t>
            </a:r>
          </a:p>
        </p:txBody>
      </p:sp>
      <p:sp>
        <p:nvSpPr>
          <p:cNvPr id="36" name="Isosceles Triangle 35"/>
          <p:cNvSpPr/>
          <p:nvPr/>
        </p:nvSpPr>
        <p:spPr>
          <a:xfrm>
            <a:off x="1143000" y="511149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22960" y="626364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1">
                <a:solidFill>
                  <a:srgbClr val="5C6272"/>
                </a:solidFill>
                <a:latin typeface="Helvetica Neue"/>
              </a:rPr>
              <a:t>Pour mémoire : SOLID = Single responsibility · Open/closed · Liskov substitution · Interface segregation · Dependency inversion.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10/29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ZOOM — CUCUMBER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81D2B"/>
                </a:solidFill>
                <a:latin typeface="Helvetica Neue"/>
              </a:rPr>
              <a:t>Le grand angle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Cucumber teste le comportement observable, de bout en bout, en français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lisible. Le même texte sert de spec fonctionnelle ET de test automatisé.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5256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3063240"/>
            <a:ext cx="73152" cy="141732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Lisible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Même un product owner peut le relire (et le corriger). Sensation forte garantie.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352544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52544" y="3063240"/>
            <a:ext cx="73152" cy="141732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26864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Bout en bout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Passe par la vraie API REST, pas un mock. Comme un vrai client, en moins énervé.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4424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882128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82128" y="3063240"/>
            <a:ext cx="73152" cy="141732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56448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Fonctionnel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Décrit ce que fait le produit, pas comment. Ça change des tickets Jira écrits un vendredi soir.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074920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181D2B"/>
                </a:solidFill>
                <a:latin typeface="Helvetica Neue"/>
              </a:rPr>
              <a:t>Dans notre agenda malin : la création d'événement, la détection de conflit,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181D2B"/>
                </a:solidFill>
                <a:latin typeface="Helvetica Neue"/>
              </a:rPr>
              <a:t>le signalement d'un jour férié — trois scénarios, en français.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11/29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CUCUMBER — EN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81D2B"/>
                </a:solidFill>
                <a:latin typeface="Helvetica Neue"/>
              </a:rPr>
              <a:t>Le scénario que tout le monde comprend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3108960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4128" y="2093976"/>
            <a:ext cx="109728" cy="109728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243584" y="2093976"/>
            <a:ext cx="109728" cy="109728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463040" y="2093976"/>
            <a:ext cx="109728" cy="109728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2441448"/>
            <a:ext cx="987552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E7ECF5"/>
                </a:solidFill>
                <a:latin typeface="Menlo"/>
              </a:rPr>
              <a:t>Scénario: Refus d'un événement qui chevauche un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E7ECF5"/>
                </a:solidFill>
                <a:latin typeface="Menlo"/>
              </a:rPr>
              <a:t>          événement existant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endParaRPr sz="1400" b="0" i="0">
              <a:solidFill>
                <a:srgbClr val="E7ECF5"/>
              </a:solidFill>
              <a:latin typeface="Menlo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E7ECF5"/>
                </a:solidFill>
                <a:latin typeface="Menlo"/>
              </a:rPr>
              <a:t>  Étant donné que j'ai déjà l'événement "Comité de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E7ECF5"/>
                </a:solidFill>
                <a:latin typeface="Menlo"/>
              </a:rPr>
              <a:t>  pilotage" de "14:00" à "15:00" le "2026-09-15"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E7ECF5"/>
                </a:solidFill>
                <a:latin typeface="Menlo"/>
              </a:rPr>
              <a:t>  Quand je crée l'événement "Revue de code" de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E7ECF5"/>
                </a:solidFill>
                <a:latin typeface="Menlo"/>
              </a:rPr>
              <a:t>  "14:30" à "15:30" le "2026-09-15"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E7ECF5"/>
                </a:solidFill>
                <a:latin typeface="Menlo"/>
              </a:rPr>
              <a:t>  Alors la création est refusée pour cause de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E7ECF5"/>
                </a:solidFill>
                <a:latin typeface="Menlo"/>
              </a:rPr>
              <a:t>  conflit d'horaire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303520"/>
            <a:ext cx="98755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81D2B"/>
                </a:solidFill>
                <a:latin typeface="Helvetica Neue"/>
              </a:rPr>
              <a:t>Vous remarquerez que même le scénario de test sait qu'un comité de pilotage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81D2B"/>
                </a:solidFill>
                <a:latin typeface="Helvetica Neue"/>
              </a:rPr>
              <a:t>prend toute la place dans l'agenda. Ça, c'est du réalisme métier.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12/29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LE CLASH (AMICAL)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81D2B"/>
                </a:solidFill>
                <a:latin typeface="Helvetica Neue"/>
              </a:rPr>
              <a:t>JUnit vs Cucumber : qui gagne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276856"/>
            <a:ext cx="4892040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 rot="21510000">
            <a:off x="822960" y="2194560"/>
            <a:ext cx="4892040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194560"/>
            <a:ext cx="4892040" cy="9144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2487168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81D2B"/>
                </a:solidFill>
                <a:latin typeface="Helvetica Neue"/>
              </a:rPr>
              <a:t>JUnit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108960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Rapide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584448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Isolé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059936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Technique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535424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Pour les devs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71616" y="2276856"/>
            <a:ext cx="4892040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 rot="90000">
            <a:off x="5989320" y="2194560"/>
            <a:ext cx="4892040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989320" y="2194560"/>
            <a:ext cx="4892040" cy="9144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2487168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81D2B"/>
                </a:solidFill>
                <a:latin typeface="Helvetica Neue"/>
              </a:rPr>
              <a:t>Cucumber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108960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Lisible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84448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Bout en bout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059936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Fonctionnel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535424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Pour tout le monde</a:t>
            </a:r>
          </a:p>
        </p:txBody>
      </p:sp>
      <p:sp>
        <p:nvSpPr>
          <p:cNvPr id="21" name="Oval 20"/>
          <p:cNvSpPr/>
          <p:nvPr/>
        </p:nvSpPr>
        <p:spPr>
          <a:xfrm>
            <a:off x="5472684" y="1815084"/>
            <a:ext cx="868680" cy="86868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 rot="21120000">
            <a:off x="5417820" y="1760220"/>
            <a:ext cx="868680" cy="86868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100" b="1">
                <a:solidFill>
                  <a:srgbClr val="FFD23F"/>
                </a:solidFill>
                <a:latin typeface="Helvetica Neue"/>
              </a:rPr>
              <a:t>MATCH
NUL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669280"/>
            <a:ext cx="10424160" cy="59436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C111F"/>
                </a:solidFill>
                <a:latin typeface="Helvetica Neue"/>
              </a:rPr>
              <a:t>Spoiler : il n'y a pas de gagnant. Le seul qui gagne, c'est le code — testé sous deux angles.</a:t>
            </a:r>
          </a:p>
        </p:txBody>
      </p:sp>
      <p:sp>
        <p:nvSpPr>
          <p:cNvPr id="24" name="Isosceles Triangle 23"/>
          <p:cNvSpPr/>
          <p:nvPr/>
        </p:nvSpPr>
        <p:spPr>
          <a:xfrm>
            <a:off x="1143000" y="543153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13/29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640080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32688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225296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517904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810512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2103120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395728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688336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2980944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273552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40080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32688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225296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517904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810512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2103120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2395728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688336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2980944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3273552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40080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32688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225296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517904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810512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2103120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2395728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2688336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2980944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3273552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5916168" y="2286000"/>
            <a:ext cx="365760" cy="365760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2960" y="278892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0" b="1" i="0">
                <a:solidFill>
                  <a:srgbClr val="F3EEE0"/>
                </a:solidFill>
                <a:latin typeface="Helvetica Neue"/>
              </a:rPr>
              <a:t>EN DIRECT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51760" y="3977639"/>
            <a:ext cx="6858000" cy="68580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50" b="1" i="1">
                <a:solidFill>
                  <a:srgbClr val="0C111F"/>
                </a:solidFill>
                <a:latin typeface="Helvetica Neue"/>
              </a:rPr>
              <a:t>on arrête PowerPoint. direction le terminal, pour de vrai — fermez Slack pendant qu'on y est</a:t>
            </a:r>
          </a:p>
        </p:txBody>
      </p:sp>
      <p:sp>
        <p:nvSpPr>
          <p:cNvPr id="35" name="Isosceles Triangle 34"/>
          <p:cNvSpPr/>
          <p:nvPr/>
        </p:nvSpPr>
        <p:spPr>
          <a:xfrm>
            <a:off x="2971800" y="3739895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14/29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ZOOM — JACOCO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81D2B"/>
                </a:solidFill>
                <a:latin typeface="Helvetica Neue"/>
              </a:rPr>
              <a:t>Un agent qui espionne le bytecode (légalement)</a:t>
            </a:r>
          </a:p>
        </p:txBody>
      </p:sp>
      <p:sp>
        <p:nvSpPr>
          <p:cNvPr id="5" name="Oval 4"/>
          <p:cNvSpPr/>
          <p:nvPr/>
        </p:nvSpPr>
        <p:spPr>
          <a:xfrm>
            <a:off x="873252" y="2244852"/>
            <a:ext cx="594360" cy="59436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 rot="21240000">
            <a:off x="818388" y="2189988"/>
            <a:ext cx="594360" cy="594360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000" b="1">
                <a:solidFill>
                  <a:srgbClr val="0C11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1945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Au démarrage de la JVM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542032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Un agent Java (-javaagent) s'attache et instrumente chaque classe chargée.</a:t>
            </a:r>
          </a:p>
        </p:txBody>
      </p:sp>
      <p:sp>
        <p:nvSpPr>
          <p:cNvPr id="9" name="Oval 8"/>
          <p:cNvSpPr/>
          <p:nvPr/>
        </p:nvSpPr>
        <p:spPr>
          <a:xfrm>
            <a:off x="873252" y="3296412"/>
            <a:ext cx="594360" cy="59436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 rot="21240000">
            <a:off x="818388" y="3241548"/>
            <a:ext cx="594360" cy="594360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000" b="1">
                <a:solidFill>
                  <a:srgbClr val="0C111F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24612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Pendant les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593592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Chaque ligne, chaque branche exécutée est comptée — en silence, sans ralentir grand-chose. Un espion discret.</a:t>
            </a:r>
          </a:p>
        </p:txBody>
      </p:sp>
      <p:sp>
        <p:nvSpPr>
          <p:cNvPr id="13" name="Oval 12"/>
          <p:cNvSpPr/>
          <p:nvPr/>
        </p:nvSpPr>
        <p:spPr>
          <a:xfrm>
            <a:off x="873252" y="4347972"/>
            <a:ext cx="594360" cy="59436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 rot="21240000">
            <a:off x="818388" y="4293108"/>
            <a:ext cx="594360" cy="594360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000" b="1">
                <a:solidFill>
                  <a:srgbClr val="0C111F"/>
                </a:solidFill>
                <a:latin typeface="Helvetica Neue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2976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À l'arrêt de la JVM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645152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Tout est vidé dans un fichier .exec. Puis jacoco-maven-plugin le transforme en rapport HTML/XML/CSV.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532120"/>
            <a:ext cx="10424160" cy="59436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0C111F"/>
                </a:solidFill>
                <a:latin typeface="Helvetica Neue"/>
              </a:rPr>
              <a:t>Non, ce n'est pas de l'espionnage industriel. C'est juste un agent très curieux, payé en aucune façon.</a:t>
            </a:r>
          </a:p>
        </p:txBody>
      </p:sp>
      <p:sp>
        <p:nvSpPr>
          <p:cNvPr id="18" name="Isosceles Triangle 17"/>
          <p:cNvSpPr/>
          <p:nvPr/>
        </p:nvSpPr>
        <p:spPr>
          <a:xfrm>
            <a:off x="1143000" y="529437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15/29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JACOCO — LE RAPPORT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 dirty="0">
                <a:solidFill>
                  <a:srgbClr val="181D2B"/>
                </a:solidFill>
                <a:latin typeface="Helvetica Neue"/>
              </a:rPr>
              <a:t>Pas </a:t>
            </a:r>
            <a:r>
              <a:rPr sz="2600" b="1" i="0" dirty="0" err="1">
                <a:solidFill>
                  <a:srgbClr val="181D2B"/>
                </a:solidFill>
                <a:latin typeface="Helvetica Neue"/>
              </a:rPr>
              <a:t>une</a:t>
            </a:r>
            <a:r>
              <a:rPr sz="2600" b="1" i="0" dirty="0">
                <a:solidFill>
                  <a:srgbClr val="181D2B"/>
                </a:solidFill>
                <a:latin typeface="Helvetica Neue"/>
              </a:rPr>
              <a:t> maquette </a:t>
            </a:r>
            <a:r>
              <a:rPr lang="fr-FR" sz="2600" b="1" dirty="0" err="1">
                <a:solidFill>
                  <a:srgbClr val="181D2B"/>
                </a:solidFill>
                <a:latin typeface="Helvetica Neue"/>
              </a:rPr>
              <a:t>Canva</a:t>
            </a:r>
            <a:r>
              <a:rPr sz="2600" b="1" i="0" dirty="0">
                <a:solidFill>
                  <a:srgbClr val="181D2B"/>
                </a:solidFill>
                <a:latin typeface="Helvetica Neue"/>
              </a:rPr>
              <a:t>. Le </a:t>
            </a:r>
            <a:r>
              <a:rPr sz="2600" b="1" i="0" dirty="0" err="1">
                <a:solidFill>
                  <a:srgbClr val="181D2B"/>
                </a:solidFill>
                <a:latin typeface="Helvetica Neue"/>
              </a:rPr>
              <a:t>vrai</a:t>
            </a:r>
            <a:r>
              <a:rPr sz="2600" b="1" i="0" dirty="0">
                <a:solidFill>
                  <a:srgbClr val="181D2B"/>
                </a:solidFill>
                <a:latin typeface="Helvetica Neue"/>
              </a:rPr>
              <a:t> rapport.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74519"/>
            <a:ext cx="1051560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2029967"/>
            <a:ext cx="1051560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87552" y="1979675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188720" y="1979675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389888" y="1979675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jacoco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85415"/>
            <a:ext cx="10515600" cy="170221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22960" y="2185415"/>
            <a:ext cx="10515600" cy="1702212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8521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5C6272"/>
                </a:solidFill>
                <a:latin typeface="Helvetica Neue"/>
              </a:rPr>
              <a:t>Vrai export HTML, généré il y a quelques heures, par la commande qu'on vient de lancer. Pas d'entourloupe.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16/29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JACOCO — LA PREUVE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81D2B"/>
                </a:solidFill>
                <a:latin typeface="Helvetica Neue"/>
              </a:rPr>
              <a:t>La branche MENSUELLE, prise en flagrant délit</a:t>
            </a:r>
          </a:p>
        </p:txBody>
      </p:sp>
      <p:sp>
        <p:nvSpPr>
          <p:cNvPr id="5" name="Oval 4"/>
          <p:cNvSpPr/>
          <p:nvPr/>
        </p:nvSpPr>
        <p:spPr>
          <a:xfrm>
            <a:off x="9907524" y="306324"/>
            <a:ext cx="1417320" cy="141732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 rot="21000000">
            <a:off x="9852660" y="251460"/>
            <a:ext cx="1417320" cy="141732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Bissextile 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24328" y="1737360"/>
            <a:ext cx="694944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624328" y="1892808"/>
            <a:ext cx="694944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788920" y="1842516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2990088" y="1842516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191256" y="1842516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jacoco-recurrence-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048256"/>
            <a:ext cx="6949440" cy="4078452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2624328" y="2048256"/>
            <a:ext cx="6949440" cy="4078452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17/29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JACOCO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81D2B"/>
                </a:solidFill>
                <a:latin typeface="Helvetica Neue"/>
              </a:rPr>
              <a:t>Ce que les tests ont vraiment touché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27273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5C6272"/>
                </a:solidFill>
                <a:latin typeface="Helvetica Neue"/>
              </a:rPr>
              <a:t>Mesure réelle, extraite du build — couverture de lignes, JUnit contre Cucumber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11321"/>
            <a:ext cx="2465222" cy="31089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JUnit (unitaire)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1911321"/>
            <a:ext cx="3279952" cy="31089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Cucumber (intégration)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32529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CalendarResource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350233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383280" y="2350233"/>
            <a:ext cx="21945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0" y="2331945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565117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383280" y="2565117"/>
            <a:ext cx="4242816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789920" y="2546829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58%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962881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HolidayService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2880585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383280" y="2880585"/>
            <a:ext cx="21945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789920" y="2862297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83280" y="3095469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3383280" y="3095469"/>
            <a:ext cx="6803136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789920" y="3077181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93%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493233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RecurrenceService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83280" y="3410937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3383280" y="3410937"/>
            <a:ext cx="570585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789920" y="3392649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78%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83280" y="3625821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383280" y="3625821"/>
            <a:ext cx="292608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789920" y="3607533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023585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ConflictDetector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3280" y="3941289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383280" y="3941289"/>
            <a:ext cx="7315200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789920" y="3923001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100%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83280" y="4156173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3383280" y="4156173"/>
            <a:ext cx="5486400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789920" y="4137885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75%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4553937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EventService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83280" y="4471641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3383280" y="4471641"/>
            <a:ext cx="643737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789920" y="4453353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88%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83280" y="4686525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3383280" y="4686525"/>
            <a:ext cx="6437376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789920" y="4668237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88%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084289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RecurrenceRequest (DTO)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383280" y="5001993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3383280" y="5001993"/>
            <a:ext cx="21945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0789920" y="4983705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383280" y="5216877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3383280" y="5216877"/>
            <a:ext cx="219456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789920" y="5198589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5500899"/>
            <a:ext cx="1005840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 dirty="0">
                <a:solidFill>
                  <a:srgbClr val="5C6272"/>
                </a:solidFill>
                <a:latin typeface="Helvetica Neue"/>
              </a:rPr>
              <a:t>JUnit </a:t>
            </a:r>
            <a:r>
              <a:rPr sz="1150" b="0" i="1" dirty="0" err="1">
                <a:solidFill>
                  <a:srgbClr val="5C6272"/>
                </a:solidFill>
                <a:latin typeface="Helvetica Neue"/>
              </a:rPr>
              <a:t>couvre</a:t>
            </a:r>
            <a:r>
              <a:rPr sz="1150" b="0" i="1" dirty="0">
                <a:solidFill>
                  <a:srgbClr val="5C6272"/>
                </a:solidFill>
                <a:latin typeface="Helvetica Neue"/>
              </a:rPr>
              <a:t> la </a:t>
            </a:r>
            <a:r>
              <a:rPr sz="1150" b="0" i="1" dirty="0" err="1">
                <a:solidFill>
                  <a:srgbClr val="5C6272"/>
                </a:solidFill>
                <a:latin typeface="Helvetica Neue"/>
              </a:rPr>
              <a:t>logique</a:t>
            </a:r>
            <a:r>
              <a:rPr sz="1150" b="0" i="1" dirty="0">
                <a:solidFill>
                  <a:srgbClr val="5C6272"/>
                </a:solidFill>
                <a:latin typeface="Helvetica Neue"/>
              </a:rPr>
              <a:t> métier ; Cucumber </a:t>
            </a:r>
            <a:r>
              <a:rPr sz="1150" b="0" i="1" dirty="0" err="1">
                <a:solidFill>
                  <a:srgbClr val="5C6272"/>
                </a:solidFill>
                <a:latin typeface="Helvetica Neue"/>
              </a:rPr>
              <a:t>couvre</a:t>
            </a:r>
            <a:r>
              <a:rPr sz="1150" b="0" i="1" dirty="0">
                <a:solidFill>
                  <a:srgbClr val="5C6272"/>
                </a:solidFill>
                <a:latin typeface="Helvetica Neue"/>
              </a:rPr>
              <a:t> la couche REST — pr</a:t>
            </a:r>
            <a:r>
              <a:rPr lang="fr-FR" sz="1150" b="0" i="1" dirty="0" err="1">
                <a:solidFill>
                  <a:srgbClr val="5C6272"/>
                </a:solidFill>
                <a:latin typeface="Helvetica Neue"/>
              </a:rPr>
              <a:t>é</a:t>
            </a:r>
            <a:r>
              <a:rPr sz="1150" b="0" i="1" dirty="0" err="1">
                <a:solidFill>
                  <a:srgbClr val="5C6272"/>
                </a:solidFill>
                <a:latin typeface="Helvetica Neue"/>
              </a:rPr>
              <a:t>sque</a:t>
            </a:r>
            <a:r>
              <a:rPr sz="1150" b="0" i="1" dirty="0">
                <a:solidFill>
                  <a:srgbClr val="5C6272"/>
                </a:solidFill>
                <a:latin typeface="Helvetica Neue"/>
              </a:rPr>
              <a:t> </a:t>
            </a:r>
            <a:r>
              <a:rPr sz="1150" b="0" i="1" dirty="0" err="1">
                <a:solidFill>
                  <a:srgbClr val="5C6272"/>
                </a:solidFill>
                <a:latin typeface="Helvetica Neue"/>
              </a:rPr>
              <a:t>aucun</a:t>
            </a:r>
            <a:r>
              <a:rPr sz="1150" b="0" i="1" dirty="0">
                <a:solidFill>
                  <a:srgbClr val="5C6272"/>
                </a:solidFill>
                <a:latin typeface="Helvetica Neue"/>
              </a:rPr>
              <a:t> </a:t>
            </a:r>
            <a:r>
              <a:rPr sz="1150" b="0" i="1" dirty="0" err="1">
                <a:solidFill>
                  <a:srgbClr val="5C6272"/>
                </a:solidFill>
                <a:latin typeface="Helvetica Neue"/>
              </a:rPr>
              <a:t>recouvrement</a:t>
            </a:r>
            <a:r>
              <a:rPr sz="1150" b="0" i="1" dirty="0">
                <a:solidFill>
                  <a:srgbClr val="5C6272"/>
                </a:solidFill>
                <a:latin typeface="Helvetica Neue"/>
              </a:rPr>
              <a:t>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67561" y="5832090"/>
            <a:ext cx="10424160" cy="54864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200" b="1" i="0" dirty="0">
                <a:solidFill>
                  <a:srgbClr val="0C111F"/>
                </a:solidFill>
                <a:latin typeface="Helvetica Neue"/>
              </a:rPr>
              <a:t>Mention </a:t>
            </a:r>
            <a:r>
              <a:rPr sz="1200" b="1" i="0" dirty="0" err="1">
                <a:solidFill>
                  <a:srgbClr val="0C111F"/>
                </a:solidFill>
                <a:latin typeface="Helvetica Neue"/>
              </a:rPr>
              <a:t>spéciale</a:t>
            </a:r>
            <a:r>
              <a:rPr sz="1200" b="1" i="0" dirty="0">
                <a:solidFill>
                  <a:srgbClr val="0C111F"/>
                </a:solidFill>
                <a:latin typeface="Helvetica Neue"/>
              </a:rPr>
              <a:t> à </a:t>
            </a:r>
            <a:r>
              <a:rPr sz="1200" b="1" i="0" dirty="0" err="1">
                <a:solidFill>
                  <a:srgbClr val="0C111F"/>
                </a:solidFill>
                <a:latin typeface="Helvetica Neue"/>
              </a:rPr>
              <a:t>RecurrenceRequest</a:t>
            </a:r>
            <a:r>
              <a:rPr sz="1200" b="1" i="0" dirty="0">
                <a:solidFill>
                  <a:srgbClr val="0C111F"/>
                </a:solidFill>
                <a:latin typeface="Helvetica Neue"/>
              </a:rPr>
              <a:t> : 0 % </a:t>
            </a:r>
            <a:r>
              <a:rPr sz="1200" b="1" i="0" dirty="0" err="1">
                <a:solidFill>
                  <a:srgbClr val="0C111F"/>
                </a:solidFill>
                <a:latin typeface="Helvetica Neue"/>
              </a:rPr>
              <a:t>partout</a:t>
            </a:r>
            <a:r>
              <a:rPr sz="1200" b="1" i="0" dirty="0">
                <a:solidFill>
                  <a:srgbClr val="0C111F"/>
                </a:solidFill>
                <a:latin typeface="Helvetica Neue"/>
              </a:rPr>
              <a:t>. Personne </a:t>
            </a:r>
            <a:r>
              <a:rPr sz="1200" b="1" i="0" dirty="0" err="1">
                <a:solidFill>
                  <a:srgbClr val="0C111F"/>
                </a:solidFill>
                <a:latin typeface="Helvetica Neue"/>
              </a:rPr>
              <a:t>n'y</a:t>
            </a:r>
            <a:r>
              <a:rPr sz="1200" b="1" i="0" dirty="0">
                <a:solidFill>
                  <a:srgbClr val="0C111F"/>
                </a:solidFill>
                <a:latin typeface="Helvetica Neue"/>
              </a:rPr>
              <a:t> a jamais touché. Personne.</a:t>
            </a:r>
          </a:p>
        </p:txBody>
      </p:sp>
      <p:sp>
        <p:nvSpPr>
          <p:cNvPr id="52" name="Isosceles Triangle 51"/>
          <p:cNvSpPr/>
          <p:nvPr/>
        </p:nvSpPr>
        <p:spPr>
          <a:xfrm>
            <a:off x="1187601" y="5673406"/>
            <a:ext cx="182880" cy="17697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18/29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SANS OUVRIR DE NAVIGATEUR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F3EEE0"/>
                </a:solidFill>
                <a:latin typeface="Helvetica Neue"/>
              </a:rPr>
              <a:t>Le récap, direct dans le terminal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2395728" y="1645920"/>
            <a:ext cx="7406640" cy="4408607"/>
          </a:xfrm>
          <a:prstGeom prst="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terminal-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1448" y="1691640"/>
            <a:ext cx="7315200" cy="43171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2179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9AA1B5"/>
                </a:solidFill>
                <a:latin typeface="Helvetica Neue"/>
              </a:rPr>
              <a:t>coverage-summary.sh fait le café à votre place : rouge, orange, vert, classe par classe.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19/29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81D2B"/>
                </a:solidFill>
                <a:latin typeface="Helvetica Neue"/>
              </a:rPr>
              <a:t>Trois commandes, un radar complet</a:t>
            </a:r>
          </a:p>
        </p:txBody>
      </p:sp>
      <p:sp>
        <p:nvSpPr>
          <p:cNvPr id="5" name="Oval 4"/>
          <p:cNvSpPr/>
          <p:nvPr/>
        </p:nvSpPr>
        <p:spPr>
          <a:xfrm>
            <a:off x="836676" y="2107692"/>
            <a:ext cx="777240" cy="77724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 rot="21240000">
            <a:off x="781812" y="2052828"/>
            <a:ext cx="777240" cy="777240"/>
          </a:xfrm>
          <a:prstGeom prst="ellipse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600" b="1">
                <a:solidFill>
                  <a:srgbClr val="0C11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12264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Menlo"/>
              </a:rPr>
              <a:t>./mvnw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2560320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Build + JUnit + Cucumber + 3 rapports Jacoco générés automatiquement.</a:t>
            </a:r>
          </a:p>
        </p:txBody>
      </p:sp>
      <p:sp>
        <p:nvSpPr>
          <p:cNvPr id="9" name="Oval 8"/>
          <p:cNvSpPr/>
          <p:nvPr/>
        </p:nvSpPr>
        <p:spPr>
          <a:xfrm>
            <a:off x="836676" y="3433572"/>
            <a:ext cx="777240" cy="77724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 rot="21240000">
            <a:off x="781812" y="3378708"/>
            <a:ext cx="777240" cy="777240"/>
          </a:xfrm>
          <a:prstGeom prst="ellipse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600" b="1">
                <a:solidFill>
                  <a:srgbClr val="0C111F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438144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Menlo"/>
              </a:rPr>
              <a:t>./scripts/coverage-summary.sh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886200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Le récap coloré JUnit / Cucumber / global, côte à côte, dans le terminal.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" y="4759452"/>
            <a:ext cx="777240" cy="77724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 rot="21240000">
            <a:off x="781812" y="4704588"/>
            <a:ext cx="777240" cy="777240"/>
          </a:xfrm>
          <a:prstGeom prst="ellipse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600" b="1">
                <a:solidFill>
                  <a:srgbClr val="0C111F"/>
                </a:solidFill>
                <a:latin typeface="Helvetica Neue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4764024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Menlo"/>
              </a:rPr>
              <a:t>open target/jacoco-report/index.html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5212080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Le détail ligne par ligne — et les variantes -junit / -cucumber pour comparer.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5C6272"/>
                </a:solidFill>
                <a:latin typeface="Helvetica Neue"/>
              </a:rPr>
              <a:t>Rien d'exotique, rien à installer de plus que ce qu'on a déjà dans le pom.xml.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20/29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 dirty="0">
                <a:solidFill>
                  <a:srgbClr val="0C111F"/>
                </a:solidFill>
                <a:latin typeface="Helvetica Neue"/>
              </a:rPr>
              <a:t>BONUS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F3EEE0"/>
                </a:solidFill>
                <a:latin typeface="Helvetica Neue"/>
              </a:rPr>
              <a:t>Et dans un vrai dashboard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C9CEDC"/>
                </a:solidFill>
                <a:latin typeface="Helvetica Neue"/>
              </a:rPr>
              <a:t>Les deux mêmes rapports Jacoco XML, importés tels quels dans SonarQube.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505456"/>
            <a:ext cx="3273552" cy="150876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423160"/>
            <a:ext cx="3273552" cy="150876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3273552" cy="73152"/>
          </a:xfrm>
          <a:prstGeom prst="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327355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FFD23F"/>
                </a:solidFill>
                <a:latin typeface="Helvetica Neue"/>
              </a:rPr>
              <a:t>77,7 %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10128"/>
            <a:ext cx="32735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B0B7C8"/>
                </a:solidFill>
                <a:latin typeface="Helvetica Neue"/>
              </a:rPr>
              <a:t>couverture globale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05456"/>
            <a:ext cx="3273552" cy="150876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352544" y="2423160"/>
            <a:ext cx="3273552" cy="150876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52544" y="2423160"/>
            <a:ext cx="3273552" cy="73152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52544" y="2651760"/>
            <a:ext cx="327355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F0A72E"/>
                </a:solidFill>
                <a:latin typeface="Helvetica Neue"/>
              </a:rPr>
              <a:t>82 %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2544" y="3310128"/>
            <a:ext cx="32735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B0B7C8"/>
                </a:solidFill>
                <a:latin typeface="Helvetica Neue"/>
              </a:rPr>
              <a:t>lignes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4424" y="2505456"/>
            <a:ext cx="3273552" cy="150876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882128" y="2423160"/>
            <a:ext cx="3273552" cy="150876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882128" y="2423160"/>
            <a:ext cx="3273552" cy="73152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82128" y="2651760"/>
            <a:ext cx="327355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2EB0A0"/>
                </a:solidFill>
                <a:latin typeface="Helvetica Neue"/>
              </a:rPr>
              <a:t>65 %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8" y="3310128"/>
            <a:ext cx="32735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B0B7C8"/>
                </a:solidFill>
                <a:latin typeface="Helvetica Neue"/>
              </a:rPr>
              <a:t>branches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9875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9AA1B5"/>
                </a:solidFill>
                <a:latin typeface="Helvetica Neue"/>
              </a:rPr>
              <a:t>Mesure réelle, obtenue en lançant l'analyse sur ce projet — pas une maquette.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709160"/>
            <a:ext cx="10515600" cy="1005840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024128" y="4837176"/>
            <a:ext cx="109728" cy="109728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1243584" y="4837176"/>
            <a:ext cx="109728" cy="109728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463040" y="4837176"/>
            <a:ext cx="109728" cy="109728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143000" y="518464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E7ECF5"/>
                </a:solidFill>
                <a:latin typeface="Menlo"/>
              </a:rPr>
              <a:t>docker compose -f sonarqube/docker-compose.yml up -d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E7ECF5"/>
                </a:solidFill>
                <a:latin typeface="Menlo"/>
              </a:rPr>
              <a:t>./mvnw test sonar:sonar -Dsonar.token=&lt;ton_token&gt;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943600"/>
            <a:ext cx="9875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9AA1B5"/>
                </a:solidFill>
                <a:latin typeface="Helvetica Neue"/>
              </a:rPr>
              <a:t>SonarQube Community en local — aucun compte SonarCloud, aucune dépendance réseau pendant le talk.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21/29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SONARQUBE —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81D2B"/>
                </a:solidFill>
                <a:latin typeface="Helvetica Neue"/>
              </a:rPr>
              <a:t>Coverage 77,7 %, en vrai, dans l'interface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81528" y="1783080"/>
            <a:ext cx="603504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081528" y="1938528"/>
            <a:ext cx="603504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246120" y="1888236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447288" y="1888236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648456" y="1888236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onar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2093976"/>
            <a:ext cx="6035040" cy="37719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081528" y="2093976"/>
            <a:ext cx="6035040" cy="3771900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C6272"/>
                </a:solidFill>
                <a:latin typeface="Helvetica Neue"/>
              </a:rPr>
              <a:t>Sonar ne mesure rien lui-même : il relit ce que Jacoco a déjà dit et fait semblant d'avoir tout calculé.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22/29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SONARQUBE — MESURES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81D2B"/>
                </a:solidFill>
                <a:latin typeface="Helvetica Neue"/>
              </a:rPr>
              <a:t>Le détail, fichier par fichier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81528" y="1783080"/>
            <a:ext cx="603504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081528" y="1938528"/>
            <a:ext cx="603504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246120" y="1888236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447288" y="1888236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648456" y="1888236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onar-coverage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2093976"/>
            <a:ext cx="6035040" cy="37719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081528" y="2093976"/>
            <a:ext cx="6035040" cy="3771900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C6272"/>
                </a:solidFill>
                <a:latin typeface="Helvetica Neue"/>
              </a:rPr>
              <a:t>Mêmes pourcentages que dans notre terminal. Même vérité, vitrine plus chère.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23/29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SONARQUBE — LA PREUVE, ENCORE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81D2B"/>
                </a:solidFill>
                <a:latin typeface="Helvetica Neue"/>
              </a:rPr>
              <a:t>Même branche rouge, autre outil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81528" y="1737360"/>
            <a:ext cx="603504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081528" y="1892808"/>
            <a:ext cx="603504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246120" y="1842516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447288" y="1842516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648456" y="1842516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onar-code-drill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2048256"/>
            <a:ext cx="6035040" cy="37719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081528" y="2048256"/>
            <a:ext cx="6035040" cy="3771900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C6272"/>
                </a:solidFill>
                <a:latin typeface="Helvetica Neue"/>
              </a:rPr>
              <a:t>Pas un artefact d'un outil bizarre : un fait sur votre code, confirmé deux fois de suite.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24/29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CONFESSIONS COLLECTIVES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81D2B"/>
                </a:solidFill>
                <a:latin typeface="Helvetica Neue"/>
              </a:rPr>
              <a:t>Le best-of des excuses pour ne pas tester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67128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214884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Ça marche sur ma machine.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46888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Votre machine n'ira pas en prod avec vous. Elle ne peut pas témoigner.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25496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80720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On testera après le sprint. 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2724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Le sprint suivant aussi. Et celui d'après. À ce rythme, on teste au démantèlement.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483864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465576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C'est trop simple pour bugger. 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785616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Neuf incidents de prod sur dix commencent exactement comme ça.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142232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123944"/>
            <a:ext cx="9601200" cy="2231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 dirty="0">
                <a:solidFill>
                  <a:srgbClr val="181D2B"/>
                </a:solidFill>
                <a:latin typeface="Helvetica Neue"/>
              </a:rPr>
              <a:t>« </a:t>
            </a:r>
            <a:r>
              <a:rPr lang="fr-FR" sz="1450" b="1" i="0" dirty="0">
                <a:solidFill>
                  <a:srgbClr val="181D2B"/>
                </a:solidFill>
                <a:latin typeface="Helvetica Neue"/>
              </a:rPr>
              <a:t>C’est bon les tests passent toujours</a:t>
            </a:r>
            <a:r>
              <a:rPr sz="1450" b="1" i="0" dirty="0">
                <a:solidFill>
                  <a:srgbClr val="181D2B"/>
                </a:solidFill>
                <a:latin typeface="Helvetica Neue"/>
              </a:rPr>
              <a:t> 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443984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Un mardi après-midi ensoleillé, à la main, une seule fois.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800600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782312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100 % de couverture, on n'a plus besoin de relire. 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102352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La couverture mesure ce qui a été EXÉCUTÉ. Pas ce qui a été VÉRIFIÉ.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806440"/>
            <a:ext cx="10515600" cy="64008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0C111F"/>
                </a:solidFill>
                <a:latin typeface="Helvetica Neue"/>
              </a:rPr>
              <a:t>Spoiler : aucune de ces cinq phrases n'a jamais empêché un incendie en prod. Pas une seule. J'ai vérifié. Enfin... je crois.</a:t>
            </a:r>
          </a:p>
        </p:txBody>
      </p:sp>
      <p:sp>
        <p:nvSpPr>
          <p:cNvPr id="21" name="Isosceles Triangle 20"/>
          <p:cNvSpPr/>
          <p:nvPr/>
        </p:nvSpPr>
        <p:spPr>
          <a:xfrm>
            <a:off x="1143000" y="556869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25/29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RETOUR D'EXPÉRIENCE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F3EEE0"/>
                </a:solidFill>
                <a:latin typeface="Helvetica Neue"/>
              </a:rPr>
              <a:t>Deux pièges qu'on a vraiment eus en préparant cette conf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05256" y="2185416"/>
            <a:ext cx="10515600" cy="173736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10515600" cy="173736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91440" cy="173736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2286000"/>
            <a:ext cx="9966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3EEE0"/>
                </a:solidFill>
                <a:latin typeface="Helvetica Neue"/>
              </a:rPr>
              <a:t>Le QuarkusClassLoader fantôme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24912"/>
            <a:ext cx="99669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B0B7C8"/>
                </a:solidFill>
                <a:latin typeface="Helvetica Neue"/>
              </a:rPr>
              <a:t>Deux exécutions Surefire, deux agents Jacoco... et pourtant tout à 0 %. Coupable : l'extension quarkus-jacoco mesure le code CDI toute seule, dans son coin, sans prévenir personne.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" y="4242816"/>
            <a:ext cx="10515600" cy="173736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22960" y="4160520"/>
            <a:ext cx="10515600" cy="173736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4160520"/>
            <a:ext cx="91440" cy="173736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88720" y="4343400"/>
            <a:ext cx="9966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3EEE0"/>
                </a:solidFill>
                <a:latin typeface="Helvetica Neue"/>
              </a:rPr>
              <a:t>L'accent qui a cassé Gherkin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782312"/>
            <a:ext cx="99669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B0B7C8"/>
                </a:solidFill>
                <a:latin typeface="Helvetica Neue"/>
              </a:rPr>
              <a:t>« Fonctionnalite » sans accent ne veut RIEN dire pour un parseur Gherkin en français. Un é manquant, et Cucumber devient aussi utile qu'un GPS sans signal.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99632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FFD23F"/>
                </a:solidFill>
                <a:latin typeface="Helvetica Neue"/>
              </a:rPr>
              <a:t>Le seul avantage qu'on a eu sur vous : un rapport de couverture pour le prouver noir sur blanc.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26/29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3EEE0"/>
                </a:solidFill>
                <a:latin typeface="Helvetica Neue"/>
              </a:rPr>
              <a:t>Ce qu'il faut retenir</a:t>
            </a:r>
          </a:p>
        </p:txBody>
      </p:sp>
      <p:sp>
        <p:nvSpPr>
          <p:cNvPr id="4" name="Oval 3"/>
          <p:cNvSpPr/>
          <p:nvPr/>
        </p:nvSpPr>
        <p:spPr>
          <a:xfrm>
            <a:off x="10273284" y="443484"/>
            <a:ext cx="1051560" cy="105156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 rot="360000">
            <a:off x="10218420" y="388620"/>
            <a:ext cx="1051560" cy="105156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tl;dr</a:t>
            </a:r>
          </a:p>
        </p:txBody>
      </p:sp>
      <p:sp>
        <p:nvSpPr>
          <p:cNvPr id="6" name="Oval 5"/>
          <p:cNvSpPr/>
          <p:nvPr/>
        </p:nvSpPr>
        <p:spPr>
          <a:xfrm>
            <a:off x="946404" y="2153412"/>
            <a:ext cx="685800" cy="68580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 rot="21240000">
            <a:off x="891540" y="2098548"/>
            <a:ext cx="685800" cy="68580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200" b="1">
                <a:solidFill>
                  <a:srgbClr val="0C111F"/>
                </a:solidFill>
                <a:latin typeface="Helvetica Neue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167128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F3EEE0"/>
                </a:solidFill>
                <a:latin typeface="Helvetica Neue"/>
              </a:rPr>
              <a:t>Un test vert ne dit pas ce qu'il a vérifié.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63347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A1B5"/>
                </a:solidFill>
                <a:latin typeface="Helvetica Neue"/>
              </a:rPr>
              <a:t>La couverture, si.</a:t>
            </a:r>
          </a:p>
        </p:txBody>
      </p:sp>
      <p:sp>
        <p:nvSpPr>
          <p:cNvPr id="10" name="Oval 9"/>
          <p:cNvSpPr/>
          <p:nvPr/>
        </p:nvSpPr>
        <p:spPr>
          <a:xfrm>
            <a:off x="946404" y="3250692"/>
            <a:ext cx="685800" cy="68580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 rot="21240000">
            <a:off x="891540" y="3195828"/>
            <a:ext cx="685800" cy="68580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200" b="1">
                <a:solidFill>
                  <a:srgbClr val="0C111F"/>
                </a:solidFill>
                <a:latin typeface="Helvetica Neue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264408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F3EEE0"/>
                </a:solidFill>
                <a:latin typeface="Helvetica Neue"/>
              </a:rPr>
              <a:t>JUnit et Cucumber répondent à deux questions différentes.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373075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A1B5"/>
                </a:solidFill>
                <a:latin typeface="Helvetica Neue"/>
              </a:rPr>
              <a:t>« Ça marche ? » contre « c'est le bon comportement ? »</a:t>
            </a:r>
          </a:p>
        </p:txBody>
      </p:sp>
      <p:sp>
        <p:nvSpPr>
          <p:cNvPr id="14" name="Oval 13"/>
          <p:cNvSpPr/>
          <p:nvPr/>
        </p:nvSpPr>
        <p:spPr>
          <a:xfrm>
            <a:off x="946404" y="4347972"/>
            <a:ext cx="685800" cy="68580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 rot="21240000">
            <a:off x="891540" y="4293108"/>
            <a:ext cx="685800" cy="68580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200" b="1">
                <a:solidFill>
                  <a:srgbClr val="0C111F"/>
                </a:solidFill>
                <a:latin typeface="Helvetica Ne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4361688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F3EEE0"/>
                </a:solidFill>
                <a:latin typeface="Helvetica Neue"/>
              </a:rPr>
              <a:t>Le rapport de couverture n'est pas un objectif.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482803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A1B5"/>
                </a:solidFill>
                <a:latin typeface="Helvetica Neue"/>
              </a:rPr>
              <a:t>C'est un radar : il montre où regarder en premier.</a:t>
            </a:r>
          </a:p>
        </p:txBody>
      </p:sp>
      <p:sp>
        <p:nvSpPr>
          <p:cNvPr id="18" name="Oval 17"/>
          <p:cNvSpPr/>
          <p:nvPr/>
        </p:nvSpPr>
        <p:spPr>
          <a:xfrm>
            <a:off x="946404" y="5445252"/>
            <a:ext cx="685800" cy="68580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 rot="21240000">
            <a:off x="891540" y="5390388"/>
            <a:ext cx="685800" cy="68580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200" b="1">
                <a:solidFill>
                  <a:srgbClr val="0C111F"/>
                </a:solidFill>
                <a:latin typeface="Helvetica Neue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5458968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F3EEE0"/>
                </a:solidFill>
                <a:latin typeface="Helvetica Neue"/>
              </a:rPr>
              <a:t>Un outil ne remplace pas la question qu'on ne s'est pas posée.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592531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A1B5"/>
                </a:solidFill>
                <a:latin typeface="Helvetica Neue"/>
              </a:rPr>
              <a:t>Ni Jacoco, ni Sonar, ni celui d'après.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27/29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POUR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81D2B"/>
                </a:solidFill>
                <a:latin typeface="Helvetica Neue"/>
              </a:rPr>
              <a:t>Si vous voulez creuser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6420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C6272"/>
                </a:solidFill>
                <a:latin typeface="Helvetica Neue"/>
              </a:rPr>
              <a:t>Code et scripts, en clair. Le reste (mes doutes existentiels sur plusMonths()) reste entre moi et mon terminal.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432304"/>
            <a:ext cx="146304" cy="14630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2377440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Le dépôt de ce projet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24912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Menlo"/>
              </a:rPr>
              <a:t>github.com/sidevconcept/couverture-junit-cucumber-jacoco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328416"/>
            <a:ext cx="146304" cy="146304"/>
          </a:xfrm>
          <a:prstGeom prst="ellipse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88720" y="3273552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Guide Quarkus + Jacoco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621024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Menlo"/>
              </a:rPr>
              <a:t>quarkus.io/guides/tests-with-coverage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224528"/>
            <a:ext cx="146304" cy="146304"/>
          </a:xfrm>
          <a:prstGeom prst="ellipse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88720" y="4169664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Extension Cucumber pour Quarkus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517136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Menlo"/>
              </a:rPr>
              <a:t>docs.quarkiverse.io/quarkus-cucumber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5120640"/>
            <a:ext cx="146304" cy="14630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88720" y="5065776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SonarQube Community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5413248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Menlo"/>
              </a:rPr>
              <a:t>docs.sonarsource.com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28/29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640080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32688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225296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517904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810512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2103120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40080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32688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225296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517904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810512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103120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40080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32688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225296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517904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810512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103120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2194560"/>
            <a:ext cx="75895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00" b="1">
                <a:solidFill>
                  <a:srgbClr val="F3EEE0"/>
                </a:solidFill>
                <a:latin typeface="Helvetica Neue"/>
              </a:rPr>
              <a:t>Merci.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29184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0" i="0">
                <a:solidFill>
                  <a:srgbClr val="FFD23F"/>
                </a:solidFill>
                <a:latin typeface="Helvetica Neue"/>
              </a:rPr>
              <a:t>Questions 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3886200"/>
            <a:ext cx="6949440" cy="91440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0C111F"/>
                </a:solidFill>
                <a:latin typeface="Helvetica Neue"/>
              </a:rPr>
              <a:t>et si quelqu'un me dit « chez nous on a 100 % de couverture », je réponds déjà : sur quelle branche ?</a:t>
            </a:r>
          </a:p>
        </p:txBody>
      </p:sp>
      <p:sp>
        <p:nvSpPr>
          <p:cNvPr id="23" name="Isosceles Triangle 22"/>
          <p:cNvSpPr/>
          <p:nvPr/>
        </p:nvSpPr>
        <p:spPr>
          <a:xfrm>
            <a:off x="1188720" y="364845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603504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9AA1B5"/>
                </a:solidFill>
                <a:latin typeface="Helvetica Neue"/>
              </a:rPr>
              <a:t>https://github.com/sidevconcept/couverture-junit-cucumber-jacoco  —  sidev.concept06@gmail.com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196596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D23F"/>
                </a:solidFill>
                <a:latin typeface="Helvetica Neue"/>
              </a:rPr>
              <a:t>Scanne-moi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96528" y="2258568"/>
            <a:ext cx="2432304" cy="2432304"/>
          </a:xfrm>
          <a:prstGeom prst="rect">
            <a:avLst/>
          </a:prstGeom>
          <a:solidFill>
            <a:srgbClr val="FB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qr-git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2331720"/>
            <a:ext cx="2286000" cy="228600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1090</TotalTime>
  <Words>2636</Words>
  <Application>Microsoft Macintosh PowerPoint</Application>
  <PresentationFormat>Grand écran</PresentationFormat>
  <Paragraphs>367</Paragraphs>
  <Slides>29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29</vt:i4>
      </vt:variant>
    </vt:vector>
  </HeadingPairs>
  <TitlesOfParts>
    <vt:vector size="34" baseType="lpstr">
      <vt:lpstr>Arial</vt:lpstr>
      <vt:lpstr>Calibri</vt:lpstr>
      <vt:lpstr>Helvetica Neue</vt:lpstr>
      <vt:lpstr>Menlo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Sidney Cohen</cp:lastModifiedBy>
  <cp:revision>4</cp:revision>
  <dcterms:created xsi:type="dcterms:W3CDTF">2013-01-27T09:14:16Z</dcterms:created>
  <dcterms:modified xsi:type="dcterms:W3CDTF">2026-09-16T09:39:35Z</dcterms:modified>
  <cp:category/>
</cp:coreProperties>
</file>