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429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dirty="0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lang="fr-FR" sz="4600" b="1" dirty="0">
                <a:solidFill>
                  <a:srgbClr val="FFD23F"/>
                </a:solidFill>
                <a:latin typeface="Helvetica Neue"/>
              </a:rPr>
              <a:t>n’est jamais à 100%</a:t>
            </a:r>
            <a:endParaRPr sz="4600" b="1" dirty="0">
              <a:solidFill>
                <a:srgbClr val="FFD23F"/>
              </a:solidFill>
              <a:latin typeface="Helvetica Neue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Sidney Cohen — 13 octobre 2026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A5A10"/>
                </a:solidFill>
                <a:latin typeface="Helvetica Neue"/>
              </a:rPr>
              <a:t>Sidney Cohen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10 ans de Java, 21 ans de dev au total — assez pour avoir déjà tout cassé au moins une fois. Deux, si on compte la prod.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Écrit des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Forcé d'écrire des tests sous la contrainte : pas de tests, pas de PR validée. Ma phrase préférée reste « c'est bon, les tests sont tous verts » — vous allez vite comprendre pourquoi elle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Honnêtement ? C'était soit ça, soit vous refaire une présentation sur l'IA. Vous l'avez échappé belle.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confidentiel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Démo : le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rapport, dans un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15568" y="2148840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99632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65960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92240" y="2148840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4270247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5568" y="4453127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270247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92240" y="4453127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THÉORIE (VITE FAIT)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81D2B"/>
                </a:solidFill>
                <a:latin typeface="Helvetica Neue"/>
              </a:rPr>
              <a:t>SOLID est au clean code ce que </a:t>
            </a:r>
            <a:r>
              <a:rPr sz="2600" b="1">
                <a:solidFill>
                  <a:srgbClr val="F0A72E"/>
                </a:solidFill>
                <a:latin typeface="Helvetica Neue"/>
              </a:rPr>
              <a:t>FIRST</a:t>
            </a:r>
            <a:r>
              <a:rPr sz="2600" b="1">
                <a:solidFill>
                  <a:srgbClr val="181D2B"/>
                </a:solidFill>
                <a:latin typeface="Helvetica Neue"/>
              </a:rPr>
              <a:t> est au test unitaire.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938528" cy="82296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5A10"/>
                </a:solidFill>
                <a:latin typeface="Helvetica Neue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Rapide — sinon on arrête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de les 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62656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62656" y="2514600"/>
            <a:ext cx="1938528" cy="82296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27248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B6E62"/>
                </a:solidFill>
                <a:latin typeface="Helvetica Neue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Isolated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Indépendant de tout autre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test, de tout ordre.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102352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02352" y="2514600"/>
            <a:ext cx="1938528" cy="82296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6944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546E22"/>
                </a:solidFill>
                <a:latin typeface="Helvetica Neue"/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Repeatable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Même résultat : votre machine,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la CI, 3h du matin.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242048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42048" y="2514600"/>
            <a:ext cx="1938528" cy="82296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A83322"/>
                </a:solidFill>
                <a:latin typeface="Helvetica Neue"/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Self-Validating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Il dit lui-même s'il passe.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Pas de log à relire.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81744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381744" y="2514600"/>
            <a:ext cx="1938528" cy="82296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46336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2409C"/>
                </a:solidFill>
                <a:latin typeface="Helvetica Neue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Timely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Écrit avec le code — pas trois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sprints après (jamais).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10515600" cy="7772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111F"/>
                </a:solidFill>
                <a:latin typeface="Helvetica Neue"/>
              </a:rPr>
              <a:t>SOLID vous dit comment ranger le code pour qu'il reste maintenable. FIRST vous dit comment ranger les tests pour qu'on continue à leur faire confiance.</a:t>
            </a:r>
          </a:p>
        </p:txBody>
      </p:sp>
      <p:sp>
        <p:nvSpPr>
          <p:cNvPr id="36" name="Isosceles Triangle 35"/>
          <p:cNvSpPr/>
          <p:nvPr/>
        </p:nvSpPr>
        <p:spPr>
          <a:xfrm>
            <a:off x="1143000" y="51114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C6272"/>
                </a:solidFill>
                <a:latin typeface="Helvetica Neue"/>
              </a:rPr>
              <a:t>Pour mémoire : SOLID = Single responsibility · Open/closed · Liskov substitution · Interface segregation · Dependency inversion.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lang="fr-FR" sz="3200" b="1" i="0" dirty="0">
                <a:solidFill>
                  <a:srgbClr val="181D2B"/>
                </a:solidFill>
                <a:latin typeface="Helvetica Neue"/>
              </a:rPr>
              <a:t>zoom</a:t>
            </a:r>
            <a:endParaRPr sz="3200" b="1" i="0" dirty="0">
              <a:solidFill>
                <a:srgbClr val="181D2B"/>
              </a:solidFill>
              <a:latin typeface="Helvetica Neue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pure, testée sans jamais démarrer Quarkus.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9937" y="2133226"/>
            <a:ext cx="11091672" cy="2115385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01105" y="2261241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0561" y="2261241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40017" y="2261241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976" y="2608713"/>
            <a:ext cx="10532327" cy="1322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E7ECF5"/>
                </a:solidFill>
                <a:latin typeface="Menlo"/>
              </a:rPr>
              <a:t>Scénario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: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d'un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qui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chevauche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un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existant</a:t>
            </a: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Étant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donné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que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j'ai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déjà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Comité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depilotage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Quand je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"Revue de code"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Alors la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création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est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pour cause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conflit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d'horaire</a:t>
            </a:r>
            <a:endParaRPr sz="1400" b="0" i="0" dirty="0">
              <a:solidFill>
                <a:srgbClr val="E7ECF5"/>
              </a:solidFill>
              <a:latin typeface="Menl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1"/>
            <a:ext cx="9875520" cy="7799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181D2B"/>
                </a:solidFill>
                <a:latin typeface="Helvetica Neue"/>
              </a:rPr>
              <a:t>Vous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remarquerez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le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scénario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test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sait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qu'un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comité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pilotage</a:t>
            </a:r>
            <a:r>
              <a:rPr lang="fr-FR"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prend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toute la place dans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l'agenda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.</a:t>
            </a:r>
            <a:endParaRPr lang="fr-FR" sz="1400" b="0" i="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,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c'est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du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réalisme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2" name="Oval 21"/>
          <p:cNvSpPr/>
          <p:nvPr/>
        </p:nvSpPr>
        <p:spPr>
          <a:xfrm rot="21120000">
            <a:off x="5252870" y="1762162"/>
            <a:ext cx="1068669" cy="1037731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dirty="0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13/29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on arrête PowerPoint. direction le terminal, pour de vrai — fermez Slack pendant qu'on y est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14/29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15/29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 dirty="0">
                <a:solidFill>
                  <a:srgbClr val="181D2B"/>
                </a:solidFill>
                <a:latin typeface="Helvetica Neue"/>
              </a:rPr>
              <a:t>Pas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maquette</a:t>
            </a:r>
            <a:r>
              <a:rPr lang="fr-FR" sz="2600" b="1" i="0" dirty="0">
                <a:solidFill>
                  <a:srgbClr val="181D2B"/>
                </a:solidFill>
                <a:latin typeface="Helvetica Neue"/>
              </a:rPr>
              <a:t>..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. Le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011680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328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45059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245059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0" y="24323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6547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2665476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26471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98094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83280" y="2980944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29626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19582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83280" y="3195828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0" y="31775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51129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83280" y="3511296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0" y="3493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72618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83280" y="3726180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0" y="37078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23944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0" y="40233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25653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4256532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89920" y="42382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54296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57200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83280" y="4572000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9920" y="45537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78688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83280" y="4786884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0" y="47685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18464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10235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383280" y="510235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0" y="50840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31723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383280" y="5317236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52989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C6272"/>
                </a:solidFill>
                <a:latin typeface="Helvetica Neue"/>
              </a:rPr>
              <a:t>JUnit couvre la logique métier ; Cucumber couvre la couche REST — presque aucun recouvrement.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94360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C111F"/>
                </a:solidFill>
                <a:latin typeface="Helvetica Neue"/>
              </a:rPr>
              <a:t>Mention spéciale à RecurrenceRequest : 0 % partout. Personne n'y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43000" y="57058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18/29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19/29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20/29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 dirty="0">
                <a:solidFill>
                  <a:srgbClr val="0C111F"/>
                </a:solidFill>
                <a:latin typeface="Helvetica Neue"/>
              </a:rPr>
              <a:t>BONUS </a:t>
            </a:r>
            <a:r>
              <a:rPr lang="fr-FR" sz="1150" b="1" dirty="0">
                <a:solidFill>
                  <a:srgbClr val="0C111F"/>
                </a:solidFill>
                <a:latin typeface="Helvetica Neue"/>
              </a:rPr>
              <a:t>SONAR</a:t>
            </a:r>
            <a:endParaRPr sz="1150" b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21/29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22/29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Le détail, fichier par fichier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Mêmes pourcentages que dans notre terminal. Même vérité, vitrine plus chère.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24/29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Le stagiaire a dit que ça passait.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25/29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3EEE0"/>
                </a:solidFill>
                <a:latin typeface="Helvetica Neue"/>
              </a:rPr>
              <a:t>Deux pièges qu'on a vraiment eus en préparant cette conf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5256" y="21854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91440" cy="173736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Le QuarkusClassLoader fantôme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Deux exécutions Surefire, deux agents Jacoco... et pourtant tout à 0 %. Coupable : l'extension quarkus-jacoco mesure le code CDI toute seule, dans son coin, sans prévenir personne.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" y="42428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4160520"/>
            <a:ext cx="91440" cy="173736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L'accent qui a cassé Gherkin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2312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« Fonctionnalite » sans accent ne veut RIEN dire pour un parseur Gherkin en français. Un é manquant, et Cucumber devient aussi utile qu'un GPS sans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FFD23F"/>
                </a:solidFill>
                <a:latin typeface="Helvetica Neue"/>
              </a:rPr>
              <a:t>Le seul avantage qu'on a eu sur vous : un rapport de couverture pour le prouver noir sur blanc.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26/29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18" name="Oval 17"/>
          <p:cNvSpPr/>
          <p:nvPr/>
        </p:nvSpPr>
        <p:spPr>
          <a:xfrm>
            <a:off x="946404" y="544525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 rot="21240000">
            <a:off x="891540" y="539038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45896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outil ne remplace pas la question qu'on ne s'est pas posée.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92531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Ni Jacoco, ni Sonar, ni celui d'après.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27/29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28/29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19659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D23F"/>
                </a:solidFill>
                <a:latin typeface="Helvetica Neue"/>
              </a:rPr>
              <a:t>Scanne-moi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258568"/>
            <a:ext cx="1472184" cy="147218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qr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331720"/>
            <a:ext cx="1325880" cy="13258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369296" y="2258568"/>
            <a:ext cx="1472184" cy="147218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2331720"/>
            <a:ext cx="1325880" cy="1325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41080" y="3840480"/>
            <a:ext cx="1472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AA1B5"/>
                </a:solidFill>
                <a:latin typeface="Helvetica Neue"/>
              </a:rPr>
              <a:t>GitHub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9296" y="3840480"/>
            <a:ext cx="1472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AA1B5"/>
                </a:solidFill>
                <a:latin typeface="Helvetica Neue"/>
              </a:rPr>
              <a:t>LinkedIn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5758</TotalTime>
  <Words>2633</Words>
  <Application>Microsoft Macintosh PowerPoint</Application>
  <PresentationFormat>Grand écran</PresentationFormat>
  <Paragraphs>366</Paragraphs>
  <Slides>29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4" baseType="lpstr">
      <vt:lpstr>Arial</vt:lpstr>
      <vt:lpstr>Calibri</vt:lpstr>
      <vt:lpstr>Helvetica Neue</vt:lpstr>
      <vt:lpstr>Menlo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5</cp:revision>
  <dcterms:created xsi:type="dcterms:W3CDTF">2013-01-27T09:14:16Z</dcterms:created>
  <dcterms:modified xsi:type="dcterms:W3CDTF">2026-10-12T19:09:41Z</dcterms:modified>
  <cp:category/>
</cp:coreProperties>
</file>