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778240" y="-1097280"/>
            <a:ext cx="5669280" cy="9144000"/>
          </a:xfrm>
          <a:prstGeom prst="parallelogram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50292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39528" y="50292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32136" y="50292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24744" y="50292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17352" y="50292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46920" y="795528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39528" y="795528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32136" y="795528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24744" y="795528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817352" y="795528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46920" y="1088136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39528" y="1088136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32136" y="1088136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24744" y="1088136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17352" y="1088136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46920" y="1380744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39528" y="1380744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32136" y="1380744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524744" y="1380744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17352" y="1380744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6920" y="1673352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39528" y="1673352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32136" y="1673352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24744" y="1673352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17352" y="1673352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46920" y="196596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39528" y="196596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32136" y="196596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24744" y="196596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817352" y="196596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" y="2057400"/>
            <a:ext cx="91440" cy="1874519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166420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CONFÉRENCE TECHNIQUE (OU THÉRAPIE DE GROUPE)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148840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F3EEE0"/>
                </a:solidFill>
                <a:latin typeface="Helvetica Neue"/>
              </a:rPr>
              <a:t>La couverture de code,
</a:t>
            </a:r>
            <a:r>
              <a:rPr sz="4600" b="1">
                <a:solidFill>
                  <a:srgbClr val="FFD23F"/>
                </a:solidFill>
                <a:latin typeface="Helvetica Neue"/>
              </a:rPr>
              <a:t>sans blabla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F0A72E"/>
                </a:solidFill>
                <a:latin typeface="Helvetica Neue"/>
              </a:rPr>
              <a:t>Quarkus  ·  JUnit  ·  Cucumber  ·  Jacoco  ·  (un peu de Sonar en bonus)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4348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9CEDC"/>
                </a:solidFill>
                <a:latin typeface="Helvetica Neue"/>
              </a:rPr>
              <a:t>Où l'on découvre que « 100 % de couverture » ne veut pas dire « 0 bug 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1B5"/>
                </a:solidFill>
                <a:latin typeface="Helvetica Neue"/>
              </a:rPr>
              <a:t>Sidney Cohen — 13 octobre 2026</a:t>
            </a:r>
          </a:p>
        </p:txBody>
      </p:sp>
      <p:sp>
        <p:nvSpPr>
          <p:cNvPr id="39" name="Oval 38"/>
          <p:cNvSpPr/>
          <p:nvPr/>
        </p:nvSpPr>
        <p:spPr>
          <a:xfrm>
            <a:off x="9610344" y="4626864"/>
            <a:ext cx="1554480" cy="15544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 rot="21000000">
            <a:off x="9555480" y="4572000"/>
            <a:ext cx="1554480" cy="15544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100%
authentique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Qui suis-je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A5A10"/>
                </a:solidFill>
                <a:latin typeface="Helvetica Neue"/>
              </a:rPr>
              <a:t>Sidney Cohen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27249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Développeur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93008"/>
            <a:ext cx="2724912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10 ans de Java, 21 ans de dev au total — assez pour avoir déjà tout cassé au moins une fois. Deux, si on compte la prod.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52544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395728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2724912"/>
            <a:ext cx="27249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Écrit des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93008"/>
            <a:ext cx="2724912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Forcé d'écrire des tests sous la contrainte : pas de tests, pas de PR validée. Ma phrase préférée reste « c'est bon, les tests sont tous verts » — vous allez vite comprendre pourquoi elle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82128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8" y="2395728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4736" y="2724912"/>
            <a:ext cx="27249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Ici pour une raison précise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93008"/>
            <a:ext cx="2724912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Honnêtement ? C'était soit ça, soit vous refaire une présentation sur l'IA. Vous l'avez échappé belle.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1920240"/>
            <a:ext cx="1828800" cy="566928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confidentiel</a:t>
            </a:r>
          </a:p>
        </p:txBody>
      </p:sp>
      <p:sp>
        <p:nvSpPr>
          <p:cNvPr id="22" name="Isosceles Triangle 21"/>
          <p:cNvSpPr/>
          <p:nvPr/>
        </p:nvSpPr>
        <p:spPr>
          <a:xfrm rot="10800000">
            <a:off x="6922008" y="2468880"/>
            <a:ext cx="256032" cy="256032"/>
          </a:xfrm>
          <a:prstGeom prst="triangl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0" y="1920240"/>
            <a:ext cx="38404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0" b="1" i="0">
                <a:solidFill>
                  <a:srgbClr val="171F33"/>
                </a:solidFill>
                <a:latin typeface="Helvetica Neue"/>
              </a:rPr>
              <a:t>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SONDAGE (SANS JUGEMENT)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3EEE0"/>
                </a:solidFill>
                <a:latin typeface="Helvetica Neue"/>
              </a:rPr>
              <a:t>Levez la main si...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19913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21240000">
            <a:off x="864108" y="214426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509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écrit un test juste pour faire plaisir à la CI.</a:t>
            </a:r>
          </a:p>
        </p:txBody>
      </p:sp>
      <p:sp>
        <p:nvSpPr>
          <p:cNvPr id="8" name="Oval 7"/>
          <p:cNvSpPr/>
          <p:nvPr/>
        </p:nvSpPr>
        <p:spPr>
          <a:xfrm>
            <a:off x="918972" y="320497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21240000">
            <a:off x="864108" y="315010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00400"/>
            <a:ext cx="9509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vu 100 % de couverture sur un fichier plein de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918972" y="421081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21240000">
            <a:off x="864108" y="415594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06240"/>
            <a:ext cx="9509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ne savez pas, là, maintenant, ce que couvrent VOS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420624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Pas de jugement. Enfin... un peu.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143000" y="52486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03/29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Une heure, quatre outils, zéro slide inutile (promis)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3113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Pourquoi une suite de tests toute verte ne prouve absolument rien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2258568"/>
            <a:ext cx="940689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5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54864" cy="4572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8A5A10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La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08960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JUnit, Cucumber, Quarkus, Jacoco — qui fait quoi (et qui ne fait pas le café)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880360"/>
            <a:ext cx="1070305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10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74720"/>
            <a:ext cx="54864" cy="4572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456432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B6E62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3814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Démo : le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30752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Un agenda malin, ses tests, ses angles morts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3502152"/>
            <a:ext cx="1070305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10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96512"/>
            <a:ext cx="54864" cy="4572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78224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546E22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59936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rapport qui ne ment 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52544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Jacoco en direct, JUnit contre Cucumber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400" y="4123944"/>
            <a:ext cx="1070305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15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18304"/>
            <a:ext cx="54864" cy="4572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700016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2409C"/>
                </a:solidFill>
                <a:latin typeface="Helvetica Neue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81728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Bonus : SonarQube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74336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Le même rapport, dans un vrai dashboard (spoiler : pas SOAR)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0" y="4745736"/>
            <a:ext cx="1070305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10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4009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502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035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Ce qu'on retient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96128"/>
            <a:ext cx="7863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Et deux pièges qu'on a vraiment pris en pleine figure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0" y="5367528"/>
            <a:ext cx="940689" cy="31089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50" b="1">
                <a:solidFill>
                  <a:srgbClr val="5C6272"/>
                </a:solidFill>
                <a:latin typeface="Helvetica Neue"/>
              </a:rPr>
              <a:t>5 min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04/29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81D2B"/>
                </a:solidFill>
                <a:latin typeface="Helvetica Neue"/>
              </a:rPr>
              <a:t>On a des tests. On n'a toujours aucune idée de ce qu'ils font.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27249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B6E62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249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écrit des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206240"/>
            <a:ext cx="272491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JUnit, Cucumber : les suites tournent au vert à chaque build. On est très fiers. À raison, d'ailleurs.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 rot="21480000">
            <a:off x="4352544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468880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2788920"/>
            <a:ext cx="27249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8A5A10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29000"/>
            <a:ext cx="27249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ne sait pas ce qu'ils couvrent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72491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Quelles classes ? Quelles branches ? Une CI verte suffit largement à calmer tout le monde.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 rot="120000">
            <a:off x="7882128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82128" y="2468880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788920"/>
            <a:ext cx="27249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A83322"/>
                </a:solidFill>
                <a:latin typeface="Helvetica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429000"/>
            <a:ext cx="27249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Les angles morts restent invisibles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4206240"/>
            <a:ext cx="272491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Jusqu'au bug en prod, dans le code qu'aucun test n'a jamais exécuté. Généralement un vendredi. Toujours un vendredi.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Quatre outils, quatre questions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91440" cy="2084831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15568" y="2148840"/>
            <a:ext cx="1415948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JUnit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15768"/>
            <a:ext cx="450799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Tests unitaires ciblés, rapides — le genre d'ami qui vous dit direct que votre code est nul, sans détour.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9632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965960"/>
            <a:ext cx="91440" cy="2084831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2148840"/>
            <a:ext cx="1576425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Cucumber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715768"/>
            <a:ext cx="450799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Scénarios Gherkin lisibles — le seul test que votre chef de projet pourra théoriquement relire.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270247"/>
            <a:ext cx="91440" cy="2084831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15568" y="4453127"/>
            <a:ext cx="1415948" cy="310896"/>
          </a:xfrm>
          <a:prstGeom prst="round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Quarkus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020055"/>
            <a:ext cx="450799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framework qui démarre l'appli et pilote les tests — le collègue qui organise tout sans qu'on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9632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4270247"/>
            <a:ext cx="91440" cy="2084831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92240" y="4453127"/>
            <a:ext cx="1255471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5020055"/>
            <a:ext cx="450799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L'instrument de mesure — celui qui ne ment jamais, contrairement à votre estimation à l'oral.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06/29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génère des récurrences, et glisse une citation du jour — parce qu'une démo a le droit d'être un peu sympa.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14016"/>
            <a:ext cx="3794760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794760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794760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Couche REST — JSON in/out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329184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05256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23591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867912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EventService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33672"/>
            <a:ext cx="1993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création +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2424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10128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2359152" cy="73152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3867912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233672"/>
            <a:ext cx="1993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quotidien / hebdo / mensuel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9592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97296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97296" y="3703320"/>
            <a:ext cx="2359152" cy="73152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98464" y="3867912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HolidayService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233672"/>
            <a:ext cx="1993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jours fériés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84464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84464" y="3703320"/>
            <a:ext cx="23591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85632" y="3867912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QuoteOfTheDayService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233672"/>
            <a:ext cx="1993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citation du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461772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05256" y="5020056"/>
            <a:ext cx="3794760" cy="77724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4937760"/>
            <a:ext cx="3794760" cy="77724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4937760"/>
            <a:ext cx="3794760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5102352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ConflictDetector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46811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logique pure — aucune dépendance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709160"/>
            <a:ext cx="5394960" cy="10515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C111F"/>
                </a:solidFill>
                <a:latin typeface="Helvetica Neue"/>
              </a:rPr>
              <a:t>Aucune base de données : le sujet du jour, c'est la couverture de
tests — pas Hibernate. On se recentre.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6263640" y="447141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07/29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microscope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toute l'application. C'est rapide, précis, et ça ne pardonne rien.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Des milliers de tests en quelques secondes. Votre café, lui, met plus longtemps.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Isolé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 de serveur, pas de réseau, pas de surprise. Le rêve,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Pensé par et pour les développeurs. Personne d'autre ne relira jamais un assertEquals.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pure, testée sans jamais démarrer Quarkus.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08/29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81D2B"/>
                </a:solidFill>
                <a:latin typeface="Helvetica Neue"/>
              </a:rPr>
              <a:t>Viser juste, vite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74320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séparation nette, et réflexivité (oui, on vérifie qu'un événement n'est pas en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conflit avec lui-même — sinon, c'est un problème existentiel, pas un bug).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09/29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THÉORIE (VITE FAIT)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81D2B"/>
                </a:solidFill>
                <a:latin typeface="Helvetica Neue"/>
              </a:rPr>
              <a:t>SOLID est au clean code ce que </a:t>
            </a:r>
            <a:r>
              <a:rPr sz="2600" b="1">
                <a:solidFill>
                  <a:srgbClr val="F0A72E"/>
                </a:solidFill>
                <a:latin typeface="Helvetica Neue"/>
              </a:rPr>
              <a:t>FIRST</a:t>
            </a:r>
            <a:r>
              <a:rPr sz="2600" b="1">
                <a:solidFill>
                  <a:srgbClr val="181D2B"/>
                </a:solidFill>
                <a:latin typeface="Helvetica Neue"/>
              </a:rPr>
              <a:t> est au test unitaire.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938528" cy="82296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715768"/>
            <a:ext cx="16093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8A5A10"/>
                </a:solidFill>
                <a:latin typeface="Helvetica Neue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83280"/>
            <a:ext cx="16093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886200"/>
            <a:ext cx="16093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Rapide — sinon on arrête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de les lancer.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62656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2656" y="2514600"/>
            <a:ext cx="1938528" cy="82296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27248" y="2715768"/>
            <a:ext cx="16093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B6E62"/>
                </a:solidFill>
                <a:latin typeface="Helvetica Neue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383280"/>
            <a:ext cx="16093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Isolated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3886200"/>
            <a:ext cx="16093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Indépendant de tout autre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test, de tout ordre.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8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02352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02352" y="2514600"/>
            <a:ext cx="1938528" cy="82296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6944" y="2715768"/>
            <a:ext cx="16093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546E22"/>
                </a:solidFill>
                <a:latin typeface="Helvetica Neue"/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3383280"/>
            <a:ext cx="16093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Repeatable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886200"/>
            <a:ext cx="16093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Même résultat : votre machine,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la CI, 3h du matin.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42048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42048" y="2514600"/>
            <a:ext cx="1938528" cy="82296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2715768"/>
            <a:ext cx="16093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A83322"/>
                </a:solidFill>
                <a:latin typeface="Helvetica Neue"/>
              </a:rPr>
              <a:t>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6093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Self-Validating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86200"/>
            <a:ext cx="16093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Il dit lui-même s'il passe.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Pas de log à relire.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381744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81744" y="2514600"/>
            <a:ext cx="1938528" cy="82296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46336" y="2715768"/>
            <a:ext cx="16093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2409C"/>
                </a:solidFill>
                <a:latin typeface="Helvetica Neue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6336" y="3383280"/>
            <a:ext cx="160934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Timely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3886200"/>
            <a:ext cx="160934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Écrit avec le code — pas trois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sprints après (jamais).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10515600" cy="7772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111F"/>
                </a:solidFill>
                <a:latin typeface="Helvetica Neue"/>
              </a:rPr>
              <a:t>SOLID vous dit comment ranger le code pour qu'il reste maintenable. FIRST vous dit comment ranger les tests pour qu'on continue à leur faire confiance.</a:t>
            </a:r>
          </a:p>
        </p:txBody>
      </p:sp>
      <p:sp>
        <p:nvSpPr>
          <p:cNvPr id="36" name="Isosceles Triangle 35"/>
          <p:cNvSpPr/>
          <p:nvPr/>
        </p:nvSpPr>
        <p:spPr>
          <a:xfrm>
            <a:off x="1143000" y="51114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C6272"/>
                </a:solidFill>
                <a:latin typeface="Helvetica Neue"/>
              </a:rPr>
              <a:t>Pour mémoire : SOLID = Single responsibility · Open/closed · Liskov substitution · Interface segregation · Dependency inversion.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10/29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lisible. Le même texte sert de spec fonctionnelle ET de test automatisé.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Même un product owner peut le relire (et le corriger). Sensation forte garantie.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Bout en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Passe par la vraie API REST, pas un mock. Comme un vrai client, en moins énervé.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Décrit ce que fait le produit, pas comment. Ça change des tickets Jira écrits un vendredi soir.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le signalement d'un jour férié — trois scénarios, en français.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11/29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scénario que tout le monde comprend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10896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Scénario: Refus d'un événement qui chevauche un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        événement existant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Étant donné que j'ai déjà l'événement "Comité de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pilotage" de "14:00" à "15:00"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Quand je crée l'événement "Revue de code" de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"14:30" à "15:30"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Alors la création est refusée pour cause de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E7ECF5"/>
                </a:solidFill>
                <a:latin typeface="Menlo"/>
              </a:rPr>
              <a:t>  conflit d'horaire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03520"/>
            <a:ext cx="9875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81D2B"/>
                </a:solidFill>
                <a:latin typeface="Helvetica Neue"/>
              </a:rPr>
              <a:t>Vous remarquerez que même le scénario de test sait qu'un comité de pilotage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81D2B"/>
                </a:solidFill>
                <a:latin typeface="Helvetica Neue"/>
              </a:rPr>
              <a:t>prend toute la place dans l'agenda. Ça, c'est du réalisme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12/29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CLASH (AMICAL)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JUnit vs Cucumber : qui gagne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510000">
            <a:off x="82296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4892040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JUnit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84448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Isolé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9936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35424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les devs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90000">
            <a:off x="598932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2194560"/>
            <a:ext cx="4892040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487168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Cucumber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Lisible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84448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Bout en bout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059936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35424"/>
            <a:ext cx="4343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tout le monde</a:t>
            </a:r>
          </a:p>
        </p:txBody>
      </p:sp>
      <p:sp>
        <p:nvSpPr>
          <p:cNvPr id="21" name="Oval 20"/>
          <p:cNvSpPr/>
          <p:nvPr/>
        </p:nvSpPr>
        <p:spPr>
          <a:xfrm>
            <a:off x="5472684" y="1815084"/>
            <a:ext cx="868680" cy="8686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21120000">
            <a:off x="5417820" y="1760220"/>
            <a:ext cx="868680" cy="8686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FFD23F"/>
                </a:solidFill>
                <a:latin typeface="Helvetica Neue"/>
              </a:rPr>
              <a:t>MATCH
NUL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6928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C111F"/>
                </a:solidFill>
                <a:latin typeface="Helvetica Neue"/>
              </a:rPr>
              <a:t>Spoiler : il n'y a pas de gagnant. Le seul qui gagne, c'est le code — testé sous deux angles.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1143000" y="543153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13/29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16168" y="2286000"/>
            <a:ext cx="365760" cy="3657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3EEE0"/>
                </a:solidFill>
                <a:latin typeface="Helvetica Neue"/>
              </a:rPr>
              <a:t>EN DIRECT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977639"/>
            <a:ext cx="685800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on arrête PowerPoint. direction le terminal, pour de vrai — fermez Slack pendant qu'on y est</a:t>
            </a:r>
          </a:p>
        </p:txBody>
      </p:sp>
      <p:sp>
        <p:nvSpPr>
          <p:cNvPr id="35" name="Isosceles Triangle 34"/>
          <p:cNvSpPr/>
          <p:nvPr/>
        </p:nvSpPr>
        <p:spPr>
          <a:xfrm>
            <a:off x="2971800" y="3739895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14/29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cut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81D2B"/>
                </a:solidFill>
                <a:latin typeface="Helvetica Neue"/>
              </a:rPr>
              <a:t>Un agent qui espionne le bytecode (légalement)</a:t>
            </a:r>
          </a:p>
        </p:txBody>
      </p:sp>
      <p:sp>
        <p:nvSpPr>
          <p:cNvPr id="5" name="Oval 4"/>
          <p:cNvSpPr/>
          <p:nvPr/>
        </p:nvSpPr>
        <p:spPr>
          <a:xfrm>
            <a:off x="873252" y="224485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21240000">
            <a:off x="818388" y="218998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42032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Un agent Java (-javaagent) s'attache et instrumente chaque classe chargée.</a:t>
            </a:r>
          </a:p>
        </p:txBody>
      </p:sp>
      <p:sp>
        <p:nvSpPr>
          <p:cNvPr id="9" name="Oval 8"/>
          <p:cNvSpPr/>
          <p:nvPr/>
        </p:nvSpPr>
        <p:spPr>
          <a:xfrm>
            <a:off x="873252" y="329641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21240000">
            <a:off x="818388" y="324154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93592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Chaque ligne, chaque branche exécutée est comptée — en silence, sans ralentir grand-chose. Un espion discret.</a:t>
            </a:r>
          </a:p>
        </p:txBody>
      </p:sp>
      <p:sp>
        <p:nvSpPr>
          <p:cNvPr id="13" name="Oval 12"/>
          <p:cNvSpPr/>
          <p:nvPr/>
        </p:nvSpPr>
        <p:spPr>
          <a:xfrm>
            <a:off x="873252" y="434797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21240000">
            <a:off x="818388" y="429310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97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Non, ce n'est pas de l'espionnage industriel. C'est juste un agent très curieux, payé en aucune façon.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143000" y="529437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15/29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Pas une maquette Figma. Le vrai rapport.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29967"/>
            <a:ext cx="1051560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7552" y="1979675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979675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9888" y="1979675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85415"/>
            <a:ext cx="10515600" cy="170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85415"/>
            <a:ext cx="10515600" cy="170221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Vrai export HTML, généré il y a quelques heures, par la commande qu'on vient de lancer. Pas d'entourloupe.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16/29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La branche MENSUELLE, prise en flagrant délit</a:t>
            </a:r>
          </a:p>
        </p:txBody>
      </p:sp>
      <p:sp>
        <p:nvSpPr>
          <p:cNvPr id="5" name="Oval 4"/>
          <p:cNvSpPr/>
          <p:nvPr/>
        </p:nvSpPr>
        <p:spPr>
          <a:xfrm>
            <a:off x="9907524" y="306324"/>
            <a:ext cx="1417320" cy="14173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21000000">
            <a:off x="9852660" y="251460"/>
            <a:ext cx="1417320" cy="14173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Bissextile 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1737360"/>
            <a:ext cx="69494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24328" y="1892808"/>
            <a:ext cx="69494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889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900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912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048256"/>
            <a:ext cx="6949440" cy="40784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624328" y="2048256"/>
            <a:ext cx="6949440" cy="407845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17/29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Mesure réelle, extraite du build — couverture de lignes, JUnit contre Cucumber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465222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JUnit (unitaire)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011680"/>
            <a:ext cx="3279952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Cucumber (intégration)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3288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45059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245059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243230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6547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80" y="2665476"/>
            <a:ext cx="424281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26471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HolidayService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98094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83280" y="2980944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0" y="296265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19582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83280" y="3195828"/>
            <a:ext cx="680313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0" y="31775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93%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51129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83280" y="3511296"/>
            <a:ext cx="57058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0" y="349300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72618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83280" y="3726180"/>
            <a:ext cx="292608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0" y="37078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23944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ConflictDetector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89920" y="40233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25653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383280" y="4256532"/>
            <a:ext cx="5486400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0" y="423824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54296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EventService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80" y="457200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383280" y="4572000"/>
            <a:ext cx="643737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0" y="455371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78688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383280" y="4786884"/>
            <a:ext cx="643737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789920" y="476859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18464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RecurrenceRequest (DTO)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3280" y="510235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383280" y="510235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20" y="50840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31723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317236"/>
            <a:ext cx="21945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89920" y="52989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C6272"/>
                </a:solidFill>
                <a:latin typeface="Helvetica Neue"/>
              </a:rPr>
              <a:t>JUnit couvre la logique métier ; Cucumber couvre la couche REST — presque aucun recouvrement.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5943600"/>
            <a:ext cx="10424160" cy="5486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C111F"/>
                </a:solidFill>
                <a:latin typeface="Helvetica Neue"/>
              </a:rPr>
              <a:t>Mention spéciale à RecurrenceRequest : 0 % partout. Personne n'y a jamais touché. Personne.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1143000" y="57058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18/29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3EEE0"/>
                </a:solidFill>
                <a:latin typeface="Helvetica Neue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395728" y="1645920"/>
            <a:ext cx="7406640" cy="4408607"/>
          </a:xfrm>
          <a:prstGeom prst="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317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9AA1B5"/>
                </a:solidFill>
                <a:latin typeface="Helvetica Neue"/>
              </a:rPr>
              <a:t>coverage-summary.sh fait le café à votre place : rouge, orange, vert, classe par classe.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19/29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Trois commandes, un radar complet</a:t>
            </a:r>
          </a:p>
        </p:txBody>
      </p:sp>
      <p:sp>
        <p:nvSpPr>
          <p:cNvPr id="5" name="Oval 4"/>
          <p:cNvSpPr/>
          <p:nvPr/>
        </p:nvSpPr>
        <p:spPr>
          <a:xfrm>
            <a:off x="836676" y="210769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21240000">
            <a:off x="781812" y="205282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560320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Build + JUnit + Cucumber + 3 rapports Jacoco générés automatiquement.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" y="343357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21240000">
            <a:off x="781812" y="337870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38144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886200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récap coloré JUnit / Cucumber / global, côte à côte, dans le terminal.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" y="475945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21240000">
            <a:off x="781812" y="470458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764024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5212080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Rien d'exotique, rien à installer de plus que ce qu'on a déjà dans le pom.xml.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20/29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(PROMIS, PAS SOAR)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3EEE0"/>
                </a:solidFill>
                <a:latin typeface="Helvetica Neue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Les deux mêmes rapports Jacoco XML, importés tels quels dans SonarQube.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73552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2735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FD23F"/>
                </a:solidFill>
                <a:latin typeface="Helvetica Neue"/>
              </a:rPr>
              <a:t>77,7 %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3273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couverture globale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52544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2544" y="2423160"/>
            <a:ext cx="32735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2544" y="2651760"/>
            <a:ext cx="32735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0A72E"/>
                </a:solidFill>
                <a:latin typeface="Helvetica Neue"/>
              </a:rPr>
              <a:t>82 %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3310128"/>
            <a:ext cx="3273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82128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82128" y="2423160"/>
            <a:ext cx="32735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2651760"/>
            <a:ext cx="32735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EB0A0"/>
                </a:solidFill>
                <a:latin typeface="Helvetica Neue"/>
              </a:rPr>
              <a:t>65 %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310128"/>
            <a:ext cx="3273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branches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1B5"/>
                </a:solidFill>
                <a:latin typeface="Helvetica Neue"/>
              </a:rPr>
              <a:t>Mesure réelle, obtenue en lançant l'analyse sur ce projet — pas une maquette.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10058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24128" y="48371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3584" y="48371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63040" y="48371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18464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docker compose -f sonarqube/docker-compose.yml up -d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./mvnw test sonar:sonar -Dsonar.token=&lt;ton_token&gt;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436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AA1B5"/>
                </a:solidFill>
                <a:latin typeface="Helvetica Neue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21/29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Coverage 77,7 %, en vrai, dans l'interface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Sonar ne mesure rien lui-même : il relit ce que Jacoco a déjà dit et fait semblant d'avoir tout calculé.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22/29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Le détail, fichier par fichier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Mêmes pourcentages que dans notre terminal. Même vérité, vitrine plus chère.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23/29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Même branche rouge, autre outil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3736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81528" y="189280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461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472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484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4825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4825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Pas un artefact d'un outil bizarre : un fait sur votre code, confirmé deux fois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24/29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CONFESSIONS COLLECTIVES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best-of des excuses pour ne pas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67128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4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688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Votre machine n'ira pas en prod avec vous. Elle ne peut pas témoigner.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25496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0720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On testera après le sprint.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272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Le sprint suivant aussi. Et celui d'après. À ce rythme, on teste au démantèlement.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83864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65576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C'est trop simple pour bugger.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85616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Neuf incidents de prod sur dix commencent exactement comme 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42232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23944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Le stagiaire a dit que ça passait.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443984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Un mardi après-midi ensoleillé, à la main, une seule fois.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82312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100 % de couverture, on n'a plus besoin de relire.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La couverture mesure ce qui a été EXÉCUTÉ. Pas ce qui a été VÉRIFIÉ.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06440"/>
            <a:ext cx="10515600" cy="64008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C111F"/>
                </a:solidFill>
                <a:latin typeface="Helvetica Neue"/>
              </a:rPr>
              <a:t>Spoiler : aucune de ces cinq phrases n'a jamais empêché un incendie en prod. Pas une seule. J'ai vérifié. Enfin... je crois.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43000" y="55686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25/29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RETOUR D'EXPÉRIENCE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3EEE0"/>
                </a:solidFill>
                <a:latin typeface="Helvetica Neue"/>
              </a:rPr>
              <a:t>Deux pièges qu'on a vraiment eus en préparant cette conf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05256" y="21854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91440" cy="173736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9966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Le QuarkusClassLoader fantôme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Deux exécutions Surefire, deux agents Jacoco... et pourtant tout à 0 %. Coupable : l'extension quarkus-jacoco mesure le code CDI toute seule, dans son coin, sans prévenir personne.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" y="4242816"/>
            <a:ext cx="10515600" cy="17373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515600" cy="17373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4160520"/>
            <a:ext cx="91440" cy="173736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9966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3EEE0"/>
                </a:solidFill>
                <a:latin typeface="Helvetica Neue"/>
              </a:rPr>
              <a:t>L'accent qui a cassé Gherkin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2312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« Fonctionnalite » sans accent ne veut RIEN dire pour un parseur Gherkin en français. Un é manquant, et Cucumber devient aussi utile qu'un GPS sans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FFD23F"/>
                </a:solidFill>
                <a:latin typeface="Helvetica Neue"/>
              </a:rPr>
              <a:t>Le seul avantage qu'on a eu sur vous : un rapport de couverture pour le prouver noir sur blanc.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26/29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Ce qu'il faut retenir</a:t>
            </a:r>
          </a:p>
        </p:txBody>
      </p:sp>
      <p:sp>
        <p:nvSpPr>
          <p:cNvPr id="4" name="Oval 3"/>
          <p:cNvSpPr/>
          <p:nvPr/>
        </p:nvSpPr>
        <p:spPr>
          <a:xfrm>
            <a:off x="10273284" y="443484"/>
            <a:ext cx="1051560" cy="10515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360000">
            <a:off x="10218420" y="388620"/>
            <a:ext cx="1051560" cy="105156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tl;dr</a:t>
            </a:r>
          </a:p>
        </p:txBody>
      </p:sp>
      <p:sp>
        <p:nvSpPr>
          <p:cNvPr id="6" name="Oval 5"/>
          <p:cNvSpPr/>
          <p:nvPr/>
        </p:nvSpPr>
        <p:spPr>
          <a:xfrm>
            <a:off x="946404" y="215341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21240000">
            <a:off x="891540" y="209854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test vert ne dit pas ce qu'il a vérifié.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La couverture, si.</a:t>
            </a:r>
          </a:p>
        </p:txBody>
      </p:sp>
      <p:sp>
        <p:nvSpPr>
          <p:cNvPr id="10" name="Oval 9"/>
          <p:cNvSpPr/>
          <p:nvPr/>
        </p:nvSpPr>
        <p:spPr>
          <a:xfrm>
            <a:off x="946404" y="325069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21240000">
            <a:off x="891540" y="319582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26440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JUnit et Cucumber répondent à deux questions différentes.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3075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« Ça marche ? » contre « c'est le bon comportement ? »</a:t>
            </a:r>
          </a:p>
        </p:txBody>
      </p:sp>
      <p:sp>
        <p:nvSpPr>
          <p:cNvPr id="14" name="Oval 13"/>
          <p:cNvSpPr/>
          <p:nvPr/>
        </p:nvSpPr>
        <p:spPr>
          <a:xfrm>
            <a:off x="946404" y="434797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21240000">
            <a:off x="891540" y="429310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6168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Le rapport de couverture n'est pas un objectif.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2803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C'est un radar : il montre où regarder en premier.</a:t>
            </a:r>
          </a:p>
        </p:txBody>
      </p:sp>
      <p:sp>
        <p:nvSpPr>
          <p:cNvPr id="18" name="Oval 17"/>
          <p:cNvSpPr/>
          <p:nvPr/>
        </p:nvSpPr>
        <p:spPr>
          <a:xfrm>
            <a:off x="946404" y="544525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21240000">
            <a:off x="891540" y="539038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458968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outil ne remplace pas la question qu'on ne s'est pas posée.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92531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Ni Jacoco, ni Sonar, ni celui d'après.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27/29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45720" tIns="18288" bIns="18288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Si vous voulez creuser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Code et scripts, en clair. Le reste (mes doutes existentiels sur plusMonths()) reste entre moi et mon terminal.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32304"/>
            <a:ext cx="146304" cy="14630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Le dépôt de ce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github.com/sidevconcept/couverture-junit-cucumber-jacoco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28416"/>
            <a:ext cx="146304" cy="146304"/>
          </a:xfrm>
          <a:prstGeom prst="ellipse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Guide Quarkus + Jacoco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2102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quarkus.io/guides/tests-with-coverage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224528"/>
            <a:ext cx="146304" cy="146304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16966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Extension Cucumber pour Quarkus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1713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docs.quarkiverse.io/quarkus-cucumber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20640"/>
            <a:ext cx="146304" cy="14630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065776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SonarQube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132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docs.sonarsource.com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28/29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194560"/>
            <a:ext cx="7589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3EEE0"/>
                </a:solidFill>
                <a:latin typeface="Helvetica Neue"/>
              </a:rPr>
              <a:t>Merci.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91840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FFD23F"/>
                </a:solidFill>
                <a:latin typeface="Helvetica Neue"/>
              </a:rPr>
              <a:t>Questions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86200"/>
            <a:ext cx="6949440" cy="9144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128016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et si quelqu'un me dit « chez nous on a 100 % de couverture », je réponds déjà : sur quelle branche ?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88720" y="36484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6035040"/>
            <a:ext cx="7589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A1B5"/>
                </a:solidFill>
                <a:latin typeface="Helvetica Neue"/>
              </a:rPr>
              <a:t>https://github.com/sidevconcept/couverture-junit-cucumber-jacoco  —  sidev.concept06@gmail.com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6596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D23F"/>
                </a:solidFill>
                <a:latin typeface="Helvetica Neue"/>
              </a:rPr>
              <a:t>Scanne-moi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96528" y="2258568"/>
            <a:ext cx="2432304" cy="2432304"/>
          </a:xfrm>
          <a:prstGeom prst="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qr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331720"/>
            <a:ext cx="2286000" cy="2286000"/>
          </a:xfrm>
          <a:prstGeom prst="rect">
            <a:avLst/>
          </a:prstGeom>
        </p:spPr>
      </p:pic>
    </p:spTree>
  </p:cSld>
  <p:transition spd="fast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