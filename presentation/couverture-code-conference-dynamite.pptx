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85" r:id="rId34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 snapToObjects="1">
      <p:cViewPr varScale="1">
        <p:scale>
          <a:sx n="115" d="100"/>
          <a:sy n="115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778240" y="-1097280"/>
            <a:ext cx="5669280" cy="9144000"/>
          </a:xfrm>
          <a:prstGeom prst="parallelogram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46920" y="502920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39528" y="502920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32136" y="502920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24744" y="502920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17352" y="502920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46920" y="795528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39528" y="795528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32136" y="795528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24744" y="795528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17352" y="795528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46920" y="1088136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39528" y="1088136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32136" y="1088136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524744" y="1088136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817352" y="1088136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46920" y="1380744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939528" y="1380744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232136" y="1380744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524744" y="1380744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817352" y="1380744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46920" y="1673352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39528" y="1673352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32136" y="1673352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524744" y="1673352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817352" y="1673352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46920" y="1965960"/>
            <a:ext cx="82296" cy="82296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939528" y="1965960"/>
            <a:ext cx="70980" cy="709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232136" y="1965960"/>
            <a:ext cx="59664" cy="59664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524744" y="1965960"/>
            <a:ext cx="48348" cy="48348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817352" y="1965960"/>
            <a:ext cx="37033" cy="37033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" y="2057400"/>
            <a:ext cx="91440" cy="1874519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43000" y="166420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D23F"/>
                </a:solidFill>
                <a:latin typeface="Helvetica Neue"/>
              </a:rPr>
              <a:t>CONFÉRENCE TECHNIQUE (OU THÉRAPIE DE GROUPE)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2148840"/>
            <a:ext cx="9601200" cy="1429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dirty="0">
                <a:solidFill>
                  <a:srgbClr val="F3EEE0"/>
                </a:solidFill>
                <a:latin typeface="Helvetica Neue"/>
              </a:rPr>
              <a:t>La couverture de code,
</a:t>
            </a:r>
            <a:r>
              <a:rPr lang="fr-FR" sz="4600" b="1" dirty="0">
                <a:solidFill>
                  <a:srgbClr val="FFD23F"/>
                </a:solidFill>
                <a:latin typeface="Helvetica Neue"/>
              </a:rPr>
              <a:t>n’est jamais à 100%</a:t>
            </a:r>
            <a:endParaRPr sz="4600" b="1" dirty="0">
              <a:solidFill>
                <a:srgbClr val="FFD23F"/>
              </a:solidFill>
              <a:latin typeface="Helvetica Neue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43000" y="388620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F0A72E"/>
                </a:solidFill>
                <a:latin typeface="Helvetica Neue"/>
              </a:rPr>
              <a:t>Quarkus  ·  JUnit  ·  Cucumber  ·  Jacoco  ·  (un peu de Sonar en bonus)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4348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C9CEDC"/>
                </a:solidFill>
                <a:latin typeface="Helvetica Neue"/>
              </a:rPr>
              <a:t>Où l'on découvre que « 100 % de couverture » ne veut pas dire « 0 bug ».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989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AA1B5"/>
                </a:solidFill>
                <a:latin typeface="Helvetica Neue"/>
              </a:rPr>
              <a:t>Sidney Cohen — 13 octobre 2026</a:t>
            </a:r>
          </a:p>
        </p:txBody>
      </p:sp>
      <p:sp>
        <p:nvSpPr>
          <p:cNvPr id="39" name="Oval 38"/>
          <p:cNvSpPr/>
          <p:nvPr/>
        </p:nvSpPr>
        <p:spPr>
          <a:xfrm>
            <a:off x="9610344" y="4626864"/>
            <a:ext cx="1554480" cy="155448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 rot="21000000">
            <a:off x="9555480" y="4572000"/>
            <a:ext cx="1554480" cy="155448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100%
authentique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AVANT DE COMMENCER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81D2B"/>
                </a:solidFill>
                <a:latin typeface="Helvetica Neue"/>
              </a:rPr>
              <a:t>Qui suis-je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8A5A10"/>
                </a:solidFill>
                <a:latin typeface="Helvetica Neue"/>
              </a:rPr>
              <a:t>Sidney Cohen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2478024"/>
            <a:ext cx="3273552" cy="306324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395728"/>
            <a:ext cx="3273552" cy="306324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395728"/>
            <a:ext cx="3273552" cy="9144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724912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Helvetica Neue"/>
              </a:rPr>
              <a:t>Développeur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493008"/>
            <a:ext cx="272491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10 ans de Java, 21 ans de dev au total — assez pour avoir déjà tout cassé au moins une fois. Deux, si on compte la prod.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478024"/>
            <a:ext cx="3273552" cy="306324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52544" y="2395728"/>
            <a:ext cx="3273552" cy="306324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2395728"/>
            <a:ext cx="3273552" cy="9144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2724912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Helvetica Neue"/>
              </a:rPr>
              <a:t>Écrit des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493008"/>
            <a:ext cx="272491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Forcé d'écrire des tests sous la contrainte : pas de tests, pas de PR validée. Ma phrase préférée reste « c'est bon, les tests sont tous verts » — vous allez vite comprendre pourquoi elle ne veut rien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2478024"/>
            <a:ext cx="3273552" cy="306324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8" y="2395728"/>
            <a:ext cx="3273552" cy="306324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2128" y="2395728"/>
            <a:ext cx="3273552" cy="9144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2724912"/>
            <a:ext cx="2724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Helvetica Neue"/>
              </a:rPr>
              <a:t>Ici pour une raison précise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3493008"/>
            <a:ext cx="2724912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Honnêtement ? C'était soit ça, soit vous refaire une présentation sur l'IA. Vous l'avez échappé belle.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920240"/>
            <a:ext cx="1828800" cy="566928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D23F"/>
                </a:solidFill>
                <a:latin typeface="Helvetica Neue"/>
              </a:rPr>
              <a:t>confidentiel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6922008" y="2468880"/>
            <a:ext cx="256032" cy="256032"/>
          </a:xfrm>
          <a:prstGeom prst="triangl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02/29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21040" y="1920240"/>
            <a:ext cx="38404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0" b="1" i="0">
                <a:solidFill>
                  <a:srgbClr val="171F33"/>
                </a:solidFill>
                <a:latin typeface="Helvetica Neue"/>
              </a:rPr>
              <a:t>?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SONDAGE (SANS JUGEMENT)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3EEE0"/>
                </a:solidFill>
                <a:latin typeface="Helvetica Neue"/>
              </a:rPr>
              <a:t>Levez la main si...</a:t>
            </a:r>
          </a:p>
        </p:txBody>
      </p:sp>
      <p:sp>
        <p:nvSpPr>
          <p:cNvPr id="5" name="Oval 4"/>
          <p:cNvSpPr/>
          <p:nvPr/>
        </p:nvSpPr>
        <p:spPr>
          <a:xfrm>
            <a:off x="918972" y="2199132"/>
            <a:ext cx="502920" cy="50292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1240000">
            <a:off x="864108" y="2144268"/>
            <a:ext cx="502920" cy="50292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0C11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3EEE0"/>
                </a:solidFill>
                <a:latin typeface="Helvetica Neue"/>
              </a:rPr>
              <a:t>...vous avez déjà écrit un test juste pour faire plaisir à la CI.</a:t>
            </a:r>
          </a:p>
        </p:txBody>
      </p:sp>
      <p:sp>
        <p:nvSpPr>
          <p:cNvPr id="8" name="Oval 7"/>
          <p:cNvSpPr/>
          <p:nvPr/>
        </p:nvSpPr>
        <p:spPr>
          <a:xfrm>
            <a:off x="918972" y="3204972"/>
            <a:ext cx="502920" cy="50292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 rot="21240000">
            <a:off x="864108" y="3150108"/>
            <a:ext cx="502920" cy="50292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0C11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20040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3EEE0"/>
                </a:solidFill>
                <a:latin typeface="Helvetica Neue"/>
              </a:rPr>
              <a:t>...vous avez déjà vu 100 % de couverture sur un fichier plein de bugs.</a:t>
            </a:r>
          </a:p>
        </p:txBody>
      </p:sp>
      <p:sp>
        <p:nvSpPr>
          <p:cNvPr id="11" name="Oval 10"/>
          <p:cNvSpPr/>
          <p:nvPr/>
        </p:nvSpPr>
        <p:spPr>
          <a:xfrm>
            <a:off x="918972" y="4210812"/>
            <a:ext cx="502920" cy="50292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 rot="21240000">
            <a:off x="864108" y="4155948"/>
            <a:ext cx="502920" cy="50292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0C11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20624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 i="0">
                <a:solidFill>
                  <a:srgbClr val="F3EEE0"/>
                </a:solidFill>
                <a:latin typeface="Helvetica Neue"/>
              </a:rPr>
              <a:t>...vous ne savez pas, là, maintenant, ce que couvrent VOS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86400"/>
            <a:ext cx="4206240" cy="68580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50" b="1" i="1">
                <a:solidFill>
                  <a:srgbClr val="0C111F"/>
                </a:solidFill>
                <a:latin typeface="Helvetica Neue"/>
              </a:rPr>
              <a:t>Pas de jugement. Enfin... un peu.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143000" y="524865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03/29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AU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81D2B"/>
                </a:solidFill>
                <a:latin typeface="Helvetica Neue"/>
              </a:rPr>
              <a:t>Une heure, quatre outils, zéro slide inutile (promis)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31136"/>
            <a:ext cx="54864" cy="4572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A83322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Le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8716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1D2B"/>
                </a:solidFill>
                <a:latin typeface="Helvetica Neue"/>
              </a:rPr>
              <a:t>Pourquoi une suite de tests toute verte ne prouve absolument rien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52928"/>
            <a:ext cx="54864" cy="4572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8A5A10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16352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La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108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1D2B"/>
                </a:solidFill>
                <a:latin typeface="Helvetica Neue"/>
              </a:rPr>
              <a:t>JUnit, Cucumber, Quarkus, Jacoco — qui fait quoi (et qui ne fait pas le café)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54864" cy="45720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456432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B6E62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43814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Démo : le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0752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1D2B"/>
                </a:solidFill>
                <a:latin typeface="Helvetica Neue"/>
              </a:rPr>
              <a:t>Un agenda malin, ses tests, ses angles morts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096512"/>
            <a:ext cx="54864" cy="457200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078224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546E22"/>
                </a:solidFill>
                <a:latin typeface="Helvetica Ne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6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Le rapport qui ne ment pas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52544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1D2B"/>
                </a:solidFill>
                <a:latin typeface="Helvetica Neue"/>
              </a:rPr>
              <a:t>Jacoco en direct, JUnit contre Cucumber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718304"/>
            <a:ext cx="54864" cy="457200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700016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2409C"/>
                </a:solidFill>
                <a:latin typeface="Helvetica Neue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68172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Bonus : SonarQube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974336"/>
            <a:ext cx="78638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 dirty="0">
                <a:solidFill>
                  <a:srgbClr val="181D2B"/>
                </a:solidFill>
                <a:latin typeface="Helvetica Neue"/>
              </a:rPr>
              <a:t>Le </a:t>
            </a:r>
            <a:r>
              <a:rPr sz="1100" b="0" i="0" dirty="0" err="1">
                <a:solidFill>
                  <a:srgbClr val="181D2B"/>
                </a:solidFill>
                <a:latin typeface="Helvetica Neue"/>
              </a:rPr>
              <a:t>même</a:t>
            </a:r>
            <a:r>
              <a:rPr sz="1100" b="0" i="0" dirty="0">
                <a:solidFill>
                  <a:srgbClr val="181D2B"/>
                </a:solidFill>
                <a:latin typeface="Helvetica Neue"/>
              </a:rPr>
              <a:t> rapport, dans un </a:t>
            </a:r>
            <a:r>
              <a:rPr sz="1100" b="0" i="0" dirty="0" err="1">
                <a:solidFill>
                  <a:srgbClr val="181D2B"/>
                </a:solidFill>
                <a:latin typeface="Helvetica Neue"/>
              </a:rPr>
              <a:t>vrai</a:t>
            </a:r>
            <a:r>
              <a:rPr sz="1100" b="0" i="0" dirty="0">
                <a:solidFill>
                  <a:srgbClr val="181D2B"/>
                </a:solidFill>
                <a:latin typeface="Helvetica Neue"/>
              </a:rPr>
              <a:t>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40096"/>
            <a:ext cx="54864" cy="4572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5321808"/>
            <a:ext cx="502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A83322"/>
                </a:solidFill>
                <a:latin typeface="Helvetica Neue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3035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81D2B"/>
                </a:solidFill>
                <a:latin typeface="Helvetica Neue"/>
              </a:rPr>
              <a:t>Ce qu'on retient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596128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1D2B"/>
                </a:solidFill>
                <a:latin typeface="Helvetica Neue"/>
              </a:rPr>
              <a:t>Et deux pièges qu'on a vraiment pris en pleine figure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04/29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LE 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81D2B"/>
                </a:solidFill>
                <a:latin typeface="Helvetica Neue"/>
              </a:rPr>
              <a:t>On a des tests. On n'a toujours aucune idée de ce qu'ils font.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551176"/>
            <a:ext cx="3273552" cy="32461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273552" cy="32461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273552" cy="9144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788920"/>
            <a:ext cx="2724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B6E62"/>
                </a:solidFill>
                <a:latin typeface="Helvetica Neu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429000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181D2B"/>
                </a:solidFill>
                <a:latin typeface="Helvetica Neue"/>
              </a:rPr>
              <a:t>On écrit des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206240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JUnit, Cucumber : les suites tournent au vert à chaque build. On est très fiers. À raison, d'ailleurs.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51176"/>
            <a:ext cx="3273552" cy="32461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 rot="21480000">
            <a:off x="4352544" y="2468880"/>
            <a:ext cx="3273552" cy="32461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2468880"/>
            <a:ext cx="3273552" cy="9144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2788920"/>
            <a:ext cx="2724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8A5A10"/>
                </a:solidFill>
                <a:latin typeface="Helvetica Neu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429000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181D2B"/>
                </a:solidFill>
                <a:latin typeface="Helvetica Neue"/>
              </a:rPr>
              <a:t>On ne sait pas ce qu'ils couvrent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06240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Quelles classes ? Quelles branches ? Une CI verte suffit largement à calmer tout le monde.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2551176"/>
            <a:ext cx="3273552" cy="32461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 rot="120000">
            <a:off x="7882128" y="2468880"/>
            <a:ext cx="3273552" cy="32461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82128" y="2468880"/>
            <a:ext cx="3273552" cy="9144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2788920"/>
            <a:ext cx="27249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A83322"/>
                </a:solidFill>
                <a:latin typeface="Helvetica Neu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3429000"/>
            <a:ext cx="272491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181D2B"/>
                </a:solidFill>
                <a:latin typeface="Helvetica Neue"/>
              </a:rPr>
              <a:t>Les angles morts restent invisibles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206240"/>
            <a:ext cx="272491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Jusqu'au bug en prod, dans le code qu'aucun test n'a jamais exécuté. Généralement un vendredi. Toujours un vendredi.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05/29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LA STACK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1D2B"/>
                </a:solidFill>
                <a:latin typeface="Helvetica Neue"/>
              </a:rPr>
              <a:t>Quatre outils, quatre questions différentes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048256"/>
            <a:ext cx="5102352" cy="2084831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102352" cy="2084831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91440" cy="2084831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5568" y="2148840"/>
            <a:ext cx="1415948" cy="31089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JUnit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15768"/>
            <a:ext cx="450799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« La logique métier fait-elle ce qu'elle doit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Tests unitaires ciblés, rapides — le genre d'ami qui vous dit direct que votre code est nul, sans détour.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48256"/>
            <a:ext cx="5102352" cy="2084831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9632" y="1965960"/>
            <a:ext cx="5102352" cy="2084831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965960"/>
            <a:ext cx="91440" cy="2084831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2148840"/>
            <a:ext cx="1576425" cy="31089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Cucumber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715768"/>
            <a:ext cx="450799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« Le comportement attendu est-il respecté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Scénarios Gherkin lisibles — le seul test que votre chef de projet pourra théoriquement relire.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4352543"/>
            <a:ext cx="5102352" cy="2084831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4270247"/>
            <a:ext cx="5102352" cy="2084831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" y="4270247"/>
            <a:ext cx="91440" cy="2084831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15568" y="4453127"/>
            <a:ext cx="1415948" cy="310896"/>
          </a:xfrm>
          <a:prstGeom prst="round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Quarkus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20055"/>
            <a:ext cx="450799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« Comment tout ça tourne ensemble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Le framework qui démarre l'appli et pilote les tests — le collègue qui organise tout sans qu'on lui demande.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4352543"/>
            <a:ext cx="5102352" cy="2084831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9632" y="4270247"/>
            <a:ext cx="5102352" cy="2084831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4270247"/>
            <a:ext cx="91440" cy="2084831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92240" y="4453127"/>
            <a:ext cx="1255471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Jacoco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5020055"/>
            <a:ext cx="4507992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« Qu'est-ce qui a vraiment été exécuté ? »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L'instrument de mesure — celui qui ne ment jamais, contrairement à votre estimation à l'oral.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06/29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LE TERRAIN DE JEU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3EEE0"/>
                </a:solidFill>
                <a:latin typeface="Helvetica Neue"/>
              </a:rPr>
              <a:t>Un agenda malin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C9CEDC"/>
                </a:solidFill>
                <a:latin typeface="Helvetica Neue"/>
              </a:rPr>
              <a:t>Une API Quarkus qui planifie des événements, détecte les conflits d'horaire,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C9CEDC"/>
                </a:solidFill>
                <a:latin typeface="Helvetica Neue"/>
              </a:rPr>
              <a:t>génère des récurrences, et glisse une citation du jour — parce qu'une démo a le droit d'être un peu sympa.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414016"/>
            <a:ext cx="3794760" cy="914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794760" cy="91440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331720"/>
            <a:ext cx="3794760" cy="73152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49631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CalendarResource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86207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Couche REST — JSON in/out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3291840"/>
            <a:ext cx="45720" cy="320040"/>
          </a:xfrm>
          <a:prstGeom prst="rect">
            <a:avLst/>
          </a:prstGeom>
          <a:solidFill>
            <a:srgbClr val="9A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5256" y="3785616"/>
            <a:ext cx="2359152" cy="914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2359152" cy="91440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2359152" cy="73152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386791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EventService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233672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création + recherche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2424" y="3785616"/>
            <a:ext cx="2359152" cy="914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10128" y="3703320"/>
            <a:ext cx="2359152" cy="91440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10128" y="3703320"/>
            <a:ext cx="2359152" cy="73152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386791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RecurrenceService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4233672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quotidien / hebdo / mensuel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3785616"/>
            <a:ext cx="2359152" cy="914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97296" y="3703320"/>
            <a:ext cx="2359152" cy="91440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97296" y="3703320"/>
            <a:ext cx="2359152" cy="73152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98464" y="386791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HolidayService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4233672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jours fériés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85616"/>
            <a:ext cx="2359152" cy="91440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84464" y="3703320"/>
            <a:ext cx="2359152" cy="91440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84464" y="3703320"/>
            <a:ext cx="2359152" cy="73152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86791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QuoteOfTheDayService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4233672"/>
            <a:ext cx="19933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citation du jour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617720"/>
            <a:ext cx="45720" cy="320040"/>
          </a:xfrm>
          <a:prstGeom prst="rect">
            <a:avLst/>
          </a:prstGeom>
          <a:solidFill>
            <a:srgbClr val="9A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5256" y="5020056"/>
            <a:ext cx="3794760" cy="77724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2960" y="4937760"/>
            <a:ext cx="3794760" cy="77724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" y="4937760"/>
            <a:ext cx="3794760" cy="73152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4128" y="510235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3EEE0"/>
                </a:solidFill>
                <a:latin typeface="Helvetica Neue"/>
              </a:rPr>
              <a:t>ConflictDetector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468112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B0B7C8"/>
                </a:solidFill>
                <a:latin typeface="Helvetica Neue"/>
              </a:rPr>
              <a:t>logique pure — aucune dépendance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4709160"/>
            <a:ext cx="5394960" cy="105156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0C111F"/>
                </a:solidFill>
                <a:latin typeface="Helvetica Neue"/>
              </a:rPr>
              <a:t>Aucune base de données : le sujet du jour, c'est la couverture de
tests — pas Hibernate. On se recentre.</a:t>
            </a:r>
          </a:p>
        </p:txBody>
      </p:sp>
      <p:sp>
        <p:nvSpPr>
          <p:cNvPr id="38" name="Isosceles Triangle 37"/>
          <p:cNvSpPr/>
          <p:nvPr/>
        </p:nvSpPr>
        <p:spPr>
          <a:xfrm>
            <a:off x="6263640" y="447141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07/29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BONUS THÉORIE (VITE FAIT)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81D2B"/>
                </a:solidFill>
                <a:latin typeface="Helvetica Neue"/>
              </a:rPr>
              <a:t>SOLID est au clean code ce que </a:t>
            </a:r>
            <a:r>
              <a:rPr sz="2600" b="1">
                <a:solidFill>
                  <a:srgbClr val="F0A72E"/>
                </a:solidFill>
                <a:latin typeface="Helvetica Neue"/>
              </a:rPr>
              <a:t>FIRST</a:t>
            </a:r>
            <a:r>
              <a:rPr sz="2600" b="1">
                <a:solidFill>
                  <a:srgbClr val="181D2B"/>
                </a:solidFill>
                <a:latin typeface="Helvetica Neue"/>
              </a:rPr>
              <a:t> est au test unitaire.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596896"/>
            <a:ext cx="1938528" cy="251460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1938528" cy="251460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1938528" cy="82296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7157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8A5A10"/>
                </a:solidFill>
                <a:latin typeface="Helvetica Neue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832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81D2B"/>
                </a:solidFill>
                <a:latin typeface="Helvetica Neue"/>
              </a:rPr>
              <a:t>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886200"/>
            <a:ext cx="1609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Rapide — sinon on arrête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de les lancer.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4952" y="2596896"/>
            <a:ext cx="1938528" cy="251460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62656" y="2514600"/>
            <a:ext cx="1938528" cy="251460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62656" y="2514600"/>
            <a:ext cx="1938528" cy="82296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27248" y="27157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1B6E62"/>
                </a:solidFill>
                <a:latin typeface="Helvetica Neue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3832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81D2B"/>
                </a:solidFill>
                <a:latin typeface="Helvetica Neue"/>
              </a:rPr>
              <a:t>Isolated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886200"/>
            <a:ext cx="1609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Indépendant de tout autre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test, de tout ordre.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4648" y="2596896"/>
            <a:ext cx="1938528" cy="251460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02352" y="2514600"/>
            <a:ext cx="1938528" cy="251460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02352" y="2514600"/>
            <a:ext cx="1938528" cy="82296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66944" y="27157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546E22"/>
                </a:solidFill>
                <a:latin typeface="Helvetica Neue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33832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81D2B"/>
                </a:solidFill>
                <a:latin typeface="Helvetica Neue"/>
              </a:rPr>
              <a:t>Repeatable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886200"/>
            <a:ext cx="1609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Même résultat : votre machine,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la CI, 3h du matin.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24344" y="2596896"/>
            <a:ext cx="1938528" cy="251460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42048" y="2514600"/>
            <a:ext cx="1938528" cy="251460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42048" y="2514600"/>
            <a:ext cx="1938528" cy="82296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0" y="27157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A83322"/>
                </a:solidFill>
                <a:latin typeface="Helvetica Neue"/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3832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81D2B"/>
                </a:solidFill>
                <a:latin typeface="Helvetica Neue"/>
              </a:rPr>
              <a:t>Self-Validating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86200"/>
            <a:ext cx="1609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Il dit lui-même s'il passe.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Pas de log à relire.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2596896"/>
            <a:ext cx="1938528" cy="251460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81744" y="2514600"/>
            <a:ext cx="1938528" cy="251460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81744" y="2514600"/>
            <a:ext cx="1938528" cy="82296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46336" y="271576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22409C"/>
                </a:solidFill>
                <a:latin typeface="Helvetica Neue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338328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181D2B"/>
                </a:solidFill>
                <a:latin typeface="Helvetica Neue"/>
              </a:rPr>
              <a:t>Timely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3886200"/>
            <a:ext cx="160934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Écrit avec le code — pas trois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81D2B"/>
                </a:solidFill>
                <a:latin typeface="Helvetica Neue"/>
              </a:rPr>
              <a:t>sprints après (jamais).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9240"/>
            <a:ext cx="10515600" cy="77724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C111F"/>
                </a:solidFill>
                <a:latin typeface="Helvetica Neue"/>
              </a:rPr>
              <a:t>SOLID vous dit comment ranger le code pour qu'il reste maintenable. FIRST vous dit comment ranger les tests pour qu'on continue à leur faire confiance.</a:t>
            </a:r>
          </a:p>
        </p:txBody>
      </p:sp>
      <p:sp>
        <p:nvSpPr>
          <p:cNvPr id="36" name="Isosceles Triangle 35"/>
          <p:cNvSpPr/>
          <p:nvPr/>
        </p:nvSpPr>
        <p:spPr>
          <a:xfrm>
            <a:off x="1143000" y="511149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C6272"/>
                </a:solidFill>
                <a:latin typeface="Helvetica Neue"/>
              </a:rPr>
              <a:t>Pour mémoire : SOLID = Single responsibility · Open/closed · Liskov substitution · Interface segregation · Dependency inversion.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08/29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ZOOM — JUNIT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 dirty="0">
                <a:solidFill>
                  <a:srgbClr val="181D2B"/>
                </a:solidFill>
                <a:latin typeface="Helvetica Neue"/>
              </a:rPr>
              <a:t>Le </a:t>
            </a:r>
            <a:r>
              <a:rPr lang="fr-FR" sz="3200" b="1" i="0" dirty="0">
                <a:solidFill>
                  <a:srgbClr val="181D2B"/>
                </a:solidFill>
                <a:latin typeface="Helvetica Neue"/>
              </a:rPr>
              <a:t>zoom</a:t>
            </a:r>
            <a:endParaRPr sz="3200" b="1" i="0" dirty="0">
              <a:solidFill>
                <a:srgbClr val="181D2B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JUnit teste une unité de code isolée — une méthode, une classe — sans lancer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toute l'application. C'est rapide, précis, et ça ne pardonne rien.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73152" cy="141732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Rapide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Des milliers de tests en quelques secondes. Votre café, lui, met plus longtemps.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52544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3063240"/>
            <a:ext cx="73152" cy="141732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Isolé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Pas de serveur, pas de réseau, pas de surprise. Le rêve, quoi.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8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2128" y="3063240"/>
            <a:ext cx="73152" cy="141732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Technique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Pensé par et pour les développeurs. Personne d'autre ne relira jamais un assertEquals.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81D2B"/>
                </a:solidFill>
                <a:latin typeface="Helvetica Neue"/>
              </a:rPr>
              <a:t>Dans notre agenda malin : ConflictDetector, RecurrenceService — de la logique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81D2B"/>
                </a:solidFill>
                <a:latin typeface="Helvetica Neue"/>
              </a:rPr>
              <a:t>pure, testée sans jamais démarrer Quarkus.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09/29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JUNIT —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81D2B"/>
                </a:solidFill>
                <a:latin typeface="Helvetica Neue"/>
              </a:rPr>
              <a:t>Viser juste, vite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743200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4128" y="2093976"/>
            <a:ext cx="109728" cy="109728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43584" y="2093976"/>
            <a:ext cx="109728" cy="109728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63040" y="2093976"/>
            <a:ext cx="109728" cy="109728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441448"/>
            <a:ext cx="9875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@Test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void deuxEvenementsQuiSeTouchentNeSontPasEnConflit() {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    Event a = eventAt("a", 9, 10);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    Event b = eventAt("b", 10, 11);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sz="1500" b="0" i="0">
              <a:solidFill>
                <a:srgbClr val="E7ECF5"/>
              </a:solidFill>
              <a:latin typeface="Menlo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    assertFalse(detector.isConflicting(a, b));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E7EC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81D2B"/>
                </a:solidFill>
                <a:latin typeface="Helvetica Neue"/>
              </a:rPr>
              <a:t>ConflictDetectorTest : 4 tests, 4 cas limites — chevauchement, contact exact,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81D2B"/>
                </a:solidFill>
                <a:latin typeface="Helvetica Neue"/>
              </a:rPr>
              <a:t>séparation nette, et réflexivité (oui, on vérifie qu'un événement n'est pas en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181D2B"/>
                </a:solidFill>
                <a:latin typeface="Helvetica Neue"/>
              </a:rPr>
              <a:t>conflit avec lui-même — sinon, c'est un problème existentiel, pas un bug).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10/29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ZOOM — CUCUMBER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81D2B"/>
                </a:solidFill>
                <a:latin typeface="Helvetica Neue"/>
              </a:rPr>
              <a:t>Le grand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Cucumber teste le comportement observable, de bout en bout, en français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lisible. Le même texte sert de spec fonctionnelle ET de test automatisé.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73152" cy="141732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Lisible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Même un product owner peut le relire (et le corriger). Sensation forte garantie.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52544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52544" y="3063240"/>
            <a:ext cx="73152" cy="141732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26864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Bout en 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Passe par la vraie API REST, pas un mock. Comme un vrai client, en moins énervé.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4" y="3145536"/>
            <a:ext cx="3273552" cy="14173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82128" y="3063240"/>
            <a:ext cx="3273552" cy="14173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82128" y="3063240"/>
            <a:ext cx="73152" cy="141732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3273552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Fonctionnel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639312"/>
            <a:ext cx="281635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81D2B"/>
                </a:solidFill>
                <a:latin typeface="Helvetica Neue"/>
              </a:rPr>
              <a:t>Décrit ce que fait le produit, pas comment. Ça change des tickets Jira écrits un vendredi soir.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81D2B"/>
                </a:solidFill>
                <a:latin typeface="Helvetica Neue"/>
              </a:rPr>
              <a:t>Dans notre agenda malin : la création d'événement, la détection de conflit,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181D2B"/>
                </a:solidFill>
                <a:latin typeface="Helvetica Neue"/>
              </a:rPr>
              <a:t>le signalement d'un jour férié — trois scénarios, en français.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11/29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CUCUMBER —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81D2B"/>
                </a:solidFill>
                <a:latin typeface="Helvetica Neue"/>
              </a:rPr>
              <a:t>Le scénario que tout le monde comprend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9937" y="2133226"/>
            <a:ext cx="11091672" cy="2115385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1105" y="2261241"/>
            <a:ext cx="109728" cy="109728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0561" y="2261241"/>
            <a:ext cx="109728" cy="109728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0017" y="2261241"/>
            <a:ext cx="109728" cy="109728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9976" y="2608713"/>
            <a:ext cx="10532327" cy="1322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E7ECF5"/>
                </a:solidFill>
                <a:latin typeface="Menlo"/>
              </a:rPr>
              <a:t>Scénario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: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Refus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d'un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événement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qui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chevauche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un</a:t>
            </a:r>
            <a:r>
              <a:rPr lang="fr-FR"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événement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existant</a:t>
            </a:r>
            <a:endParaRPr lang="fr-FR" sz="1400" b="0" i="0" dirty="0">
              <a:solidFill>
                <a:srgbClr val="E7ECF5"/>
              </a:solidFill>
              <a:latin typeface="Menlo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fr-FR" sz="1400" b="0" i="0" dirty="0">
              <a:solidFill>
                <a:srgbClr val="E7ECF5"/>
              </a:solidFill>
              <a:latin typeface="Menlo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>
                <a:solidFill>
                  <a:srgbClr val="E7ECF5"/>
                </a:solidFill>
                <a:latin typeface="Menlo"/>
              </a:rPr>
              <a:t> 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Étant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donné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que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j'ai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déjà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l'événement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"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Comité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depilotage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" de "14:00" à "15:00" le "2026-09-15"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>
                <a:solidFill>
                  <a:srgbClr val="E7ECF5"/>
                </a:solidFill>
                <a:latin typeface="Menlo"/>
              </a:rPr>
              <a:t>  Quand je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crée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l'événement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"Revue de code" de</a:t>
            </a:r>
            <a:r>
              <a:rPr lang="fr-FR"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"14:30" à "15:30" le "2026-09-15"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>
                <a:solidFill>
                  <a:srgbClr val="E7ECF5"/>
                </a:solidFill>
                <a:latin typeface="Menlo"/>
              </a:rPr>
              <a:t>  Alors la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création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est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refusée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pour cause de</a:t>
            </a:r>
            <a:r>
              <a:rPr lang="fr-FR"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conflit</a:t>
            </a:r>
            <a:r>
              <a:rPr sz="1400" b="0" i="0" dirty="0">
                <a:solidFill>
                  <a:srgbClr val="E7ECF5"/>
                </a:solidFill>
                <a:latin typeface="Menlo"/>
              </a:rPr>
              <a:t> </a:t>
            </a:r>
            <a:r>
              <a:rPr sz="1400" b="0" i="0" dirty="0" err="1">
                <a:solidFill>
                  <a:srgbClr val="E7ECF5"/>
                </a:solidFill>
                <a:latin typeface="Menlo"/>
              </a:rPr>
              <a:t>d'horaire</a:t>
            </a:r>
            <a:endParaRPr sz="1400" b="0" i="0" dirty="0">
              <a:solidFill>
                <a:srgbClr val="E7ECF5"/>
              </a:solidFill>
              <a:latin typeface="Menl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1"/>
            <a:ext cx="9875520" cy="779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>
                <a:solidFill>
                  <a:srgbClr val="181D2B"/>
                </a:solidFill>
                <a:latin typeface="Helvetica Neue"/>
              </a:rPr>
              <a:t>Vous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remarquerez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que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même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le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scénario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de test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sait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qu'un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comité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de pilotage</a:t>
            </a:r>
            <a:r>
              <a:rPr lang="fr-FR" sz="1400" b="0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prend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toute la place dans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l'agenda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.</a:t>
            </a:r>
            <a:endParaRPr lang="fr-FR" sz="1400" b="0" i="0" dirty="0">
              <a:solidFill>
                <a:srgbClr val="181D2B"/>
              </a:solidFill>
              <a:latin typeface="Helvetica Neue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fr-FR" sz="1400" dirty="0">
              <a:solidFill>
                <a:srgbClr val="181D2B"/>
              </a:solidFill>
              <a:latin typeface="Helvetica Neue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Ça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,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c'est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du </a:t>
            </a:r>
            <a:r>
              <a:rPr sz="1400" b="0" i="0" dirty="0" err="1">
                <a:solidFill>
                  <a:srgbClr val="181D2B"/>
                </a:solidFill>
                <a:latin typeface="Helvetica Neue"/>
              </a:rPr>
              <a:t>réalisme</a:t>
            </a:r>
            <a:r>
              <a:rPr sz="1400" b="0" i="0" dirty="0">
                <a:solidFill>
                  <a:srgbClr val="181D2B"/>
                </a:solidFill>
                <a:latin typeface="Helvetica Neue"/>
              </a:rPr>
              <a:t> métier.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12/29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45720" tIns="18288" bIns="18288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CUCUMBER — EN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81D2B"/>
                </a:solidFill>
                <a:latin typeface="Helvetica Neue"/>
              </a:rPr>
              <a:t>Le Gherkin, démasqué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840480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2093976"/>
            <a:ext cx="109728" cy="109728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43584" y="2093976"/>
            <a:ext cx="109728" cy="109728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093976"/>
            <a:ext cx="109728" cy="109728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41448"/>
            <a:ext cx="98755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public class EventStepDefinitions {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@Given("j'ai déjà l'événement {string} de {string} à {string} le {string}")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public void jai_deja_levenement(String titre, String debut, String fin, String date) {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    creerEvenement(titre, debut, fin, date);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}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@When("je crée l'événement {string} de {string} à {string} le {string}")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public void je_cree_levenement(String titre, String debut, String fin, String date) {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    creerEvenement(titre, debut, fin, date);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}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@Then("la création est refusée pour cause de conflit d'horaire")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public void la_creation_est_refusee_pour_conflit() {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    assertThat(lastResponse.statusCode(), equalTo(409));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}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    // creerEvenement() construit le JSON et POST /api/calendrier/evenements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E7EC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1D2B"/>
                </a:solidFill>
                <a:latin typeface="Helvetica Neue"/>
              </a:rPr>
              <a:t>@Given / @When / @Then : une expression régulière relie chaque phrase à sa méthode.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81D2B"/>
                </a:solidFill>
                <a:latin typeface="Helvetica Neue"/>
              </a:rPr>
              <a:t>Même fichier pour les trois : EventStepDefinitions.java.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13/29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LE CLASH (AMICAL)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1D2B"/>
                </a:solidFill>
                <a:latin typeface="Helvetica Neue"/>
              </a:rPr>
              <a:t>JUnit vs Cucumber : qui gagne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276856"/>
            <a:ext cx="4892040" cy="32461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1510000">
            <a:off x="822960" y="2194560"/>
            <a:ext cx="4892040" cy="32461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194560"/>
            <a:ext cx="4892040" cy="9144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48716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81D2B"/>
                </a:solidFill>
                <a:latin typeface="Helvetica Neue"/>
              </a:rPr>
              <a:t>JUnit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Rapide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8444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Isolé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5993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Technique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354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Pour les devs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2276856"/>
            <a:ext cx="4892040" cy="324612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90000">
            <a:off x="5989320" y="2194560"/>
            <a:ext cx="4892040" cy="3246120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2194560"/>
            <a:ext cx="4892040" cy="91440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48716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81D2B"/>
                </a:solidFill>
                <a:latin typeface="Helvetica Neue"/>
              </a:rPr>
              <a:t>Cucumber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Lisible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8444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Bout en bout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5993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Fonctionnel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354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81D2B"/>
                </a:solidFill>
                <a:latin typeface="Helvetica Neue"/>
              </a:rPr>
              <a:t>— Pour tout le monde</a:t>
            </a:r>
          </a:p>
        </p:txBody>
      </p:sp>
      <p:sp>
        <p:nvSpPr>
          <p:cNvPr id="22" name="Oval 21"/>
          <p:cNvSpPr/>
          <p:nvPr/>
        </p:nvSpPr>
        <p:spPr>
          <a:xfrm rot="21120000">
            <a:off x="5252870" y="1762162"/>
            <a:ext cx="1068669" cy="1037731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00" b="1" dirty="0">
                <a:solidFill>
                  <a:srgbClr val="FFD23F"/>
                </a:solidFill>
                <a:latin typeface="Helvetica Neue"/>
              </a:rPr>
              <a:t>MATCH
NUL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69280"/>
            <a:ext cx="10424160" cy="59436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0C111F"/>
                </a:solidFill>
                <a:latin typeface="Helvetica Neue"/>
              </a:rPr>
              <a:t>Spoiler : il n'y a pas de gagnant. Le seul qui gagne, c'est le code — testé sous deux angles.</a:t>
            </a:r>
          </a:p>
        </p:txBody>
      </p:sp>
      <p:sp>
        <p:nvSpPr>
          <p:cNvPr id="24" name="Isosceles Triangle 23"/>
          <p:cNvSpPr/>
          <p:nvPr/>
        </p:nvSpPr>
        <p:spPr>
          <a:xfrm>
            <a:off x="1143000" y="543153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14/29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25296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17904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10512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395728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688336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80944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273552" y="91440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32688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25296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17904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10512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03120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95728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88336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80944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73552" y="120700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32688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225296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17904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10512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103120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395728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688336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980944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273552" y="149961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16168" y="2286000"/>
            <a:ext cx="365760" cy="365760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 i="0">
                <a:solidFill>
                  <a:srgbClr val="F3EEE0"/>
                </a:solidFill>
                <a:latin typeface="Helvetica Neue"/>
              </a:rPr>
              <a:t>EN DIRECT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3977639"/>
            <a:ext cx="6858000" cy="68580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50" b="1" i="1" dirty="0">
                <a:solidFill>
                  <a:srgbClr val="0C111F"/>
                </a:solidFill>
                <a:latin typeface="Helvetica Neue"/>
              </a:rPr>
              <a:t>on </a:t>
            </a:r>
            <a:r>
              <a:rPr sz="1350" b="1" i="1" dirty="0" err="1">
                <a:solidFill>
                  <a:srgbClr val="0C111F"/>
                </a:solidFill>
                <a:latin typeface="Helvetica Neue"/>
              </a:rPr>
              <a:t>arrête</a:t>
            </a:r>
            <a:r>
              <a:rPr sz="1350" b="1" i="1" dirty="0">
                <a:solidFill>
                  <a:srgbClr val="0C111F"/>
                </a:solidFill>
                <a:latin typeface="Helvetica Neue"/>
              </a:rPr>
              <a:t> PowerPoint. direction le terminal, pour de </a:t>
            </a:r>
            <a:r>
              <a:rPr sz="1350" b="1" i="1" dirty="0" err="1">
                <a:solidFill>
                  <a:srgbClr val="0C111F"/>
                </a:solidFill>
                <a:latin typeface="Helvetica Neue"/>
              </a:rPr>
              <a:t>vrai</a:t>
            </a:r>
            <a:endParaRPr sz="1350" b="1" i="1" dirty="0">
              <a:solidFill>
                <a:srgbClr val="0C111F"/>
              </a:solidFill>
              <a:latin typeface="Helvetica Neue"/>
            </a:endParaRPr>
          </a:p>
        </p:txBody>
      </p:sp>
      <p:sp>
        <p:nvSpPr>
          <p:cNvPr id="35" name="Isosceles Triangle 34"/>
          <p:cNvSpPr/>
          <p:nvPr/>
        </p:nvSpPr>
        <p:spPr>
          <a:xfrm>
            <a:off x="2971800" y="3739895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15/29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ZOOM — JACOCO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81D2B"/>
                </a:solidFill>
                <a:latin typeface="Helvetica Neue"/>
              </a:rPr>
              <a:t>Un agent qui espionne le bytecode (légalement)</a:t>
            </a:r>
          </a:p>
        </p:txBody>
      </p:sp>
      <p:sp>
        <p:nvSpPr>
          <p:cNvPr id="5" name="Oval 4"/>
          <p:cNvSpPr/>
          <p:nvPr/>
        </p:nvSpPr>
        <p:spPr>
          <a:xfrm>
            <a:off x="873252" y="2244852"/>
            <a:ext cx="594360" cy="59436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1240000">
            <a:off x="818388" y="2189988"/>
            <a:ext cx="594360" cy="594360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000" b="1">
                <a:solidFill>
                  <a:srgbClr val="0C11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Au démarrage de la JVM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54203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Un agent Java (-javaagent) s'attache et instrumente chaque classe chargée.</a:t>
            </a:r>
          </a:p>
        </p:txBody>
      </p:sp>
      <p:sp>
        <p:nvSpPr>
          <p:cNvPr id="9" name="Oval 8"/>
          <p:cNvSpPr/>
          <p:nvPr/>
        </p:nvSpPr>
        <p:spPr>
          <a:xfrm>
            <a:off x="873252" y="3296412"/>
            <a:ext cx="594360" cy="59436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21240000">
            <a:off x="818388" y="3241548"/>
            <a:ext cx="594360" cy="594360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000" b="1">
                <a:solidFill>
                  <a:srgbClr val="0C111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46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Pendant les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9359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Chaque ligne, chaque branche exécutée est comptée — en silence, sans ralentir grand-chose. Un espion discret.</a:t>
            </a:r>
          </a:p>
        </p:txBody>
      </p:sp>
      <p:sp>
        <p:nvSpPr>
          <p:cNvPr id="13" name="Oval 12"/>
          <p:cNvSpPr/>
          <p:nvPr/>
        </p:nvSpPr>
        <p:spPr>
          <a:xfrm>
            <a:off x="873252" y="4347972"/>
            <a:ext cx="594360" cy="59436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 rot="21240000">
            <a:off x="818388" y="4293108"/>
            <a:ext cx="594360" cy="594360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000" b="1">
                <a:solidFill>
                  <a:srgbClr val="0C111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2976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À l'arrêt de la JVM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645152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Tout est vidé dans un fichier .exec. Puis jacoco-maven-plugin le transforme en rapport HTML/XML/CSV.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32120"/>
            <a:ext cx="10424160" cy="59436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0C111F"/>
                </a:solidFill>
                <a:latin typeface="Helvetica Neue"/>
              </a:rPr>
              <a:t>Non, ce n'est pas de l'espionnage industriel. C'est juste un agent très curieux, payé en aucune façon.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1143000" y="529437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16/29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JACOCO — LE RAPPORT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 dirty="0">
                <a:solidFill>
                  <a:srgbClr val="181D2B"/>
                </a:solidFill>
                <a:latin typeface="Helvetica Neue"/>
              </a:rPr>
              <a:t>Pas </a:t>
            </a:r>
            <a:r>
              <a:rPr sz="2600" b="1" i="0" dirty="0" err="1">
                <a:solidFill>
                  <a:srgbClr val="181D2B"/>
                </a:solidFill>
                <a:latin typeface="Helvetica Neue"/>
              </a:rPr>
              <a:t>une</a:t>
            </a:r>
            <a:r>
              <a:rPr sz="2600" b="1" i="0" dirty="0">
                <a:solidFill>
                  <a:srgbClr val="181D2B"/>
                </a:solidFill>
                <a:latin typeface="Helvetica Neue"/>
              </a:rPr>
              <a:t> maquette</a:t>
            </a:r>
            <a:r>
              <a:rPr lang="fr-FR" sz="2600" b="1" i="0" dirty="0">
                <a:solidFill>
                  <a:srgbClr val="181D2B"/>
                </a:solidFill>
                <a:latin typeface="Helvetica Neue"/>
              </a:rPr>
              <a:t>..</a:t>
            </a:r>
            <a:r>
              <a:rPr sz="2600" b="1" i="0" dirty="0">
                <a:solidFill>
                  <a:srgbClr val="181D2B"/>
                </a:solidFill>
                <a:latin typeface="Helvetica Neue"/>
              </a:rPr>
              <a:t>. Le </a:t>
            </a:r>
            <a:r>
              <a:rPr sz="2600" b="1" i="0" dirty="0" err="1">
                <a:solidFill>
                  <a:srgbClr val="181D2B"/>
                </a:solidFill>
                <a:latin typeface="Helvetica Neue"/>
              </a:rPr>
              <a:t>vrai</a:t>
            </a:r>
            <a:r>
              <a:rPr sz="2600" b="1" i="0" dirty="0">
                <a:solidFill>
                  <a:srgbClr val="181D2B"/>
                </a:solidFill>
                <a:latin typeface="Helvetica Neue"/>
              </a:rPr>
              <a:t> rapport.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15600" cy="310896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029967"/>
            <a:ext cx="10515600" cy="155448"/>
          </a:xfrm>
          <a:prstGeom prst="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7552" y="1979675"/>
            <a:ext cx="100584" cy="10058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8720" y="1979675"/>
            <a:ext cx="100584" cy="10058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88" y="1979675"/>
            <a:ext cx="100584" cy="100584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jacoc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85415"/>
            <a:ext cx="10515600" cy="170221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22960" y="2185415"/>
            <a:ext cx="10515600" cy="1702212"/>
          </a:xfrm>
          <a:prstGeom prst="rect">
            <a:avLst/>
          </a:prstGeom>
          <a:noFill/>
          <a:ln w="19050">
            <a:solidFill>
              <a:srgbClr val="0C1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5C6272"/>
                </a:solidFill>
                <a:latin typeface="Helvetica Neue"/>
              </a:rPr>
              <a:t>Vrai export HTML, généré il y a quelques heures, par la commande qu'on vient de lancer. Pas d'entourloupe.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17/29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JACOCO — LA PREUVE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81D2B"/>
                </a:solidFill>
                <a:latin typeface="Helvetica Neue"/>
              </a:rPr>
              <a:t>La branche MENSUELLE, prise en flagrant délit</a:t>
            </a:r>
          </a:p>
        </p:txBody>
      </p:sp>
      <p:sp>
        <p:nvSpPr>
          <p:cNvPr id="5" name="Oval 4"/>
          <p:cNvSpPr/>
          <p:nvPr/>
        </p:nvSpPr>
        <p:spPr>
          <a:xfrm>
            <a:off x="9907524" y="306324"/>
            <a:ext cx="1417320" cy="141732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1000000">
            <a:off x="9852660" y="251460"/>
            <a:ext cx="1417320" cy="141732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Bissextile 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24328" y="1737360"/>
            <a:ext cx="6949440" cy="310896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24328" y="1892808"/>
            <a:ext cx="6949440" cy="155448"/>
          </a:xfrm>
          <a:prstGeom prst="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788920" y="1842516"/>
            <a:ext cx="100584" cy="10058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90088" y="1842516"/>
            <a:ext cx="100584" cy="10058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91256" y="1842516"/>
            <a:ext cx="100584" cy="100584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jacoco-recurrence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048256"/>
            <a:ext cx="6949440" cy="407845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624328" y="2048256"/>
            <a:ext cx="6949440" cy="4078452"/>
          </a:xfrm>
          <a:prstGeom prst="rect">
            <a:avLst/>
          </a:prstGeom>
          <a:noFill/>
          <a:ln w="19050">
            <a:solidFill>
              <a:srgbClr val="0C1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18/29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JACOCO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81D2B"/>
                </a:solidFill>
                <a:latin typeface="Helvetica Neue"/>
              </a:rPr>
              <a:t>Ce que les tests ont vraiment touché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5C6272"/>
                </a:solidFill>
                <a:latin typeface="Helvetica Neue"/>
              </a:rPr>
              <a:t>Mesure réelle, extraite du build — couverture de lignes, JUnit contre Cucumber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465222" cy="31089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JUnit (unitaire)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2011680"/>
            <a:ext cx="3279952" cy="31089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Cucumber (intégration)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288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CalendarResource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50592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83280" y="2450592"/>
            <a:ext cx="219456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0" y="24323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665476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83280" y="2665476"/>
            <a:ext cx="4242816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264718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58%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HolidayService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980944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83280" y="2980944"/>
            <a:ext cx="219456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296265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195828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83280" y="3195828"/>
            <a:ext cx="6803136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31775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93%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593592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RecurrenceService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511296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383280" y="3511296"/>
            <a:ext cx="5705856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0" y="349300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78%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3726180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383280" y="3726180"/>
            <a:ext cx="292608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0" y="37078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123944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ConflictDetector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4041648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383280" y="4041648"/>
            <a:ext cx="7315200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89920" y="40233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100%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56532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383280" y="4256532"/>
            <a:ext cx="5486400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0" y="423824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54296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EventService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4572000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383280" y="4572000"/>
            <a:ext cx="6437376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89920" y="455371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88%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4786884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383280" y="4786884"/>
            <a:ext cx="6437376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89920" y="476859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88%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84648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181D2B"/>
                </a:solidFill>
                <a:latin typeface="Helvetica Neue"/>
              </a:rPr>
              <a:t>RecurrenceRequest (DTO)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5102352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383280" y="5102352"/>
            <a:ext cx="219456" cy="173736"/>
          </a:xfrm>
          <a:prstGeom prst="round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89920" y="50840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0%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80" y="5317236"/>
            <a:ext cx="7315200" cy="173736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3383280" y="5317236"/>
            <a:ext cx="219456" cy="173736"/>
          </a:xfrm>
          <a:prstGeom prst="round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0" y="52989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181D2B"/>
                </a:solidFill>
                <a:latin typeface="Helvetica Neue"/>
              </a:rPr>
              <a:t>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62356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5C6272"/>
                </a:solidFill>
                <a:latin typeface="Helvetica Neue"/>
              </a:rPr>
              <a:t>JUnit couvre la logique métier ; Cucumber couvre la couche REST — presque aucun recouvrement.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5943600"/>
            <a:ext cx="10424160" cy="54864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C111F"/>
                </a:solidFill>
                <a:latin typeface="Helvetica Neue"/>
              </a:rPr>
              <a:t>Mention spéciale à RecurrenceRequest : 0 % partout. Personne n'y a jamais touché. Personne.</a:t>
            </a:r>
          </a:p>
        </p:txBody>
      </p:sp>
      <p:sp>
        <p:nvSpPr>
          <p:cNvPr id="52" name="Isosceles Triangle 51"/>
          <p:cNvSpPr/>
          <p:nvPr/>
        </p:nvSpPr>
        <p:spPr>
          <a:xfrm>
            <a:off x="1143000" y="570585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19/29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SANS OUVRIR DE NAVIGATEUR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3EEE0"/>
                </a:solidFill>
                <a:latin typeface="Helvetica Neue"/>
              </a:rPr>
              <a:t>Le récap, direct dans le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395728" y="1645920"/>
            <a:ext cx="7406640" cy="4408607"/>
          </a:xfrm>
          <a:prstGeom prst="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rminal-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1691640"/>
            <a:ext cx="7315200" cy="4317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9AA1B5"/>
                </a:solidFill>
                <a:latin typeface="Helvetica Neue"/>
              </a:rPr>
              <a:t>coverage-summary.sh fait le café à votre place : rouge, orange, vert, classe par classe.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20/29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EN 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1D2B"/>
                </a:solidFill>
                <a:latin typeface="Helvetica Neue"/>
              </a:rPr>
              <a:t>Trois commandes, un radar complet</a:t>
            </a:r>
          </a:p>
        </p:txBody>
      </p:sp>
      <p:sp>
        <p:nvSpPr>
          <p:cNvPr id="5" name="Oval 4"/>
          <p:cNvSpPr/>
          <p:nvPr/>
        </p:nvSpPr>
        <p:spPr>
          <a:xfrm>
            <a:off x="836676" y="2107692"/>
            <a:ext cx="777240" cy="77724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 rot="21240000">
            <a:off x="781812" y="2052828"/>
            <a:ext cx="777240" cy="777240"/>
          </a:xfrm>
          <a:prstGeom prst="ellipse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600" b="1">
                <a:solidFill>
                  <a:srgbClr val="0C11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1226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Menlo"/>
              </a:rPr>
              <a:t>./mvnw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56032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Build + JUnit + Cucumber + 3 rapports Jacoco générés automatiquement.</a:t>
            </a:r>
          </a:p>
        </p:txBody>
      </p:sp>
      <p:sp>
        <p:nvSpPr>
          <p:cNvPr id="9" name="Oval 8"/>
          <p:cNvSpPr/>
          <p:nvPr/>
        </p:nvSpPr>
        <p:spPr>
          <a:xfrm>
            <a:off x="836676" y="3433572"/>
            <a:ext cx="777240" cy="77724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 rot="21240000">
            <a:off x="781812" y="3378708"/>
            <a:ext cx="777240" cy="777240"/>
          </a:xfrm>
          <a:prstGeom prst="ellipse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600" b="1">
                <a:solidFill>
                  <a:srgbClr val="0C111F"/>
                </a:solidFill>
                <a:latin typeface="Helvetica Neue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43814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Menlo"/>
              </a:rPr>
              <a:t>./scripts/coverage-summary.sh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88620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Le récap coloré JUnit / Cucumber / global, côte à côte, dans le terminal.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" y="4759452"/>
            <a:ext cx="777240" cy="77724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 rot="21240000">
            <a:off x="781812" y="4704588"/>
            <a:ext cx="777240" cy="777240"/>
          </a:xfrm>
          <a:prstGeom prst="ellipse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600" b="1">
                <a:solidFill>
                  <a:srgbClr val="0C111F"/>
                </a:solidFill>
                <a:latin typeface="Helvetica Neue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76402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81D2B"/>
                </a:solidFill>
                <a:latin typeface="Menlo"/>
              </a:rPr>
              <a:t>open target/jacoco-report/index.html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212080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Helvetica Neue"/>
              </a:rPr>
              <a:t>Le détail ligne par ligne — et les variantes -junit / -cucumber pour comparer.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5C6272"/>
                </a:solidFill>
                <a:latin typeface="Helvetica Neue"/>
              </a:rPr>
              <a:t>Rien d'exotique, rien à installer de plus que ce qu'on a déjà dans le pom.xml.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21/29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 dirty="0">
                <a:solidFill>
                  <a:srgbClr val="0C111F"/>
                </a:solidFill>
                <a:latin typeface="Helvetica Neue"/>
              </a:rPr>
              <a:t>BONUS </a:t>
            </a:r>
            <a:r>
              <a:rPr lang="fr-FR" sz="1150" b="1" dirty="0">
                <a:solidFill>
                  <a:srgbClr val="0C111F"/>
                </a:solidFill>
                <a:latin typeface="Helvetica Neue"/>
              </a:rPr>
              <a:t>SONAR</a:t>
            </a:r>
            <a:endParaRPr sz="1150" b="1" dirty="0">
              <a:solidFill>
                <a:srgbClr val="0C111F"/>
              </a:solidFill>
              <a:latin typeface="Helvetica Neue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3EEE0"/>
                </a:solidFill>
                <a:latin typeface="Helvetica Neue"/>
              </a:rPr>
              <a:t>Et dans un vrai dashboard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C9CEDC"/>
                </a:solidFill>
                <a:latin typeface="Helvetica Neue"/>
              </a:rPr>
              <a:t>Les deux mêmes rapports Jacoco XML, importés tels quels dans SonarQube.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56" y="2505456"/>
            <a:ext cx="3273552" cy="150876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3273552" cy="150876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3273552" cy="73152"/>
          </a:xfrm>
          <a:prstGeom prst="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D23F"/>
                </a:solidFill>
                <a:latin typeface="Helvetica Neue"/>
              </a:rPr>
              <a:t>77,7 %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0B7C8"/>
                </a:solidFill>
                <a:latin typeface="Helvetica Neue"/>
              </a:rPr>
              <a:t>couverture globale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05456"/>
            <a:ext cx="3273552" cy="150876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2544" y="2423160"/>
            <a:ext cx="3273552" cy="150876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2544" y="2423160"/>
            <a:ext cx="3273552" cy="73152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2544" y="265176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0A72E"/>
                </a:solidFill>
                <a:latin typeface="Helvetica Neue"/>
              </a:rPr>
              <a:t>82 %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3310128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0B7C8"/>
                </a:solidFill>
                <a:latin typeface="Helvetica Neue"/>
              </a:rPr>
              <a:t>lignes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2505456"/>
            <a:ext cx="3273552" cy="1508760"/>
          </a:xfrm>
          <a:prstGeom prst="roundRect">
            <a:avLst/>
          </a:prstGeom>
          <a:solidFill>
            <a:srgbClr val="20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882128" y="2423160"/>
            <a:ext cx="3273552" cy="1508760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8" y="2423160"/>
            <a:ext cx="3273552" cy="73152"/>
          </a:xfrm>
          <a:prstGeom prst="rect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8" y="2651760"/>
            <a:ext cx="3273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EB0A0"/>
                </a:solidFill>
                <a:latin typeface="Helvetica Neue"/>
              </a:rPr>
              <a:t>65 %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3310128"/>
            <a:ext cx="3273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B0B7C8"/>
                </a:solidFill>
                <a:latin typeface="Helvetica Neue"/>
              </a:rPr>
              <a:t>branches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1">
                <a:solidFill>
                  <a:srgbClr val="9AA1B5"/>
                </a:solidFill>
                <a:latin typeface="Helvetica Neue"/>
              </a:rPr>
              <a:t>Mesure réelle, obtenue en lançant l'analyse sur ce projet — pas une maquette.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09160"/>
            <a:ext cx="10515600" cy="1005840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" y="4837176"/>
            <a:ext cx="109728" cy="109728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43584" y="4837176"/>
            <a:ext cx="109728" cy="109728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463040" y="4837176"/>
            <a:ext cx="109728" cy="109728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5184648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E7ECF5"/>
                </a:solidFill>
                <a:latin typeface="Menlo"/>
              </a:rPr>
              <a:t>docker compose -f sonarqube/docker-compose.yml up -d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E7ECF5"/>
                </a:solidFill>
                <a:latin typeface="Menlo"/>
              </a:rPr>
              <a:t>./mvnw test sonar:sonar -Dsonar.token=&lt;ton_token&gt;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AA1B5"/>
                </a:solidFill>
                <a:latin typeface="Helvetica Neue"/>
              </a:rPr>
              <a:t>SonarQube Community en local — aucun compte SonarCloud, aucune dépendance réseau pendant le talk.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22/29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SONARQUBE —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81D2B"/>
                </a:solidFill>
                <a:latin typeface="Helvetica Neue"/>
              </a:rPr>
              <a:t>Coverage 77,7 %, en vrai, dans l'interface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8" y="1783080"/>
            <a:ext cx="6035040" cy="310896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81528" y="1938528"/>
            <a:ext cx="6035040" cy="155448"/>
          </a:xfrm>
          <a:prstGeom prst="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46120" y="1888236"/>
            <a:ext cx="100584" cy="10058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47288" y="1888236"/>
            <a:ext cx="100584" cy="10058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48456" y="1888236"/>
            <a:ext cx="100584" cy="100584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onar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093976"/>
            <a:ext cx="6035040" cy="3771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81528" y="2093976"/>
            <a:ext cx="6035040" cy="3771900"/>
          </a:xfrm>
          <a:prstGeom prst="rect">
            <a:avLst/>
          </a:prstGeom>
          <a:noFill/>
          <a:ln w="19050">
            <a:solidFill>
              <a:srgbClr val="0C1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272"/>
                </a:solidFill>
                <a:latin typeface="Helvetica Neue"/>
              </a:rPr>
              <a:t>Sonar ne mesure rien lui-même : il relit ce que Jacoco a déjà dit et fait semblant d'avoir tout calculé.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23/29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SONARQUBE —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>
                <a:solidFill>
                  <a:srgbClr val="181D2B"/>
                </a:solidFill>
                <a:latin typeface="Helvetica Neue"/>
              </a:rPr>
              <a:t>Le détail, fichier par fichier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8" y="1783080"/>
            <a:ext cx="6035040" cy="310896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81528" y="1938528"/>
            <a:ext cx="6035040" cy="155448"/>
          </a:xfrm>
          <a:prstGeom prst="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46120" y="1888236"/>
            <a:ext cx="100584" cy="10058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47288" y="1888236"/>
            <a:ext cx="100584" cy="10058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48456" y="1888236"/>
            <a:ext cx="100584" cy="100584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onar-coverag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093976"/>
            <a:ext cx="6035040" cy="3771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81528" y="2093976"/>
            <a:ext cx="6035040" cy="3771900"/>
          </a:xfrm>
          <a:prstGeom prst="rect">
            <a:avLst/>
          </a:prstGeom>
          <a:noFill/>
          <a:ln w="19050">
            <a:solidFill>
              <a:srgbClr val="0C1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272"/>
                </a:solidFill>
                <a:latin typeface="Helvetica Neue"/>
              </a:rPr>
              <a:t>Mêmes pourcentages que dans notre terminal. Même vérité, vitrine plus chère.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24/29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SONARQUBE — LA PREUVE, ENCORE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81D2B"/>
                </a:solidFill>
                <a:latin typeface="Helvetica Neue"/>
              </a:rPr>
              <a:t>Même branche rouge, autre 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81528" y="1737360"/>
            <a:ext cx="6035040" cy="310896"/>
          </a:xfrm>
          <a:prstGeom prst="round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81528" y="1892808"/>
            <a:ext cx="6035040" cy="155448"/>
          </a:xfrm>
          <a:prstGeom prst="rect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46120" y="1842516"/>
            <a:ext cx="100584" cy="10058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47288" y="1842516"/>
            <a:ext cx="100584" cy="10058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48456" y="1842516"/>
            <a:ext cx="100584" cy="100584"/>
          </a:xfrm>
          <a:prstGeom prst="ellipse">
            <a:avLst/>
          </a:prstGeom>
          <a:solidFill>
            <a:srgbClr val="5BC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sonar-code-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048256"/>
            <a:ext cx="6035040" cy="37719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081528" y="2048256"/>
            <a:ext cx="6035040" cy="3771900"/>
          </a:xfrm>
          <a:prstGeom prst="rect">
            <a:avLst/>
          </a:prstGeom>
          <a:noFill/>
          <a:ln w="19050">
            <a:solidFill>
              <a:srgbClr val="0C1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272"/>
                </a:solidFill>
                <a:latin typeface="Helvetica Neue"/>
              </a:rPr>
              <a:t>Pas un artefact d'un outil bizarre : un fait sur votre code, confirmé deux fois de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25/29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CONFESSIONS COLLECTIVES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81D2B"/>
                </a:solidFill>
                <a:latin typeface="Helvetica Neue"/>
              </a:rPr>
              <a:t>Le best-of des excuses pour ne pas tester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67128"/>
            <a:ext cx="564184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488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1D2B"/>
                </a:solidFill>
                <a:latin typeface="Helvetica Neue"/>
              </a:rPr>
              <a:t>« Ça marche sur ma machine.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6888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C6272"/>
                </a:solidFill>
                <a:latin typeface="Helvetica Neue"/>
              </a:rPr>
              <a:t>Votre machine n'ira pas en prod avec vous. Elle ne peut pas témoigner.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25496"/>
            <a:ext cx="564184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072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1D2B"/>
                </a:solidFill>
                <a:latin typeface="Helvetica Neue"/>
              </a:rPr>
              <a:t>« On testera après le sprint.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2724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C6272"/>
                </a:solidFill>
                <a:latin typeface="Helvetica Neue"/>
              </a:rPr>
              <a:t>Le sprint suivant aussi. Et celui d'après. À ce rythme, on teste au démantèlement.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83864"/>
            <a:ext cx="564184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6557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1D2B"/>
                </a:solidFill>
                <a:latin typeface="Helvetica Neue"/>
              </a:rPr>
              <a:t>« C'est trop simple pour bugger.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85616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C6272"/>
                </a:solidFill>
                <a:latin typeface="Helvetica Neue"/>
              </a:rPr>
              <a:t>Neuf incidents de prod sur dix commencent exactement comme ça.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42232"/>
            <a:ext cx="564184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123944"/>
            <a:ext cx="960120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dirty="0">
                <a:solidFill>
                  <a:srgbClr val="181D2B"/>
                </a:solidFill>
                <a:latin typeface="Helvetica Neue"/>
              </a:rPr>
              <a:t>« </a:t>
            </a:r>
            <a:r>
              <a:rPr lang="fr-FR" sz="1450" b="1" i="0" dirty="0">
                <a:solidFill>
                  <a:srgbClr val="181D2B"/>
                </a:solidFill>
                <a:latin typeface="Helvetica Neue"/>
              </a:rPr>
              <a:t>François</a:t>
            </a:r>
            <a:r>
              <a:rPr sz="1450" b="1" i="0" dirty="0">
                <a:solidFill>
                  <a:srgbClr val="181D2B"/>
                </a:solidFill>
                <a:latin typeface="Helvetica Neue"/>
              </a:rPr>
              <a:t> a </a:t>
            </a:r>
            <a:r>
              <a:rPr sz="1450" b="1" i="0" dirty="0" err="1">
                <a:solidFill>
                  <a:srgbClr val="181D2B"/>
                </a:solidFill>
                <a:latin typeface="Helvetica Neue"/>
              </a:rPr>
              <a:t>dit</a:t>
            </a:r>
            <a:r>
              <a:rPr sz="1450" b="1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50" b="1" i="0" dirty="0" err="1">
                <a:solidFill>
                  <a:srgbClr val="181D2B"/>
                </a:solidFill>
                <a:latin typeface="Helvetica Neue"/>
              </a:rPr>
              <a:t>que</a:t>
            </a:r>
            <a:r>
              <a:rPr sz="1450" b="1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50" b="1" i="0" dirty="0" err="1">
                <a:solidFill>
                  <a:srgbClr val="181D2B"/>
                </a:solidFill>
                <a:latin typeface="Helvetica Neue"/>
              </a:rPr>
              <a:t>ça</a:t>
            </a:r>
            <a:r>
              <a:rPr sz="1450" b="1" i="0" dirty="0">
                <a:solidFill>
                  <a:srgbClr val="181D2B"/>
                </a:solidFill>
                <a:latin typeface="Helvetica Neue"/>
              </a:rPr>
              <a:t> </a:t>
            </a:r>
            <a:r>
              <a:rPr sz="1450" b="1" i="0" dirty="0" err="1">
                <a:solidFill>
                  <a:srgbClr val="181D2B"/>
                </a:solidFill>
                <a:latin typeface="Helvetica Neue"/>
              </a:rPr>
              <a:t>passait</a:t>
            </a:r>
            <a:r>
              <a:rPr sz="1450" b="1" i="0" dirty="0">
                <a:solidFill>
                  <a:srgbClr val="181D2B"/>
                </a:solidFill>
                <a:latin typeface="Helvetica Neue"/>
              </a:rPr>
              <a:t>.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4439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C6272"/>
                </a:solidFill>
                <a:latin typeface="Helvetica Neue"/>
              </a:rPr>
              <a:t>Un mardi après-midi ensoleillé, à la main, une seule fois.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564184" cy="310896"/>
          </a:xfrm>
          <a:prstGeom prst="roundRect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rIns="45720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8231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181D2B"/>
                </a:solidFill>
                <a:latin typeface="Helvetica Neue"/>
              </a:rPr>
              <a:t>« 100 % de couverture, on n'a plus besoin de relire.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0235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1">
                <a:solidFill>
                  <a:srgbClr val="5C6272"/>
                </a:solidFill>
                <a:latin typeface="Helvetica Neue"/>
              </a:rPr>
              <a:t>La couverture mesure ce qui a été EXÉCUTÉ. Pas ce qui a été VÉRIFIÉ.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806440"/>
            <a:ext cx="10515600" cy="64008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0C111F"/>
                </a:solidFill>
                <a:latin typeface="Helvetica Neue"/>
              </a:rPr>
              <a:t>Spoiler : aucune de ces cinq phrases n'a jamais empêché un incendie en prod. Pas une seule. J'ai vérifié. Enfin... je crois.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1143000" y="556869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26/29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3EEE0"/>
                </a:solidFill>
                <a:latin typeface="Helvetica Neue"/>
              </a:rPr>
              <a:t>Ce qu'il faut retenir</a:t>
            </a:r>
          </a:p>
        </p:txBody>
      </p:sp>
      <p:sp>
        <p:nvSpPr>
          <p:cNvPr id="4" name="Oval 3"/>
          <p:cNvSpPr/>
          <p:nvPr/>
        </p:nvSpPr>
        <p:spPr>
          <a:xfrm>
            <a:off x="10273284" y="443484"/>
            <a:ext cx="1051560" cy="105156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 rot="360000">
            <a:off x="10218420" y="388620"/>
            <a:ext cx="1051560" cy="105156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300" b="1">
                <a:solidFill>
                  <a:srgbClr val="0C111F"/>
                </a:solidFill>
                <a:latin typeface="Helvetica Neue"/>
              </a:rPr>
              <a:t>tl;dr</a:t>
            </a:r>
          </a:p>
        </p:txBody>
      </p:sp>
      <p:sp>
        <p:nvSpPr>
          <p:cNvPr id="6" name="Oval 5"/>
          <p:cNvSpPr/>
          <p:nvPr/>
        </p:nvSpPr>
        <p:spPr>
          <a:xfrm>
            <a:off x="946404" y="2153412"/>
            <a:ext cx="685800" cy="68580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 rot="21240000">
            <a:off x="891540" y="2098548"/>
            <a:ext cx="685800" cy="68580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0C111F"/>
                </a:solidFill>
                <a:latin typeface="Helvetica Ne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6712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3EEE0"/>
                </a:solidFill>
                <a:latin typeface="Helvetica Neue"/>
              </a:rPr>
              <a:t>Un test vert ne dit pas ce qu'il a vérifié.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3347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A1B5"/>
                </a:solidFill>
                <a:latin typeface="Helvetica Neue"/>
              </a:rPr>
              <a:t>La couverture, si.</a:t>
            </a:r>
          </a:p>
        </p:txBody>
      </p:sp>
      <p:sp>
        <p:nvSpPr>
          <p:cNvPr id="10" name="Oval 9"/>
          <p:cNvSpPr/>
          <p:nvPr/>
        </p:nvSpPr>
        <p:spPr>
          <a:xfrm>
            <a:off x="946404" y="3250692"/>
            <a:ext cx="685800" cy="68580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 rot="21240000">
            <a:off x="891540" y="3195828"/>
            <a:ext cx="685800" cy="68580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0C111F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6440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3EEE0"/>
                </a:solidFill>
                <a:latin typeface="Helvetica Neue"/>
              </a:rPr>
              <a:t>JUnit et Cucumber répondent à deux questions différentes.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3075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A1B5"/>
                </a:solidFill>
                <a:latin typeface="Helvetica Neue"/>
              </a:rPr>
              <a:t>« Ça marche ? » contre « c'est le bon comportement ? »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" y="4347972"/>
            <a:ext cx="685800" cy="685800"/>
          </a:xfrm>
          <a:prstGeom prst="ellipse">
            <a:avLst/>
          </a:prstGeom>
          <a:solidFill>
            <a:srgbClr val="0C1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 rot="21240000">
            <a:off x="891540" y="4293108"/>
            <a:ext cx="685800" cy="685800"/>
          </a:xfrm>
          <a:prstGeom prst="ellips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0C111F"/>
                </a:solidFill>
                <a:latin typeface="Helvetica Ne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361688"/>
            <a:ext cx="8961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 i="0">
                <a:solidFill>
                  <a:srgbClr val="F3EEE0"/>
                </a:solidFill>
                <a:latin typeface="Helvetica Neue"/>
              </a:rPr>
              <a:t>Le rapport de couverture n'est pas un objectif.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828032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9AA1B5"/>
                </a:solidFill>
                <a:latin typeface="Helvetica Neue"/>
              </a:rPr>
              <a:t>C'est un radar : il montre où regarder en premier.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9AA1B5"/>
                </a:solidFill>
                <a:latin typeface="Helvetica Neue"/>
              </a:rPr>
              <a:t>27/29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9AA1B5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-164592" y="384048"/>
            <a:ext cx="2148840" cy="420624"/>
          </a:xfrm>
          <a:prstGeom prst="parallelogram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18288" rIns="45720" bIns="18288" rtlCol="0" anchor="ctr"/>
          <a:lstStyle/>
          <a:p>
            <a:pPr algn="l"/>
            <a:r>
              <a:rPr sz="1150" b="1">
                <a:solidFill>
                  <a:srgbClr val="0C111F"/>
                </a:solidFill>
                <a:latin typeface="Helvetica Neue"/>
              </a:rPr>
              <a:t>POUR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1D2B"/>
                </a:solidFill>
                <a:latin typeface="Helvetica Neue"/>
              </a:rPr>
              <a:t>Si vous voulez creuser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642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5C6272"/>
                </a:solidFill>
                <a:latin typeface="Helvetica Neue"/>
              </a:rPr>
              <a:t>Code et scripts, en clair. Le reste (mes doutes existentiels sur plusMonths()) reste entre moi et mon terminal.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32304"/>
            <a:ext cx="146304" cy="146304"/>
          </a:xfrm>
          <a:prstGeom prst="ellipse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Le dépôt de ce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2491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Menlo"/>
              </a:rPr>
              <a:t>github.com/sidevconcept/couverture-junit-cucumber-jacoco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328416"/>
            <a:ext cx="146304" cy="146304"/>
          </a:xfrm>
          <a:prstGeom prst="ellipse">
            <a:avLst/>
          </a:prstGeom>
          <a:solidFill>
            <a:srgbClr val="2E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327355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Guide Quarkus + Jacoco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21024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Menlo"/>
              </a:rPr>
              <a:t>quarkus.io/guides/tests-with-coverage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24528"/>
            <a:ext cx="146304" cy="146304"/>
          </a:xfrm>
          <a:prstGeom prst="ellipse">
            <a:avLst/>
          </a:prstGeom>
          <a:solidFill>
            <a:srgbClr val="9CC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169664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Extension Cucumber pour Quarkus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51713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Menlo"/>
              </a:rPr>
              <a:t>docs.quarkiverse.io/quarkus-cucumber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5120640"/>
            <a:ext cx="146304" cy="146304"/>
          </a:xfrm>
          <a:prstGeom prst="ellipse">
            <a:avLst/>
          </a:prstGeom>
          <a:solidFill>
            <a:srgbClr val="F05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06577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81D2B"/>
                </a:solidFill>
                <a:latin typeface="Helvetica Neue"/>
              </a:rPr>
              <a:t>SonarQube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1324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81D2B"/>
                </a:solidFill>
                <a:latin typeface="Menlo"/>
              </a:rPr>
              <a:t>docs.sonarsource.com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01400" y="6419088"/>
            <a:ext cx="713232" cy="329184"/>
          </a:xfrm>
          <a:prstGeom prst="roundRect">
            <a:avLst/>
          </a:prstGeom>
          <a:solidFill>
            <a:srgbClr val="F1E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5C6272"/>
                </a:solidFill>
                <a:latin typeface="Helvetica Neue"/>
              </a:rPr>
              <a:t>28/29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272"/>
                </a:solidFill>
                <a:latin typeface="Helvetica Neue"/>
              </a:rPr>
              <a:t>COUVERTURE DYNAMITE — QUARKUS · JUNIT · CUCUMBER · JACOCO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0080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25296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17904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10512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103120" y="4846320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32688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25296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17904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10512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03120" y="5138928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2688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25296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17904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10512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103120" y="5431536"/>
            <a:ext cx="82296" cy="82296"/>
          </a:xfrm>
          <a:prstGeom prst="ellipse">
            <a:avLst/>
          </a:prstGeom>
          <a:solidFill>
            <a:srgbClr val="17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2194560"/>
            <a:ext cx="7589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3EEE0"/>
                </a:solidFill>
                <a:latin typeface="Helvetica Neue"/>
              </a:rPr>
              <a:t>Merci.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918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FFD23F"/>
                </a:solidFill>
                <a:latin typeface="Helvetica Neue"/>
              </a:rPr>
              <a:t>Questions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86200"/>
            <a:ext cx="6949440" cy="914400"/>
          </a:xfrm>
          <a:prstGeom prst="roundRect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28016" rIns="256032" bIns="128016" rtlCol="0" anchor="ctr"/>
          <a:lstStyle/>
          <a:p>
            <a:pPr algn="ctr">
              <a:lnSpc>
                <a:spcPct val="115000"/>
              </a:lnSpc>
            </a:pPr>
            <a:r>
              <a:rPr sz="1300" b="1" i="1">
                <a:solidFill>
                  <a:srgbClr val="0C111F"/>
                </a:solidFill>
                <a:latin typeface="Helvetica Neue"/>
              </a:rPr>
              <a:t>et si quelqu'un me dit « chez nous on a 100 % de couverture », je réponds déjà : sur quelle branche ?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1188720" y="3648456"/>
            <a:ext cx="256032" cy="256032"/>
          </a:xfrm>
          <a:prstGeom prst="triangle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60350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9AA1B5"/>
                </a:solidFill>
                <a:latin typeface="Helvetica Neue"/>
              </a:rPr>
              <a:t>https://github.com/sidevconcept/couverture-junit-cucumber-jacoco  —  sidev.concept06@gmail.com</a:t>
            </a:r>
          </a:p>
        </p:txBody>
      </p:sp>
      <p:sp>
        <p:nvSpPr>
          <p:cNvPr id="25" name="Rounded Rectangle 24"/>
          <p:cNvSpPr/>
          <p:nvPr/>
        </p:nvSpPr>
        <p:spPr>
          <a:xfrm rot="21240000">
            <a:off x="3782276" y="955438"/>
            <a:ext cx="2011680" cy="242316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 rot="21240000">
            <a:off x="3699980" y="873142"/>
            <a:ext cx="2011680" cy="2423160"/>
          </a:xfrm>
          <a:prstGeom prst="roundRect">
            <a:avLst/>
          </a:prstGeom>
          <a:solidFill>
            <a:srgbClr val="FB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3837140" y="1010302"/>
            <a:ext cx="1737360" cy="17373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 rot="21240000">
            <a:off x="3699980" y="282081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81D2B"/>
                </a:solidFill>
                <a:latin typeface="Helvetica Neue"/>
              </a:rPr>
              <a:t>GitHub</a:t>
            </a:r>
          </a:p>
        </p:txBody>
      </p:sp>
      <p:sp>
        <p:nvSpPr>
          <p:cNvPr id="29" name="Rectangle 28"/>
          <p:cNvSpPr/>
          <p:nvPr/>
        </p:nvSpPr>
        <p:spPr>
          <a:xfrm rot="21240000">
            <a:off x="4477220" y="3140854"/>
            <a:ext cx="457200" cy="45720"/>
          </a:xfrm>
          <a:prstGeom prst="rect">
            <a:avLst/>
          </a:prstGeom>
          <a:solidFill>
            <a:srgbClr val="F0A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 rot="360000">
            <a:off x="8887303" y="1636777"/>
            <a:ext cx="2011680" cy="2423160"/>
          </a:xfrm>
          <a:prstGeom prst="roundRect">
            <a:avLst/>
          </a:prstGeom>
          <a:solidFill>
            <a:srgbClr val="E7DC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 rot="360000">
            <a:off x="8805007" y="1554481"/>
            <a:ext cx="2011680" cy="2423160"/>
          </a:xfrm>
          <a:prstGeom prst="roundRect">
            <a:avLst/>
          </a:prstGeom>
          <a:solidFill>
            <a:srgbClr val="FB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8942167" y="1691641"/>
            <a:ext cx="1737360" cy="1737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 rot="360000">
            <a:off x="8805007" y="3502153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81D2B"/>
                </a:solidFill>
                <a:latin typeface="Helvetica Neue"/>
              </a:rPr>
              <a:t>LinkedIn</a:t>
            </a:r>
          </a:p>
        </p:txBody>
      </p:sp>
      <p:sp>
        <p:nvSpPr>
          <p:cNvPr id="34" name="Rectangle 33"/>
          <p:cNvSpPr/>
          <p:nvPr/>
        </p:nvSpPr>
        <p:spPr>
          <a:xfrm rot="360000">
            <a:off x="9582247" y="3822193"/>
            <a:ext cx="457200" cy="45720"/>
          </a:xfrm>
          <a:prstGeom prst="rect">
            <a:avLst/>
          </a:prstGeom>
          <a:solidFill>
            <a:srgbClr val="3E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Parallelogram 34"/>
          <p:cNvSpPr/>
          <p:nvPr/>
        </p:nvSpPr>
        <p:spPr>
          <a:xfrm rot="21120000">
            <a:off x="3742352" y="557116"/>
            <a:ext cx="1417320" cy="365760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Ins="45720" bIns="18288" rtlCol="0" anchor="ctr"/>
          <a:lstStyle/>
          <a:p>
            <a:pPr algn="ctr"/>
            <a:r>
              <a:rPr sz="1100" b="1" dirty="0">
                <a:solidFill>
                  <a:srgbClr val="0C111F"/>
                </a:solidFill>
                <a:latin typeface="Helvetica Neue"/>
              </a:rPr>
              <a:t>SCANNE-MOI</a:t>
            </a:r>
          </a:p>
        </p:txBody>
      </p:sp>
      <p:sp>
        <p:nvSpPr>
          <p:cNvPr id="36" name="Parallelogram 34">
            <a:extLst>
              <a:ext uri="{FF2B5EF4-FFF2-40B4-BE49-F238E27FC236}">
                <a16:creationId xmlns:a16="http://schemas.microsoft.com/office/drawing/2014/main" id="{E910F05D-95E6-DE6C-81E7-A4EEA0EA2189}"/>
              </a:ext>
            </a:extLst>
          </p:cNvPr>
          <p:cNvSpPr/>
          <p:nvPr/>
        </p:nvSpPr>
        <p:spPr>
          <a:xfrm rot="334049">
            <a:off x="9314242" y="1177865"/>
            <a:ext cx="1417320" cy="365760"/>
          </a:xfrm>
          <a:prstGeom prst="parallelogram">
            <a:avLst/>
          </a:prstGeom>
          <a:solidFill>
            <a:srgbClr val="FFD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rIns="45720" bIns="18288" rtlCol="0" anchor="ctr"/>
          <a:lstStyle/>
          <a:p>
            <a:pPr algn="ctr"/>
            <a:r>
              <a:rPr sz="1100" b="1">
                <a:solidFill>
                  <a:srgbClr val="0C111F"/>
                </a:solidFill>
                <a:latin typeface="Helvetica Neue"/>
              </a:rPr>
              <a:t>SCANNE-MOI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5854</TotalTime>
  <Words>2488</Words>
  <Application>Microsoft Macintosh PowerPoint</Application>
  <PresentationFormat>Grand écran</PresentationFormat>
  <Paragraphs>355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Calibri</vt:lpstr>
      <vt:lpstr>Helvetica Neue</vt:lpstr>
      <vt:lpstr>Menlo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Sidney Cohen</cp:lastModifiedBy>
  <cp:revision>8</cp:revision>
  <dcterms:created xsi:type="dcterms:W3CDTF">2013-01-27T09:14:16Z</dcterms:created>
  <dcterms:modified xsi:type="dcterms:W3CDTF">2026-10-13T10:33:13Z</dcterms:modified>
  <cp:category/>
</cp:coreProperties>
</file>